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5"/>
  </p:notesMasterIdLst>
  <p:sldIdLst>
    <p:sldId id="256" r:id="rId2"/>
    <p:sldId id="257" r:id="rId3"/>
    <p:sldId id="346" r:id="rId4"/>
    <p:sldId id="347" r:id="rId5"/>
    <p:sldId id="258" r:id="rId6"/>
    <p:sldId id="259" r:id="rId7"/>
    <p:sldId id="260" r:id="rId8"/>
    <p:sldId id="261" r:id="rId9"/>
    <p:sldId id="262" r:id="rId10"/>
    <p:sldId id="263" r:id="rId11"/>
    <p:sldId id="264" r:id="rId12"/>
    <p:sldId id="265" r:id="rId13"/>
    <p:sldId id="338" r:id="rId14"/>
    <p:sldId id="339" r:id="rId15"/>
    <p:sldId id="340" r:id="rId16"/>
    <p:sldId id="341" r:id="rId17"/>
    <p:sldId id="266" r:id="rId18"/>
    <p:sldId id="267" r:id="rId19"/>
    <p:sldId id="342" r:id="rId20"/>
    <p:sldId id="268" r:id="rId21"/>
    <p:sldId id="270" r:id="rId22"/>
    <p:sldId id="274" r:id="rId23"/>
    <p:sldId id="275" r:id="rId24"/>
    <p:sldId id="276" r:id="rId25"/>
    <p:sldId id="277" r:id="rId26"/>
    <p:sldId id="343" r:id="rId27"/>
    <p:sldId id="344" r:id="rId28"/>
    <p:sldId id="279" r:id="rId29"/>
    <p:sldId id="345" r:id="rId30"/>
    <p:sldId id="280" r:id="rId31"/>
    <p:sldId id="332" r:id="rId32"/>
    <p:sldId id="281" r:id="rId33"/>
    <p:sldId id="282" r:id="rId34"/>
    <p:sldId id="283" r:id="rId35"/>
    <p:sldId id="284" r:id="rId36"/>
    <p:sldId id="285" r:id="rId37"/>
    <p:sldId id="287" r:id="rId38"/>
    <p:sldId id="288" r:id="rId39"/>
    <p:sldId id="289" r:id="rId40"/>
    <p:sldId id="321" r:id="rId41"/>
    <p:sldId id="323" r:id="rId42"/>
    <p:sldId id="294" r:id="rId43"/>
    <p:sldId id="295" r:id="rId44"/>
    <p:sldId id="296" r:id="rId45"/>
    <p:sldId id="324" r:id="rId46"/>
    <p:sldId id="297" r:id="rId47"/>
    <p:sldId id="298" r:id="rId48"/>
    <p:sldId id="299" r:id="rId49"/>
    <p:sldId id="300" r:id="rId50"/>
    <p:sldId id="301" r:id="rId51"/>
    <p:sldId id="302" r:id="rId52"/>
    <p:sldId id="303" r:id="rId53"/>
    <p:sldId id="304" r:id="rId54"/>
    <p:sldId id="305" r:id="rId55"/>
    <p:sldId id="306" r:id="rId56"/>
    <p:sldId id="307" r:id="rId57"/>
    <p:sldId id="325" r:id="rId58"/>
    <p:sldId id="308" r:id="rId59"/>
    <p:sldId id="309" r:id="rId60"/>
    <p:sldId id="310" r:id="rId61"/>
    <p:sldId id="311" r:id="rId62"/>
    <p:sldId id="312" r:id="rId63"/>
    <p:sldId id="333" r:id="rId64"/>
    <p:sldId id="272" r:id="rId65"/>
    <p:sldId id="326" r:id="rId66"/>
    <p:sldId id="286" r:id="rId67"/>
    <p:sldId id="290" r:id="rId68"/>
    <p:sldId id="291" r:id="rId69"/>
    <p:sldId id="322" r:id="rId70"/>
    <p:sldId id="292" r:id="rId71"/>
    <p:sldId id="293" r:id="rId72"/>
    <p:sldId id="327" r:id="rId73"/>
    <p:sldId id="328" r:id="rId74"/>
    <p:sldId id="329" r:id="rId75"/>
    <p:sldId id="330" r:id="rId76"/>
    <p:sldId id="331" r:id="rId77"/>
    <p:sldId id="313" r:id="rId78"/>
    <p:sldId id="314" r:id="rId79"/>
    <p:sldId id="315" r:id="rId80"/>
    <p:sldId id="316" r:id="rId81"/>
    <p:sldId id="317" r:id="rId82"/>
    <p:sldId id="318" r:id="rId83"/>
    <p:sldId id="319" r:id="rId8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 dt="2026-10-08T02:02:13.121"/>
    <p1510:client id="{2301E942-F026-BDC2-FF13-5FE6DAA6A3E7}" v="7" dt="2026-10-09T05:54:00.0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5/10/relationships/revisionInfo" Target="revisionInfo.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4469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978159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Glixify as a potential use case. Do not claim that Glixify currently uses synthetic data unless that is confirmed internally.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where synthetic data becomes relevant to a real application. Glixify can involve multiple physiological and activity-related measurements coming from different sources. Working with such data introduces the same challenges we have discussed: relationships between variables, time dependence, missing observations, different sampling frequencies and privacy considerations.</a:t>
            </a:r>
          </a:p>
          <a:p>
            <a:endParaRPr/>
          </a:p>
          <a:p>
            <a:r>
              <a:t>Note: the items on this slide are metric names, not claims about any particular user's measurements. Do not add specific patient/user values unless approved Glixify data is available to show.</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reinforces the Day 1 teaching point that synthetic data must preserve relationships rather than only individual-column realism.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Emphasize that the goal is not to create random numbers that look like health data. The goal is to create data that is useful for the intended application while evaluating Fidelity + Utility + Privacy. This connects directly to the Day 1 objective that synthetic data should be realistic/informative while addressing privacy concerns.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Walk the six steps left to right, then top to bottom. Point out that evaluation (step 6) is part of the generation workflow, not an afterthought.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Glixify example: a wearable + CGM dataset looks like a single table but carries time-series, repeated-measurement and missing-data structure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connects with the deck's treatment of time-series synthetic data, where temporal dependence and non-stationarity need to be preserved. The table cells are deliberately blank: we are showing structure, not data.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definition of 'good synthetic data' depends on the intended use.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Day 1 is Profile → Understand → Baseline → Compare. Do not require students to treat the exercise as a full clinical time-series problem; the temporal-generation discussion is introduced conceptually and revisited later.</a:t>
            </a:r>
          </a:p>
          <a:p>
            <a:endParaRPr/>
          </a:p>
          <a:p>
            <a:r>
              <a:t>This remains consistent with the existing Day 1 lab objectives; the Glixify scenario simply supplies the application context.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Keep the lab manageable: Profile → Understand → Baseline → Compare. The more sophisticated temporal-generation discussion is introduced conceptually.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matches the overall course arc of Real → Generate → Trust.</a:t>
            </a:r>
          </a:p>
          <a:p>
            <a:endParaRPr/>
          </a:p>
          <a:p>
            <a:r>
              <a:t>Bridge: Tomorrow we move from a simple baseline to an actual generative model. Then, on Day 3, we ask the harder question: how do we know whether the generated data is good enough to trust?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31683927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08841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4FA3DF74-F872-CA4A-96CB-BFF5FA8ECCC7}"/>
              </a:ext>
            </a:extLst>
          </p:cNvPr>
          <p:cNvSpPr>
            <a:spLocks noGrp="1"/>
          </p:cNvSpPr>
          <p:nvPr>
            <p:ph type="ftr" sz="quarter" idx="3"/>
          </p:nvPr>
        </p:nvSpPr>
        <p:spPr>
          <a:xfrm>
            <a:off x="287755" y="6570255"/>
            <a:ext cx="2171700" cy="273844"/>
          </a:xfrm>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endParaRPr lang="en-US"/>
          </a:p>
        </p:txBody>
      </p:sp>
      <p:sp>
        <p:nvSpPr>
          <p:cNvPr id="3" name="Footer Placeholder 4">
            <a:extLst>
              <a:ext uri="{FF2B5EF4-FFF2-40B4-BE49-F238E27FC236}">
                <a16:creationId xmlns:a16="http://schemas.microsoft.com/office/drawing/2014/main" id="{4C5543FF-1ABD-BA49-B80A-78F4A0FB1551}"/>
              </a:ext>
            </a:extLst>
          </p:cNvPr>
          <p:cNvSpPr txBox="1">
            <a:spLocks/>
          </p:cNvSpPr>
          <p:nvPr userDrawn="1"/>
        </p:nvSpPr>
        <p:spPr>
          <a:xfrm>
            <a:off x="9827795" y="6570255"/>
            <a:ext cx="2171700" cy="273844"/>
          </a:xfrm>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algn="r"/>
            <a:r>
              <a:rPr lang="en-US"/>
              <a:t>Page - </a:t>
            </a:r>
            <a:fld id="{E8657BC5-8823-5E46-BD1F-EDE79EED289F}" type="slidenum">
              <a:rPr lang="en-US" smtClean="0"/>
              <a:pPr algn="r"/>
              <a:t>‹#›</a:t>
            </a:fld>
            <a:endParaRPr lang="en-US"/>
          </a:p>
        </p:txBody>
      </p:sp>
      <p:pic>
        <p:nvPicPr>
          <p:cNvPr id="5" name="Picture 4">
            <a:extLst>
              <a:ext uri="{FF2B5EF4-FFF2-40B4-BE49-F238E27FC236}">
                <a16:creationId xmlns:a16="http://schemas.microsoft.com/office/drawing/2014/main" id="{0301C24A-060B-4041-BDC5-B9F56EB1C8F9}"/>
              </a:ext>
            </a:extLst>
          </p:cNvPr>
          <p:cNvPicPr>
            <a:picLocks noChangeAspect="1"/>
          </p:cNvPicPr>
          <p:nvPr userDrawn="1"/>
        </p:nvPicPr>
        <p:blipFill>
          <a:blip r:embed="rId4"/>
          <a:stretch>
            <a:fillRect/>
          </a:stretch>
        </p:blipFill>
        <p:spPr>
          <a:xfrm>
            <a:off x="10542494" y="238595"/>
            <a:ext cx="1489412" cy="402717"/>
          </a:xfrm>
          <a:prstGeom prst="rect">
            <a:avLst/>
          </a:prstGeom>
        </p:spPr>
      </p:pic>
      <p:pic>
        <p:nvPicPr>
          <p:cNvPr id="9" name="Picture 8">
            <a:extLst>
              <a:ext uri="{FF2B5EF4-FFF2-40B4-BE49-F238E27FC236}">
                <a16:creationId xmlns:a16="http://schemas.microsoft.com/office/drawing/2014/main" id="{D2FFCB75-B0B4-9D49-A16F-4385DBCEC33D}"/>
              </a:ext>
            </a:extLst>
          </p:cNvPr>
          <p:cNvPicPr>
            <a:picLocks noChangeAspect="1"/>
          </p:cNvPicPr>
          <p:nvPr userDrawn="1"/>
        </p:nvPicPr>
        <p:blipFill>
          <a:blip r:embed="rId5"/>
          <a:stretch>
            <a:fillRect/>
          </a:stretch>
        </p:blipFill>
        <p:spPr>
          <a:xfrm>
            <a:off x="8778588" y="55155"/>
            <a:ext cx="1578751" cy="769597"/>
          </a:xfrm>
          <a:prstGeom prst="rect">
            <a:avLst/>
          </a:prstGeom>
        </p:spPr>
      </p:pic>
      <p:sp>
        <p:nvSpPr>
          <p:cNvPr id="10" name="TextBox 9">
            <a:extLst>
              <a:ext uri="{FF2B5EF4-FFF2-40B4-BE49-F238E27FC236}">
                <a16:creationId xmlns:a16="http://schemas.microsoft.com/office/drawing/2014/main" id="{3B998491-9B70-7D48-BB3A-2108C934D6AD}"/>
              </a:ext>
            </a:extLst>
          </p:cNvPr>
          <p:cNvSpPr txBox="1"/>
          <p:nvPr userDrawn="1"/>
        </p:nvSpPr>
        <p:spPr>
          <a:xfrm>
            <a:off x="4607169" y="6570255"/>
            <a:ext cx="2977662"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Company Confidential</a:t>
            </a:r>
          </a:p>
        </p:txBody>
      </p:sp>
      <p:cxnSp>
        <p:nvCxnSpPr>
          <p:cNvPr id="12" name="Straight Connector 11">
            <a:extLst>
              <a:ext uri="{FF2B5EF4-FFF2-40B4-BE49-F238E27FC236}">
                <a16:creationId xmlns:a16="http://schemas.microsoft.com/office/drawing/2014/main" id="{E848E1F0-EFF6-C94A-ABAF-9DE782696239}"/>
              </a:ext>
            </a:extLst>
          </p:cNvPr>
          <p:cNvCxnSpPr/>
          <p:nvPr userDrawn="1"/>
        </p:nvCxnSpPr>
        <p:spPr>
          <a:xfrm>
            <a:off x="10419057" y="200957"/>
            <a:ext cx="0" cy="4779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tiff"/><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9430" y="1713552"/>
            <a:ext cx="3291840" cy="384048"/>
          </a:xfrm>
          <a:prstGeom prst="roundRect">
            <a:avLst>
              <a:gd name="adj" fmla="val 47619"/>
            </a:avLst>
          </a:prstGeom>
          <a:solidFill>
            <a:srgbClr val="00B0F0"/>
          </a:solidFill>
          <a:ln w="12700">
            <a:solidFill>
              <a:srgbClr val="00A896"/>
            </a:solidFill>
            <a:prstDash val="solid"/>
          </a:ln>
        </p:spPr>
      </p:sp>
      <p:sp>
        <p:nvSpPr>
          <p:cNvPr id="3" name="Text 1"/>
          <p:cNvSpPr txBox="1"/>
          <p:nvPr/>
        </p:nvSpPr>
        <p:spPr>
          <a:xfrm>
            <a:off x="479430" y="1718774"/>
            <a:ext cx="3291840" cy="384048"/>
          </a:xfrm>
          <a:prstGeom prst="rect">
            <a:avLst/>
          </a:prstGeom>
          <a:noFill/>
          <a:ln/>
        </p:spPr>
        <p:txBody>
          <a:bodyPr wrap="square" lIns="0" tIns="0" rIns="0" bIns="0" rtlCol="0" anchor="ctr"/>
          <a:lstStyle/>
          <a:p>
            <a:pPr marL="0" indent="0" algn="ctr">
              <a:buNone/>
            </a:pPr>
            <a:r>
              <a:rPr lang="en-US" sz="1100" b="1" kern="0" spc="120">
                <a:solidFill>
                  <a:srgbClr val="0E1330"/>
                </a:solidFill>
                <a:latin typeface="Calibri" pitchFamily="34" charset="0"/>
                <a:ea typeface="Calibri" pitchFamily="34" charset="-122"/>
                <a:cs typeface="Calibri" pitchFamily="34" charset="-120"/>
              </a:rPr>
              <a:t>3-DAY INTENSIVE COURSE</a:t>
            </a:r>
            <a:endParaRPr lang="en-US" sz="1100"/>
          </a:p>
        </p:txBody>
      </p:sp>
      <p:sp>
        <p:nvSpPr>
          <p:cNvPr id="4" name="Text 2"/>
          <p:cNvSpPr txBox="1"/>
          <p:nvPr/>
        </p:nvSpPr>
        <p:spPr>
          <a:xfrm>
            <a:off x="479430" y="2911377"/>
            <a:ext cx="10607040" cy="914400"/>
          </a:xfrm>
          <a:prstGeom prst="rect">
            <a:avLst/>
          </a:prstGeom>
          <a:noFill/>
          <a:ln/>
        </p:spPr>
        <p:txBody>
          <a:bodyPr wrap="square" lIns="0" tIns="0" rIns="0" bIns="0" rtlCol="0" anchor="ctr"/>
          <a:lstStyle/>
          <a:p>
            <a:pPr marL="0" indent="0">
              <a:buNone/>
            </a:pPr>
            <a:r>
              <a:rPr lang="en-US" sz="4800" b="1">
                <a:solidFill>
                  <a:srgbClr val="FFFFFF"/>
                </a:solidFill>
                <a:latin typeface="Cambria" pitchFamily="34" charset="0"/>
                <a:ea typeface="Cambria" pitchFamily="34" charset="-122"/>
                <a:cs typeface="Cambria" pitchFamily="34" charset="-120"/>
              </a:rPr>
              <a:t>Synthetic Data Generation</a:t>
            </a:r>
          </a:p>
          <a:p>
            <a:r>
              <a:rPr lang="en-US" sz="4800" b="1">
                <a:solidFill>
                  <a:srgbClr val="00B0F0"/>
                </a:solidFill>
                <a:latin typeface="Cambria" pitchFamily="34" charset="0"/>
                <a:ea typeface="Cambria" pitchFamily="34" charset="-122"/>
                <a:cs typeface="Cambria" pitchFamily="34" charset="-120"/>
              </a:rPr>
              <a:t>using Generative AI</a:t>
            </a:r>
            <a:endParaRPr lang="en-US" sz="4800">
              <a:solidFill>
                <a:srgbClr val="00B0F0"/>
              </a:solidFill>
            </a:endParaRPr>
          </a:p>
          <a:p>
            <a:pPr marL="0" indent="0">
              <a:buNone/>
            </a:pPr>
            <a:endParaRPr lang="en-US" sz="4800"/>
          </a:p>
        </p:txBody>
      </p:sp>
      <p:sp>
        <p:nvSpPr>
          <p:cNvPr id="6" name="Text 4"/>
          <p:cNvSpPr txBox="1"/>
          <p:nvPr/>
        </p:nvSpPr>
        <p:spPr>
          <a:xfrm>
            <a:off x="479430" y="3781952"/>
            <a:ext cx="9601200" cy="365760"/>
          </a:xfrm>
          <a:prstGeom prst="rect">
            <a:avLst/>
          </a:prstGeom>
          <a:noFill/>
          <a:ln/>
        </p:spPr>
        <p:txBody>
          <a:bodyPr wrap="square" lIns="0" tIns="0" rIns="0" bIns="0" rtlCol="0" anchor="ctr"/>
          <a:lstStyle/>
          <a:p>
            <a:pPr marL="0" indent="0">
              <a:buNone/>
            </a:pPr>
            <a:r>
              <a:rPr lang="en-US" sz="1600">
                <a:solidFill>
                  <a:srgbClr val="C3C9E0"/>
                </a:solidFill>
                <a:latin typeface="Calibri" pitchFamily="34" charset="0"/>
                <a:ea typeface="Calibri" pitchFamily="34" charset="-122"/>
                <a:cs typeface="Calibri" pitchFamily="34" charset="-120"/>
              </a:rPr>
              <a:t>Theory and hands-on practice, grounded in the peer-reviewed literature</a:t>
            </a:r>
            <a:endParaRPr lang="en-US" sz="1600"/>
          </a:p>
        </p:txBody>
      </p:sp>
      <p:sp>
        <p:nvSpPr>
          <p:cNvPr id="7" name="Text 5"/>
          <p:cNvSpPr txBox="1"/>
          <p:nvPr/>
        </p:nvSpPr>
        <p:spPr>
          <a:xfrm>
            <a:off x="479430" y="4469647"/>
            <a:ext cx="10424160" cy="640080"/>
          </a:xfrm>
          <a:prstGeom prst="rect">
            <a:avLst/>
          </a:prstGeom>
          <a:noFill/>
          <a:ln/>
        </p:spPr>
        <p:txBody>
          <a:bodyPr wrap="square" lIns="0" tIns="0" rIns="0" bIns="0" rtlCol="0" anchor="ctr"/>
          <a:lstStyle/>
          <a:p>
            <a:pPr marL="0" indent="0">
              <a:buNone/>
            </a:pPr>
            <a:r>
              <a:rPr lang="en-US" sz="1300">
                <a:solidFill>
                  <a:srgbClr val="8C93B5"/>
                </a:solidFill>
                <a:latin typeface="Calibri" pitchFamily="34" charset="0"/>
                <a:ea typeface="Calibri" pitchFamily="34" charset="-122"/>
                <a:cs typeface="Calibri" pitchFamily="34" charset="-120"/>
              </a:rPr>
              <a:t>Presenting for  </a:t>
            </a:r>
          </a:p>
          <a:p>
            <a:pPr marL="0" indent="0">
              <a:buNone/>
            </a:pPr>
            <a:r>
              <a:rPr lang="en-US" sz="1300" err="1">
                <a:solidFill>
                  <a:srgbClr val="8C93B5"/>
                </a:solidFill>
                <a:latin typeface="Calibri" pitchFamily="34" charset="0"/>
                <a:ea typeface="Calibri" pitchFamily="34" charset="-122"/>
                <a:cs typeface="Calibri" pitchFamily="34" charset="-120"/>
              </a:rPr>
              <a:t>Vel</a:t>
            </a:r>
            <a:r>
              <a:rPr lang="en-US" sz="1300">
                <a:solidFill>
                  <a:srgbClr val="8C93B5"/>
                </a:solidFill>
                <a:latin typeface="Calibri" pitchFamily="34" charset="0"/>
                <a:ea typeface="Calibri" pitchFamily="34" charset="-122"/>
                <a:cs typeface="Calibri" pitchFamily="34" charset="-120"/>
              </a:rPr>
              <a:t> Tech </a:t>
            </a:r>
            <a:r>
              <a:rPr lang="en-US" sz="1300" err="1">
                <a:solidFill>
                  <a:srgbClr val="8C93B5"/>
                </a:solidFill>
                <a:latin typeface="Calibri" pitchFamily="34" charset="0"/>
                <a:ea typeface="Calibri" pitchFamily="34" charset="-122"/>
                <a:cs typeface="Calibri" pitchFamily="34" charset="-120"/>
              </a:rPr>
              <a:t>Rangarajan</a:t>
            </a:r>
            <a:r>
              <a:rPr lang="en-US" sz="1300">
                <a:solidFill>
                  <a:srgbClr val="8C93B5"/>
                </a:solidFill>
                <a:latin typeface="Calibri" pitchFamily="34" charset="0"/>
                <a:ea typeface="Calibri" pitchFamily="34" charset="-122"/>
                <a:cs typeface="Calibri" pitchFamily="34" charset="-120"/>
              </a:rPr>
              <a:t> Dr. </a:t>
            </a:r>
            <a:r>
              <a:rPr lang="en-US" sz="1300" err="1">
                <a:solidFill>
                  <a:srgbClr val="8C93B5"/>
                </a:solidFill>
                <a:latin typeface="Calibri" pitchFamily="34" charset="0"/>
                <a:ea typeface="Calibri" pitchFamily="34" charset="-122"/>
                <a:cs typeface="Calibri" pitchFamily="34" charset="-120"/>
              </a:rPr>
              <a:t>Sagunthala</a:t>
            </a:r>
            <a:r>
              <a:rPr lang="en-US" sz="1300">
                <a:solidFill>
                  <a:srgbClr val="8C93B5"/>
                </a:solidFill>
                <a:latin typeface="Calibri" pitchFamily="34" charset="0"/>
                <a:ea typeface="Calibri" pitchFamily="34" charset="-122"/>
                <a:cs typeface="Calibri" pitchFamily="34" charset="-120"/>
              </a:rPr>
              <a:t> </a:t>
            </a:r>
          </a:p>
          <a:p>
            <a:pPr marL="0" indent="0">
              <a:buNone/>
            </a:pPr>
            <a:r>
              <a:rPr lang="en-US" sz="1300">
                <a:solidFill>
                  <a:srgbClr val="8C93B5"/>
                </a:solidFill>
                <a:latin typeface="Calibri" pitchFamily="34" charset="0"/>
                <a:ea typeface="Calibri" pitchFamily="34" charset="-122"/>
                <a:cs typeface="Calibri" pitchFamily="34" charset="-120"/>
              </a:rPr>
              <a:t>R&amp;D Institute of Science and Technology, Chennai</a:t>
            </a:r>
            <a:endParaRPr lang="en-US" sz="1250"/>
          </a:p>
          <a:p>
            <a:pPr marL="0" indent="0">
              <a:buNone/>
            </a:pPr>
            <a:r>
              <a:rPr lang="en-US" sz="1300" b="1">
                <a:solidFill>
                  <a:srgbClr val="00B0F0"/>
                </a:solidFill>
                <a:latin typeface="Calibri" pitchFamily="34" charset="0"/>
                <a:ea typeface="Calibri" pitchFamily="34" charset="-122"/>
                <a:cs typeface="Calibri" pitchFamily="34" charset="-120"/>
              </a:rPr>
              <a:t>8–10 October 2026</a:t>
            </a:r>
            <a:endParaRPr lang="en-US" sz="1250">
              <a:solidFill>
                <a:srgbClr val="00B0F0"/>
              </a:solidFill>
            </a:endParaRPr>
          </a:p>
        </p:txBody>
      </p:sp>
      <p:sp>
        <p:nvSpPr>
          <p:cNvPr id="8" name="Text 6"/>
          <p:cNvSpPr txBox="1"/>
          <p:nvPr/>
        </p:nvSpPr>
        <p:spPr>
          <a:xfrm>
            <a:off x="479430" y="5342118"/>
            <a:ext cx="7057016" cy="1229011"/>
          </a:xfrm>
          <a:prstGeom prst="rect">
            <a:avLst/>
          </a:prstGeom>
          <a:noFill/>
          <a:ln/>
        </p:spPr>
        <p:txBody>
          <a:bodyPr wrap="square" lIns="0" tIns="0" rIns="0" bIns="0" rtlCol="0" anchor="ctr"/>
          <a:lstStyle/>
          <a:p>
            <a:pPr marL="0" indent="0">
              <a:buNone/>
            </a:pPr>
            <a:r>
              <a:rPr lang="en-US" sz="1400" b="1">
                <a:solidFill>
                  <a:srgbClr val="FFFFFF"/>
                </a:solidFill>
                <a:latin typeface="Calibri"/>
                <a:ea typeface="Calibri"/>
                <a:cs typeface="Calibri"/>
              </a:rPr>
              <a:t>Dr. V.K.R. Rajeswari Satuluri</a:t>
            </a:r>
            <a:endParaRPr lang="en-US" sz="1400">
              <a:latin typeface="Calibri"/>
              <a:ea typeface="Calibri"/>
              <a:cs typeface="Calibri"/>
            </a:endParaRPr>
          </a:p>
          <a:p>
            <a:pPr marL="0" indent="0">
              <a:buNone/>
            </a:pPr>
            <a:r>
              <a:rPr lang="en-US" sz="1400" b="1">
                <a:solidFill>
                  <a:srgbClr val="00B0F0"/>
                </a:solidFill>
                <a:latin typeface="Calibri"/>
                <a:ea typeface="Calibri"/>
                <a:cs typeface="Calibri"/>
              </a:rPr>
              <a:t>Chief Innovation Officer,</a:t>
            </a:r>
          </a:p>
          <a:p>
            <a:pPr marL="0" indent="0">
              <a:buNone/>
            </a:pPr>
            <a:endParaRPr lang="en-US" sz="1150" b="1">
              <a:solidFill>
                <a:srgbClr val="00B0F0"/>
              </a:solidFill>
              <a:latin typeface="Calibri" pitchFamily="34" charset="0"/>
              <a:ea typeface="Calibri" pitchFamily="34" charset="-122"/>
              <a:cs typeface="Calibri" pitchFamily="34" charset="-120"/>
            </a:endParaRPr>
          </a:p>
          <a:p>
            <a:r>
              <a:rPr lang="en-US" sz="1200" b="1" err="1">
                <a:solidFill>
                  <a:srgbClr val="FFFFFF"/>
                </a:solidFill>
                <a:latin typeface="Calibri" pitchFamily="34" charset="0"/>
                <a:ea typeface="Calibri" pitchFamily="34" charset="-122"/>
                <a:cs typeface="Calibri" pitchFamily="34" charset="-120"/>
              </a:rPr>
              <a:t>Stixis</a:t>
            </a:r>
            <a:r>
              <a:rPr lang="en-US" sz="1200" b="1">
                <a:solidFill>
                  <a:srgbClr val="FFFFFF"/>
                </a:solidFill>
                <a:latin typeface="Calibri" pitchFamily="34" charset="0"/>
                <a:ea typeface="Calibri" pitchFamily="34" charset="-122"/>
                <a:cs typeface="Calibri" pitchFamily="34" charset="-120"/>
              </a:rPr>
              <a:t> AI Solutions Private Limited.</a:t>
            </a:r>
          </a:p>
          <a:p>
            <a:r>
              <a:rPr lang="en-IN" sz="1200">
                <a:solidFill>
                  <a:schemeClr val="bg1"/>
                </a:solidFill>
              </a:rPr>
              <a:t>477, Urban Vault, 18th Cross Road, </a:t>
            </a:r>
            <a:r>
              <a:rPr lang="en-IN" sz="1200" err="1">
                <a:solidFill>
                  <a:schemeClr val="bg1"/>
                </a:solidFill>
              </a:rPr>
              <a:t>Parangipalya</a:t>
            </a:r>
            <a:r>
              <a:rPr lang="en-IN" sz="1200">
                <a:solidFill>
                  <a:schemeClr val="bg1"/>
                </a:solidFill>
              </a:rPr>
              <a:t>, Sector-2, </a:t>
            </a:r>
            <a:br>
              <a:rPr lang="en-IN" sz="1200">
                <a:solidFill>
                  <a:schemeClr val="bg1"/>
                </a:solidFill>
              </a:rPr>
            </a:br>
            <a:r>
              <a:rPr lang="en-IN" sz="1200">
                <a:solidFill>
                  <a:schemeClr val="bg1"/>
                </a:solidFill>
              </a:rPr>
              <a:t>HSR Layout, Bangalore-560102. KARNATAKA, INDIA</a:t>
            </a:r>
            <a:endParaRPr lang="en-US" sz="1200">
              <a:solidFill>
                <a:schemeClr val="bg1"/>
              </a:solidFill>
            </a:endParaRPr>
          </a:p>
        </p:txBody>
      </p:sp>
      <p:pic>
        <p:nvPicPr>
          <p:cNvPr id="12" name="Picture 11">
            <a:extLst>
              <a:ext uri="{FF2B5EF4-FFF2-40B4-BE49-F238E27FC236}">
                <a16:creationId xmlns:a16="http://schemas.microsoft.com/office/drawing/2014/main" id="{6E2AC535-32C2-3F45-A42C-7D63FA353065}"/>
              </a:ext>
            </a:extLst>
          </p:cNvPr>
          <p:cNvPicPr>
            <a:picLocks noChangeAspect="1"/>
          </p:cNvPicPr>
          <p:nvPr/>
        </p:nvPicPr>
        <p:blipFill>
          <a:blip r:embed="rId4"/>
          <a:stretch>
            <a:fillRect/>
          </a:stretch>
        </p:blipFill>
        <p:spPr>
          <a:xfrm>
            <a:off x="2851694" y="3966103"/>
            <a:ext cx="1837186" cy="822053"/>
          </a:xfrm>
          <a:prstGeom prst="rect">
            <a:avLst/>
          </a:prstGeom>
        </p:spPr>
      </p:pic>
      <p:pic>
        <p:nvPicPr>
          <p:cNvPr id="13" name="Picture 12">
            <a:extLst>
              <a:ext uri="{FF2B5EF4-FFF2-40B4-BE49-F238E27FC236}">
                <a16:creationId xmlns:a16="http://schemas.microsoft.com/office/drawing/2014/main" id="{4D24D91D-81B4-FC4D-9DFD-2BD85292FFDE}"/>
              </a:ext>
            </a:extLst>
          </p:cNvPr>
          <p:cNvPicPr>
            <a:picLocks noChangeAspect="1"/>
          </p:cNvPicPr>
          <p:nvPr/>
        </p:nvPicPr>
        <p:blipFill>
          <a:blip r:embed="rId5"/>
          <a:stretch>
            <a:fillRect/>
          </a:stretch>
        </p:blipFill>
        <p:spPr>
          <a:xfrm>
            <a:off x="2858686" y="4979671"/>
            <a:ext cx="1996934" cy="620839"/>
          </a:xfrm>
          <a:prstGeom prst="rect">
            <a:avLst/>
          </a:prstGeom>
        </p:spPr>
      </p:pic>
      <p:cxnSp>
        <p:nvCxnSpPr>
          <p:cNvPr id="15" name="Straight Connector 14">
            <a:extLst>
              <a:ext uri="{FF2B5EF4-FFF2-40B4-BE49-F238E27FC236}">
                <a16:creationId xmlns:a16="http://schemas.microsoft.com/office/drawing/2014/main" id="{F1659DDD-893E-8F44-92A0-C9CEEDB46EAB}"/>
              </a:ext>
            </a:extLst>
          </p:cNvPr>
          <p:cNvCxnSpPr/>
          <p:nvPr/>
        </p:nvCxnSpPr>
        <p:spPr>
          <a:xfrm>
            <a:off x="3213666" y="515446"/>
            <a:ext cx="0" cy="77530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B0F0"/>
                </a:solidFill>
                <a:latin typeface="Calibri" pitchFamily="34" charset="0"/>
                <a:ea typeface="Calibri" pitchFamily="34" charset="-122"/>
                <a:cs typeface="Calibri" pitchFamily="34" charset="-120"/>
              </a:rPr>
              <a:t>COURSE MAP</a:t>
            </a:r>
            <a:endParaRPr lang="en-US" sz="1150">
              <a:solidFill>
                <a:srgbClr val="00B0F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Three days, fifteen hours, one delivery pipeline</a:t>
            </a:r>
            <a:endParaRPr lang="en-US" sz="3000"/>
          </a:p>
        </p:txBody>
      </p:sp>
      <p:graphicFrame>
        <p:nvGraphicFramePr>
          <p:cNvPr id="5" name="Table 0"/>
          <p:cNvGraphicFramePr>
            <a:graphicFrameLocks noGrp="1"/>
          </p:cNvGraphicFramePr>
          <p:nvPr>
            <p:extLst>
              <p:ext uri="{D42A27DB-BD31-4B8C-83A1-F6EECF244321}">
                <p14:modId xmlns:p14="http://schemas.microsoft.com/office/powerpoint/2010/main" val="3621627388"/>
              </p:ext>
            </p:extLst>
          </p:nvPr>
        </p:nvGraphicFramePr>
        <p:xfrm>
          <a:off x="566928" y="1627632"/>
          <a:ext cx="11064240" cy="2946878"/>
        </p:xfrm>
        <a:graphic>
          <a:graphicData uri="http://schemas.openxmlformats.org/drawingml/2006/table">
            <a:tbl>
              <a:tblPr/>
              <a:tblGrid>
                <a:gridCol w="7772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6235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532862">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Day</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Theme</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Theory topics covered</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Lab (2 h)</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804672">
                <a:tc>
                  <a:txBody>
                    <a:bodyPr/>
                    <a:lstStyle/>
                    <a:p>
                      <a:pPr marL="0" indent="0" algn="l">
                        <a:buNone/>
                      </a:pPr>
                      <a:r>
                        <a:rPr lang="en-US" sz="1050" b="1">
                          <a:solidFill>
                            <a:srgbClr val="2E3A8C"/>
                          </a:solidFill>
                          <a:latin typeface="Calibri" pitchFamily="34" charset="0"/>
                          <a:ea typeface="Calibri" pitchFamily="34" charset="-122"/>
                          <a:cs typeface="Calibri" pitchFamily="34" charset="-120"/>
                        </a:rPr>
                        <a:t>Day 1</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50">
                          <a:solidFill>
                            <a:srgbClr val="0E1330"/>
                          </a:solidFill>
                          <a:latin typeface="Calibri" pitchFamily="34" charset="0"/>
                          <a:ea typeface="Calibri" pitchFamily="34" charset="-122"/>
                          <a:cs typeface="Calibri" pitchFamily="34" charset="-120"/>
                        </a:rPr>
                        <a:t>Foundations of synthetic data + generative AI</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50">
                          <a:solidFill>
                            <a:srgbClr val="0E1330"/>
                          </a:solidFill>
                          <a:latin typeface="Calibri" pitchFamily="34" charset="0"/>
                          <a:ea typeface="Calibri" pitchFamily="34" charset="-122"/>
                          <a:cs typeface="Calibri" pitchFamily="34" charset="-120"/>
                        </a:rPr>
                        <a:t>Introduction · Real vs synthetic · Why organisations use it · Types · Applications · Introduction to generative AI · Model overview · Core architectures · Choosing an approach</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50">
                          <a:solidFill>
                            <a:srgbClr val="0E1330"/>
                          </a:solidFill>
                          <a:latin typeface="Calibri" pitchFamily="34" charset="0"/>
                          <a:ea typeface="Calibri" pitchFamily="34" charset="-122"/>
                          <a:cs typeface="Calibri" pitchFamily="34" charset="-120"/>
                        </a:rPr>
                        <a:t>Profiling a Glixify-inspired wearable + CGM dataset (simplified teaching dataset) and generating a first synthetic copy</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804672">
                <a:tc>
                  <a:txBody>
                    <a:bodyPr/>
                    <a:lstStyle/>
                    <a:p>
                      <a:pPr marL="0" indent="0" algn="l">
                        <a:buNone/>
                      </a:pPr>
                      <a:r>
                        <a:rPr lang="en-US" sz="1050" b="1">
                          <a:solidFill>
                            <a:srgbClr val="2E3A8C"/>
                          </a:solidFill>
                          <a:latin typeface="Calibri" pitchFamily="34" charset="0"/>
                          <a:ea typeface="Calibri" pitchFamily="34" charset="-122"/>
                          <a:cs typeface="Calibri" pitchFamily="34" charset="-120"/>
                        </a:rPr>
                        <a:t>Day 2</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a:solidFill>
                            <a:srgbClr val="0E1330"/>
                          </a:solidFill>
                          <a:latin typeface="Calibri" pitchFamily="34" charset="0"/>
                          <a:ea typeface="Calibri" pitchFamily="34" charset="-122"/>
                          <a:cs typeface="Calibri" pitchFamily="34" charset="-120"/>
                        </a:rPr>
                        <a:t>Synthetic data generation techniques</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a:solidFill>
                            <a:srgbClr val="0E1330"/>
                          </a:solidFill>
                          <a:latin typeface="Calibri" pitchFamily="34" charset="0"/>
                          <a:ea typeface="Calibri" pitchFamily="34" charset="-122"/>
                          <a:cs typeface="Calibri" pitchFamily="34" charset="-120"/>
                        </a:rPr>
                        <a:t>Tabular · Text · Images · Choosing and training a generator (GAN, VAE, diffusion) · Inspecting the output</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a:solidFill>
                            <a:srgbClr val="0E1330"/>
                          </a:solidFill>
                          <a:latin typeface="Calibri" pitchFamily="34" charset="0"/>
                          <a:ea typeface="Calibri" pitchFamily="34" charset="-122"/>
                          <a:cs typeface="Calibri" pitchFamily="34" charset="-120"/>
                        </a:rPr>
                        <a:t>Training CTGAN on a shared dataset and inspecting its output; TVAE and TabDDPM shown as instructor demos</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04672">
                <a:tc>
                  <a:txBody>
                    <a:bodyPr/>
                    <a:lstStyle/>
                    <a:p>
                      <a:pPr marL="0" indent="0" algn="l">
                        <a:buNone/>
                      </a:pPr>
                      <a:r>
                        <a:rPr lang="en-US" sz="1050" b="1">
                          <a:solidFill>
                            <a:srgbClr val="2E3A8C"/>
                          </a:solidFill>
                          <a:latin typeface="Calibri" pitchFamily="34" charset="0"/>
                          <a:ea typeface="Calibri" pitchFamily="34" charset="-122"/>
                          <a:cs typeface="Calibri" pitchFamily="34" charset="-120"/>
                        </a:rPr>
                        <a:t>Day 3</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50">
                          <a:solidFill>
                            <a:srgbClr val="0E1330"/>
                          </a:solidFill>
                          <a:latin typeface="Calibri" pitchFamily="34" charset="0"/>
                          <a:ea typeface="Calibri" pitchFamily="34" charset="-122"/>
                          <a:cs typeface="Calibri" pitchFamily="34" charset="-120"/>
                        </a:rPr>
                        <a:t>Quality, validation, privacy &amp; industry applications</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50">
                          <a:solidFill>
                            <a:srgbClr val="0E1330"/>
                          </a:solidFill>
                          <a:latin typeface="Calibri" pitchFamily="34" charset="0"/>
                          <a:ea typeface="Calibri" pitchFamily="34" charset="-122"/>
                          <a:cs typeface="Calibri" pitchFamily="34" charset="-120"/>
                        </a:rPr>
                        <a:t>Synthetic data quality · Privacy · Illustrative Stixis-style use case</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50">
                          <a:solidFill>
                            <a:srgbClr val="0E1330"/>
                          </a:solidFill>
                          <a:latin typeface="Calibri" pitchFamily="34" charset="0"/>
                          <a:ea typeface="Calibri" pitchFamily="34" charset="-122"/>
                          <a:cs typeface="Calibri" pitchFamily="34" charset="-120"/>
                        </a:rPr>
                        <a:t>Building a three-gate evaluation scorecard and a privacy audit</a:t>
                      </a:r>
                      <a:endParaRPr lang="en-US" sz="10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9F4FD04-0072-C849-B8DC-EC9F40900E79}"/>
              </a:ext>
            </a:extLst>
          </p:cNvPr>
          <p:cNvPicPr>
            <a:picLocks noChangeAspect="1"/>
          </p:cNvPicPr>
          <p:nvPr/>
        </p:nvPicPr>
        <p:blipFill>
          <a:blip r:embed="rId2"/>
          <a:stretch>
            <a:fillRect/>
          </a:stretch>
        </p:blipFill>
        <p:spPr>
          <a:xfrm>
            <a:off x="3239" y="0"/>
            <a:ext cx="12185522" cy="6858000"/>
          </a:xfrm>
          <a:prstGeom prst="rect">
            <a:avLst/>
          </a:prstGeom>
        </p:spPr>
      </p:pic>
      <p:sp>
        <p:nvSpPr>
          <p:cNvPr id="3" name="Rectangle 2">
            <a:extLst>
              <a:ext uri="{FF2B5EF4-FFF2-40B4-BE49-F238E27FC236}">
                <a16:creationId xmlns:a16="http://schemas.microsoft.com/office/drawing/2014/main" id="{B0119AF8-20F7-4440-93E1-B5ED7AFF6B0A}"/>
              </a:ext>
            </a:extLst>
          </p:cNvPr>
          <p:cNvSpPr/>
          <p:nvPr/>
        </p:nvSpPr>
        <p:spPr>
          <a:xfrm>
            <a:off x="759760" y="2323901"/>
            <a:ext cx="6798467" cy="1477328"/>
          </a:xfrm>
          <a:prstGeom prst="rect">
            <a:avLst/>
          </a:prstGeom>
          <a:effectLst>
            <a:outerShdw blurRad="50800" dist="38100" dir="2700000" algn="tl" rotWithShape="0">
              <a:prstClr val="black">
                <a:alpha val="40000"/>
              </a:prstClr>
            </a:outerShdw>
          </a:effectLst>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4500" b="1" err="1">
                <a:latin typeface="Roboto"/>
                <a:ea typeface="Roboto"/>
                <a:cs typeface="Roboto"/>
              </a:rPr>
              <a:t>Glixify</a:t>
            </a:r>
            <a:r>
              <a:rPr lang="en-US" sz="4500" b="1">
                <a:latin typeface="Roboto"/>
                <a:ea typeface="Roboto"/>
                <a:cs typeface="Roboto"/>
              </a:rPr>
              <a:t> Wellness Pioneers Program </a:t>
            </a:r>
          </a:p>
        </p:txBody>
      </p:sp>
      <p:pic>
        <p:nvPicPr>
          <p:cNvPr id="8" name="Picture 7">
            <a:extLst>
              <a:ext uri="{FF2B5EF4-FFF2-40B4-BE49-F238E27FC236}">
                <a16:creationId xmlns:a16="http://schemas.microsoft.com/office/drawing/2014/main" id="{BA374A03-614C-4843-B6AE-54D4794C5F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1411" y="1108261"/>
            <a:ext cx="3129020" cy="846044"/>
          </a:xfrm>
          <a:prstGeom prst="rect">
            <a:avLst/>
          </a:prstGeom>
        </p:spPr>
      </p:pic>
      <p:sp>
        <p:nvSpPr>
          <p:cNvPr id="7" name="Rectangle 6">
            <a:extLst>
              <a:ext uri="{FF2B5EF4-FFF2-40B4-BE49-F238E27FC236}">
                <a16:creationId xmlns:a16="http://schemas.microsoft.com/office/drawing/2014/main" id="{AAD62910-7072-774E-ADD0-AFF7321C98B3}"/>
              </a:ext>
            </a:extLst>
          </p:cNvPr>
          <p:cNvSpPr/>
          <p:nvPr/>
        </p:nvSpPr>
        <p:spPr>
          <a:xfrm>
            <a:off x="1489432" y="6175736"/>
            <a:ext cx="976469" cy="248209"/>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solidFill>
                  <a:schemeClr val="bg1"/>
                </a:solidFill>
                <a:latin typeface="Roboto" panose="02000000000000000000" pitchFamily="2" charset="0"/>
                <a:ea typeface="Roboto" panose="02000000000000000000" pitchFamily="2" charset="0"/>
              </a:rPr>
              <a:t>July - 2026</a:t>
            </a:r>
          </a:p>
        </p:txBody>
      </p:sp>
      <p:pic>
        <p:nvPicPr>
          <p:cNvPr id="9" name="Picture 8">
            <a:extLst>
              <a:ext uri="{FF2B5EF4-FFF2-40B4-BE49-F238E27FC236}">
                <a16:creationId xmlns:a16="http://schemas.microsoft.com/office/drawing/2014/main" id="{573CA094-F828-DC4B-9F10-FBB958B7B300}"/>
              </a:ext>
            </a:extLst>
          </p:cNvPr>
          <p:cNvPicPr>
            <a:picLocks noChangeAspect="1"/>
          </p:cNvPicPr>
          <p:nvPr/>
        </p:nvPicPr>
        <p:blipFill>
          <a:blip r:embed="rId4"/>
          <a:stretch>
            <a:fillRect/>
          </a:stretch>
        </p:blipFill>
        <p:spPr>
          <a:xfrm>
            <a:off x="1052512" y="6126460"/>
            <a:ext cx="357188" cy="375551"/>
          </a:xfrm>
          <a:prstGeom prst="rect">
            <a:avLst/>
          </a:prstGeom>
        </p:spPr>
      </p:pic>
      <p:sp>
        <p:nvSpPr>
          <p:cNvPr id="11" name="Rectangle 10">
            <a:extLst>
              <a:ext uri="{FF2B5EF4-FFF2-40B4-BE49-F238E27FC236}">
                <a16:creationId xmlns:a16="http://schemas.microsoft.com/office/drawing/2014/main" id="{2F9529FD-790C-1D48-B1DA-C42469E7EFB8}"/>
              </a:ext>
            </a:extLst>
          </p:cNvPr>
          <p:cNvSpPr/>
          <p:nvPr/>
        </p:nvSpPr>
        <p:spPr>
          <a:xfrm>
            <a:off x="10725150" y="114300"/>
            <a:ext cx="1206101" cy="248209"/>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solidFill>
                  <a:srgbClr val="0161DA"/>
                </a:solidFill>
                <a:latin typeface="Roboto" panose="02000000000000000000" pitchFamily="2" charset="0"/>
                <a:ea typeface="Roboto" panose="02000000000000000000" pitchFamily="2" charset="0"/>
              </a:rPr>
              <a:t>www.glixify.ai</a:t>
            </a:r>
          </a:p>
        </p:txBody>
      </p:sp>
      <p:pic>
        <p:nvPicPr>
          <p:cNvPr id="10" name="Picture 9">
            <a:extLst>
              <a:ext uri="{FF2B5EF4-FFF2-40B4-BE49-F238E27FC236}">
                <a16:creationId xmlns:a16="http://schemas.microsoft.com/office/drawing/2014/main" id="{2A673D97-3455-2F43-939C-A26E70C6A2D3}"/>
              </a:ext>
            </a:extLst>
          </p:cNvPr>
          <p:cNvPicPr>
            <a:picLocks noChangeAspect="1"/>
          </p:cNvPicPr>
          <p:nvPr/>
        </p:nvPicPr>
        <p:blipFill>
          <a:blip r:embed="rId5"/>
          <a:stretch>
            <a:fillRect/>
          </a:stretch>
        </p:blipFill>
        <p:spPr>
          <a:xfrm>
            <a:off x="663095" y="890467"/>
            <a:ext cx="2629142" cy="1281631"/>
          </a:xfrm>
          <a:prstGeom prst="rect">
            <a:avLst/>
          </a:prstGeom>
        </p:spPr>
      </p:pic>
    </p:spTree>
    <p:extLst>
      <p:ext uri="{BB962C8B-B14F-4D97-AF65-F5344CB8AC3E}">
        <p14:creationId xmlns:p14="http://schemas.microsoft.com/office/powerpoint/2010/main" val="719154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7603270D-F3B5-C34B-A918-5A2801A6E170}"/>
              </a:ext>
            </a:extLst>
          </p:cNvPr>
          <p:cNvPicPr>
            <a:picLocks noChangeAspect="1"/>
          </p:cNvPicPr>
          <p:nvPr/>
        </p:nvPicPr>
        <p:blipFill>
          <a:blip r:embed="rId3"/>
          <a:stretch>
            <a:fillRect/>
          </a:stretch>
        </p:blipFill>
        <p:spPr>
          <a:xfrm>
            <a:off x="16886" y="0"/>
            <a:ext cx="12175115" cy="6858000"/>
          </a:xfrm>
          <a:prstGeom prst="rect">
            <a:avLst/>
          </a:prstGeom>
        </p:spPr>
      </p:pic>
      <p:sp>
        <p:nvSpPr>
          <p:cNvPr id="4" name="Rectangle 3">
            <a:extLst>
              <a:ext uri="{FF2B5EF4-FFF2-40B4-BE49-F238E27FC236}">
                <a16:creationId xmlns:a16="http://schemas.microsoft.com/office/drawing/2014/main" id="{F5F910CD-867E-BC40-A57D-F2540C055050}"/>
              </a:ext>
            </a:extLst>
          </p:cNvPr>
          <p:cNvSpPr/>
          <p:nvPr/>
        </p:nvSpPr>
        <p:spPr>
          <a:xfrm>
            <a:off x="499061" y="401405"/>
            <a:ext cx="2403467" cy="1246495"/>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750" b="1">
                <a:latin typeface="Roboto" panose="02000000000000000000" pitchFamily="2" charset="0"/>
                <a:ea typeface="Roboto" panose="02000000000000000000" pitchFamily="2" charset="0"/>
              </a:rPr>
              <a:t>What is</a:t>
            </a:r>
          </a:p>
          <a:p>
            <a:r>
              <a:rPr lang="en-US" sz="3750" b="1" err="1">
                <a:solidFill>
                  <a:srgbClr val="0070C0"/>
                </a:solidFill>
                <a:latin typeface="Roboto" panose="02000000000000000000" pitchFamily="2" charset="0"/>
                <a:ea typeface="Roboto" panose="02000000000000000000" pitchFamily="2" charset="0"/>
              </a:rPr>
              <a:t>Glixify</a:t>
            </a:r>
            <a:endParaRPr lang="en-US" sz="3750" b="1">
              <a:solidFill>
                <a:srgbClr val="0070C0"/>
              </a:solidFill>
              <a:latin typeface="Roboto" panose="02000000000000000000" pitchFamily="2" charset="0"/>
              <a:ea typeface="Roboto" panose="02000000000000000000" pitchFamily="2" charset="0"/>
            </a:endParaRPr>
          </a:p>
        </p:txBody>
      </p:sp>
      <p:sp>
        <p:nvSpPr>
          <p:cNvPr id="6" name="Rectangle 5">
            <a:extLst>
              <a:ext uri="{FF2B5EF4-FFF2-40B4-BE49-F238E27FC236}">
                <a16:creationId xmlns:a16="http://schemas.microsoft.com/office/drawing/2014/main" id="{4C63B33E-73C2-3D42-8DC8-C8BB9B2355D7}"/>
              </a:ext>
            </a:extLst>
          </p:cNvPr>
          <p:cNvSpPr/>
          <p:nvPr/>
        </p:nvSpPr>
        <p:spPr>
          <a:xfrm>
            <a:off x="499061" y="2026221"/>
            <a:ext cx="2880840" cy="2377574"/>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650" err="1">
                <a:latin typeface="Roboto" panose="02000000000000000000" pitchFamily="2" charset="0"/>
                <a:ea typeface="Roboto" panose="02000000000000000000" pitchFamily="2" charset="0"/>
              </a:rPr>
              <a:t>Glixify</a:t>
            </a:r>
            <a:r>
              <a:rPr lang="en-IN" sz="1650">
                <a:latin typeface="Roboto" panose="02000000000000000000" pitchFamily="2" charset="0"/>
                <a:ea typeface="Roboto" panose="02000000000000000000" pitchFamily="2" charset="0"/>
              </a:rPr>
              <a:t> is a digital health platform focused on </a:t>
            </a:r>
            <a:r>
              <a:rPr lang="en-IN" sz="1650">
                <a:solidFill>
                  <a:srgbClr val="0070C0"/>
                </a:solidFill>
                <a:latin typeface="Roboto" panose="02000000000000000000" pitchFamily="2" charset="0"/>
                <a:ea typeface="Roboto" panose="02000000000000000000" pitchFamily="2" charset="0"/>
              </a:rPr>
              <a:t>Type 2 diabetes prevention, management, and reversal/remission</a:t>
            </a:r>
            <a:r>
              <a:rPr lang="en-IN" sz="1650">
                <a:solidFill>
                  <a:srgbClr val="1055F5"/>
                </a:solidFill>
                <a:latin typeface="Roboto" panose="02000000000000000000" pitchFamily="2" charset="0"/>
                <a:ea typeface="Roboto" panose="02000000000000000000" pitchFamily="2" charset="0"/>
              </a:rPr>
              <a:t> </a:t>
            </a:r>
            <a:r>
              <a:rPr lang="en-IN" sz="1650">
                <a:latin typeface="Roboto" panose="02000000000000000000" pitchFamily="2" charset="0"/>
                <a:ea typeface="Roboto" panose="02000000000000000000" pitchFamily="2" charset="0"/>
              </a:rPr>
              <a:t>using a combination of Al, continuous monitoring, </a:t>
            </a:r>
            <a:r>
              <a:rPr lang="en-IN" sz="1650" err="1">
                <a:latin typeface="Roboto" panose="02000000000000000000" pitchFamily="2" charset="0"/>
                <a:ea typeface="Roboto" panose="02000000000000000000" pitchFamily="2" charset="0"/>
              </a:rPr>
              <a:t>behavioral</a:t>
            </a:r>
            <a:r>
              <a:rPr lang="en-IN" sz="1650">
                <a:latin typeface="Roboto" panose="02000000000000000000" pitchFamily="2" charset="0"/>
                <a:ea typeface="Roboto" panose="02000000000000000000" pitchFamily="2" charset="0"/>
              </a:rPr>
              <a:t> coaching, and clinical interventions.</a:t>
            </a:r>
            <a:endParaRPr lang="en-IN" sz="1650">
              <a:effectLst/>
              <a:latin typeface="Roboto" panose="02000000000000000000" pitchFamily="2" charset="0"/>
              <a:ea typeface="Roboto" panose="02000000000000000000" pitchFamily="2" charset="0"/>
            </a:endParaRPr>
          </a:p>
        </p:txBody>
      </p:sp>
      <p:sp>
        <p:nvSpPr>
          <p:cNvPr id="7" name="Rectangle 6">
            <a:extLst>
              <a:ext uri="{FF2B5EF4-FFF2-40B4-BE49-F238E27FC236}">
                <a16:creationId xmlns:a16="http://schemas.microsoft.com/office/drawing/2014/main" id="{2BDD95B7-0805-7B48-A54E-4C6FD7A1EA29}"/>
              </a:ext>
            </a:extLst>
          </p:cNvPr>
          <p:cNvSpPr/>
          <p:nvPr/>
        </p:nvSpPr>
        <p:spPr>
          <a:xfrm>
            <a:off x="7888431" y="280668"/>
            <a:ext cx="1885950" cy="646331"/>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200" b="1">
                <a:solidFill>
                  <a:srgbClr val="0070C0"/>
                </a:solidFill>
                <a:latin typeface="Roboto" panose="02000000000000000000" pitchFamily="2" charset="0"/>
                <a:ea typeface="Roboto" panose="02000000000000000000" pitchFamily="2" charset="0"/>
              </a:rPr>
              <a:t>Continuous Monitoring</a:t>
            </a:r>
          </a:p>
          <a:p>
            <a:r>
              <a:rPr lang="en-IN" sz="1200">
                <a:latin typeface="Roboto" panose="02000000000000000000" pitchFamily="2" charset="0"/>
                <a:ea typeface="Roboto" panose="02000000000000000000" pitchFamily="2" charset="0"/>
              </a:rPr>
              <a:t>Integrates with CGMs and wearable devices.</a:t>
            </a:r>
            <a:endParaRPr lang="en-IN" sz="1200">
              <a:effectLst/>
              <a:latin typeface="Roboto" panose="02000000000000000000" pitchFamily="2" charset="0"/>
              <a:ea typeface="Roboto" panose="02000000000000000000" pitchFamily="2" charset="0"/>
            </a:endParaRPr>
          </a:p>
        </p:txBody>
      </p:sp>
      <p:sp>
        <p:nvSpPr>
          <p:cNvPr id="8" name="Rectangle 7">
            <a:extLst>
              <a:ext uri="{FF2B5EF4-FFF2-40B4-BE49-F238E27FC236}">
                <a16:creationId xmlns:a16="http://schemas.microsoft.com/office/drawing/2014/main" id="{4B1E4602-FC7D-4642-9984-790F1300D8A9}"/>
              </a:ext>
            </a:extLst>
          </p:cNvPr>
          <p:cNvSpPr/>
          <p:nvPr/>
        </p:nvSpPr>
        <p:spPr>
          <a:xfrm>
            <a:off x="8118921" y="1092106"/>
            <a:ext cx="2909159" cy="830997"/>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200" b="1">
                <a:solidFill>
                  <a:srgbClr val="0070C0"/>
                </a:solidFill>
                <a:latin typeface="Roboto" panose="02000000000000000000" pitchFamily="2" charset="0"/>
                <a:ea typeface="Roboto" panose="02000000000000000000" pitchFamily="2" charset="0"/>
              </a:rPr>
              <a:t>Track What Matters</a:t>
            </a:r>
          </a:p>
          <a:p>
            <a:r>
              <a:rPr lang="en-IN" sz="1200">
                <a:latin typeface="Roboto" panose="02000000000000000000" pitchFamily="2" charset="0"/>
                <a:ea typeface="Roboto" panose="02000000000000000000" pitchFamily="2" charset="0"/>
              </a:rPr>
              <a:t>Tracks health data such as glucose levels, activity, stress, spo2, heart rate, and sleep</a:t>
            </a:r>
            <a:endParaRPr lang="en-IN" sz="1200">
              <a:effectLst/>
              <a:latin typeface="Roboto" panose="02000000000000000000" pitchFamily="2" charset="0"/>
              <a:ea typeface="Roboto" panose="02000000000000000000" pitchFamily="2" charset="0"/>
            </a:endParaRPr>
          </a:p>
        </p:txBody>
      </p:sp>
      <p:sp>
        <p:nvSpPr>
          <p:cNvPr id="9" name="Rectangle 8">
            <a:extLst>
              <a:ext uri="{FF2B5EF4-FFF2-40B4-BE49-F238E27FC236}">
                <a16:creationId xmlns:a16="http://schemas.microsoft.com/office/drawing/2014/main" id="{54770FBE-A565-5941-B949-999DC9B5A820}"/>
              </a:ext>
            </a:extLst>
          </p:cNvPr>
          <p:cNvSpPr/>
          <p:nvPr/>
        </p:nvSpPr>
        <p:spPr>
          <a:xfrm>
            <a:off x="8276378" y="1984661"/>
            <a:ext cx="2696283" cy="646331"/>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200" b="1">
                <a:solidFill>
                  <a:srgbClr val="0070C0"/>
                </a:solidFill>
                <a:latin typeface="Roboto" panose="02000000000000000000" pitchFamily="2" charset="0"/>
                <a:ea typeface="Roboto" panose="02000000000000000000" pitchFamily="2" charset="0"/>
              </a:rPr>
              <a:t>Al-Powered Insights</a:t>
            </a:r>
            <a:endParaRPr lang="en-IN" sz="1200">
              <a:solidFill>
                <a:srgbClr val="0070C0"/>
              </a:solidFill>
              <a:latin typeface="Roboto" panose="02000000000000000000" pitchFamily="2" charset="0"/>
              <a:ea typeface="Roboto" panose="02000000000000000000" pitchFamily="2" charset="0"/>
            </a:endParaRPr>
          </a:p>
          <a:p>
            <a:r>
              <a:rPr lang="en-IN" sz="1200">
                <a:latin typeface="Roboto" panose="02000000000000000000" pitchFamily="2" charset="0"/>
                <a:ea typeface="Roboto" panose="02000000000000000000" pitchFamily="2" charset="0"/>
              </a:rPr>
              <a:t>Personalized insights, smart alerts &amp; actionable nudges.</a:t>
            </a:r>
            <a:endParaRPr lang="en-IN" sz="1200">
              <a:effectLst/>
              <a:latin typeface="Roboto" panose="02000000000000000000" pitchFamily="2" charset="0"/>
              <a:ea typeface="Roboto" panose="02000000000000000000" pitchFamily="2" charset="0"/>
            </a:endParaRPr>
          </a:p>
        </p:txBody>
      </p:sp>
      <p:sp>
        <p:nvSpPr>
          <p:cNvPr id="10" name="Rectangle 9">
            <a:extLst>
              <a:ext uri="{FF2B5EF4-FFF2-40B4-BE49-F238E27FC236}">
                <a16:creationId xmlns:a16="http://schemas.microsoft.com/office/drawing/2014/main" id="{871F9ECC-AA2A-F441-B9EE-51EB1DF6DCAA}"/>
              </a:ext>
            </a:extLst>
          </p:cNvPr>
          <p:cNvSpPr/>
          <p:nvPr/>
        </p:nvSpPr>
        <p:spPr>
          <a:xfrm>
            <a:off x="8118922" y="2797506"/>
            <a:ext cx="2549078" cy="830997"/>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200" b="1">
                <a:solidFill>
                  <a:srgbClr val="0070C0"/>
                </a:solidFill>
                <a:latin typeface="Roboto" panose="02000000000000000000" pitchFamily="2" charset="0"/>
                <a:ea typeface="Roboto" panose="02000000000000000000" pitchFamily="2" charset="0"/>
              </a:rPr>
              <a:t>Human Coaching</a:t>
            </a:r>
            <a:endParaRPr lang="en-IN" sz="1200">
              <a:solidFill>
                <a:srgbClr val="0070C0"/>
              </a:solidFill>
              <a:latin typeface="Roboto" panose="02000000000000000000" pitchFamily="2" charset="0"/>
              <a:ea typeface="Roboto" panose="02000000000000000000" pitchFamily="2" charset="0"/>
            </a:endParaRPr>
          </a:p>
          <a:p>
            <a:r>
              <a:rPr lang="en-IN" sz="1200">
                <a:latin typeface="Roboto" panose="02000000000000000000" pitchFamily="2" charset="0"/>
                <a:ea typeface="Roboto" panose="02000000000000000000" pitchFamily="2" charset="0"/>
              </a:rPr>
              <a:t>Combines technology with human interventions and clinical guidance.</a:t>
            </a:r>
            <a:endParaRPr lang="en-IN" sz="1200">
              <a:effectLst/>
              <a:latin typeface="Roboto" panose="02000000000000000000" pitchFamily="2" charset="0"/>
              <a:ea typeface="Roboto" panose="02000000000000000000" pitchFamily="2" charset="0"/>
            </a:endParaRPr>
          </a:p>
        </p:txBody>
      </p:sp>
      <p:sp>
        <p:nvSpPr>
          <p:cNvPr id="11" name="Rectangle 10">
            <a:extLst>
              <a:ext uri="{FF2B5EF4-FFF2-40B4-BE49-F238E27FC236}">
                <a16:creationId xmlns:a16="http://schemas.microsoft.com/office/drawing/2014/main" id="{EF6581F6-B726-6C45-ADCB-372B0F5F07A3}"/>
              </a:ext>
            </a:extLst>
          </p:cNvPr>
          <p:cNvSpPr/>
          <p:nvPr/>
        </p:nvSpPr>
        <p:spPr>
          <a:xfrm>
            <a:off x="7888432" y="3718311"/>
            <a:ext cx="2951018" cy="830997"/>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200" b="1">
                <a:solidFill>
                  <a:srgbClr val="0070C0"/>
                </a:solidFill>
                <a:latin typeface="Roboto" panose="02000000000000000000" pitchFamily="2" charset="0"/>
                <a:ea typeface="Roboto" panose="02000000000000000000" pitchFamily="2" charset="0"/>
              </a:rPr>
              <a:t>Lasting Transformation</a:t>
            </a:r>
            <a:endParaRPr lang="en-IN" sz="1200">
              <a:solidFill>
                <a:srgbClr val="0070C0"/>
              </a:solidFill>
              <a:latin typeface="Roboto" panose="02000000000000000000" pitchFamily="2" charset="0"/>
              <a:ea typeface="Roboto" panose="02000000000000000000" pitchFamily="2" charset="0"/>
            </a:endParaRPr>
          </a:p>
          <a:p>
            <a:r>
              <a:rPr lang="en-IN" sz="1200">
                <a:latin typeface="Roboto" panose="02000000000000000000" pitchFamily="2" charset="0"/>
                <a:ea typeface="Roboto" panose="02000000000000000000" pitchFamily="2" charset="0"/>
              </a:rPr>
              <a:t>Focuses on long-term lifestyle transformation rather than only symptom management.</a:t>
            </a:r>
            <a:endParaRPr lang="en-IN" sz="1200">
              <a:effectLst/>
              <a:latin typeface="Roboto" panose="02000000000000000000" pitchFamily="2" charset="0"/>
              <a:ea typeface="Roboto" panose="02000000000000000000" pitchFamily="2" charset="0"/>
            </a:endParaRPr>
          </a:p>
        </p:txBody>
      </p:sp>
      <p:sp>
        <p:nvSpPr>
          <p:cNvPr id="12" name="Rectangle 11">
            <a:extLst>
              <a:ext uri="{FF2B5EF4-FFF2-40B4-BE49-F238E27FC236}">
                <a16:creationId xmlns:a16="http://schemas.microsoft.com/office/drawing/2014/main" id="{44B56EAF-8AC6-8B4E-854A-6D27585D0BCB}"/>
              </a:ext>
            </a:extLst>
          </p:cNvPr>
          <p:cNvSpPr/>
          <p:nvPr/>
        </p:nvSpPr>
        <p:spPr>
          <a:xfrm>
            <a:off x="1586128" y="5007367"/>
            <a:ext cx="1309472" cy="1061829"/>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050">
                <a:latin typeface="Roboto" panose="02000000000000000000" pitchFamily="2" charset="0"/>
                <a:ea typeface="Roboto" panose="02000000000000000000" pitchFamily="2" charset="0"/>
              </a:rPr>
              <a:t>Integrates with</a:t>
            </a:r>
          </a:p>
          <a:p>
            <a:r>
              <a:rPr lang="en-IN" sz="1050">
                <a:latin typeface="Roboto" panose="02000000000000000000" pitchFamily="2" charset="0"/>
                <a:ea typeface="Roboto" panose="02000000000000000000" pitchFamily="2" charset="0"/>
              </a:rPr>
              <a:t>Continuous Glucose</a:t>
            </a:r>
          </a:p>
          <a:p>
            <a:r>
              <a:rPr lang="en-IN" sz="1050">
                <a:latin typeface="Roboto" panose="02000000000000000000" pitchFamily="2" charset="0"/>
                <a:ea typeface="Roboto" panose="02000000000000000000" pitchFamily="2" charset="0"/>
              </a:rPr>
              <a:t>Monitors (CGMs) and wearable devices.</a:t>
            </a:r>
            <a:endParaRPr lang="en-IN" sz="1050">
              <a:effectLst/>
              <a:latin typeface="Roboto" panose="02000000000000000000" pitchFamily="2" charset="0"/>
              <a:ea typeface="Roboto" panose="02000000000000000000" pitchFamily="2" charset="0"/>
            </a:endParaRPr>
          </a:p>
        </p:txBody>
      </p:sp>
      <p:sp>
        <p:nvSpPr>
          <p:cNvPr id="14" name="Rectangle 13">
            <a:extLst>
              <a:ext uri="{FF2B5EF4-FFF2-40B4-BE49-F238E27FC236}">
                <a16:creationId xmlns:a16="http://schemas.microsoft.com/office/drawing/2014/main" id="{0868FCAB-81A0-E447-8487-294FBC4BE8FA}"/>
              </a:ext>
            </a:extLst>
          </p:cNvPr>
          <p:cNvSpPr/>
          <p:nvPr/>
        </p:nvSpPr>
        <p:spPr>
          <a:xfrm>
            <a:off x="3975093" y="5019712"/>
            <a:ext cx="1371600" cy="900246"/>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050" b="1">
                <a:solidFill>
                  <a:srgbClr val="1055F5"/>
                </a:solidFill>
                <a:latin typeface="Roboto" panose="02000000000000000000" pitchFamily="2" charset="0"/>
                <a:ea typeface="Roboto" panose="02000000000000000000" pitchFamily="2" charset="0"/>
              </a:rPr>
              <a:t>Tracks health data </a:t>
            </a:r>
          </a:p>
          <a:p>
            <a:r>
              <a:rPr lang="en-IN" sz="1050">
                <a:latin typeface="Roboto" panose="02000000000000000000" pitchFamily="2" charset="0"/>
                <a:ea typeface="Roboto" panose="02000000000000000000" pitchFamily="2" charset="0"/>
              </a:rPr>
              <a:t>such as glucose levels, activity, stress, spo2, heart rate, and sleep.</a:t>
            </a:r>
            <a:endParaRPr lang="en-IN" sz="1050">
              <a:effectLst/>
              <a:latin typeface="Roboto" panose="02000000000000000000" pitchFamily="2" charset="0"/>
              <a:ea typeface="Roboto" panose="02000000000000000000" pitchFamily="2" charset="0"/>
            </a:endParaRPr>
          </a:p>
        </p:txBody>
      </p:sp>
      <p:sp>
        <p:nvSpPr>
          <p:cNvPr id="15" name="Rectangle 14">
            <a:extLst>
              <a:ext uri="{FF2B5EF4-FFF2-40B4-BE49-F238E27FC236}">
                <a16:creationId xmlns:a16="http://schemas.microsoft.com/office/drawing/2014/main" id="{73FE9870-012F-C64F-8E31-6497347673B3}"/>
              </a:ext>
            </a:extLst>
          </p:cNvPr>
          <p:cNvSpPr/>
          <p:nvPr/>
        </p:nvSpPr>
        <p:spPr>
          <a:xfrm>
            <a:off x="7310035" y="4929432"/>
            <a:ext cx="1184564" cy="1061829"/>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050">
                <a:latin typeface="Roboto" panose="02000000000000000000" pitchFamily="2" charset="0"/>
                <a:ea typeface="Roboto" panose="02000000000000000000" pitchFamily="2" charset="0"/>
              </a:rPr>
              <a:t>Combines technology with human interventions and and clinical guidance.</a:t>
            </a:r>
            <a:endParaRPr lang="en-IN" sz="1050">
              <a:effectLst/>
              <a:latin typeface="Roboto" panose="02000000000000000000" pitchFamily="2" charset="0"/>
              <a:ea typeface="Roboto" panose="02000000000000000000" pitchFamily="2" charset="0"/>
            </a:endParaRPr>
          </a:p>
        </p:txBody>
      </p:sp>
      <p:sp>
        <p:nvSpPr>
          <p:cNvPr id="16" name="Rectangle 15">
            <a:extLst>
              <a:ext uri="{FF2B5EF4-FFF2-40B4-BE49-F238E27FC236}">
                <a16:creationId xmlns:a16="http://schemas.microsoft.com/office/drawing/2014/main" id="{538F9F4F-95EB-5340-83EC-E3E0321040F6}"/>
              </a:ext>
            </a:extLst>
          </p:cNvPr>
          <p:cNvSpPr/>
          <p:nvPr/>
        </p:nvSpPr>
        <p:spPr>
          <a:xfrm>
            <a:off x="10426706" y="4938921"/>
            <a:ext cx="1202747" cy="1061829"/>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050">
                <a:latin typeface="Roboto" panose="02000000000000000000" pitchFamily="2" charset="0"/>
                <a:ea typeface="Roboto" panose="02000000000000000000" pitchFamily="2" charset="0"/>
              </a:rPr>
              <a:t>Focuses on long-term lifestyle transformation rather than only symptom management.</a:t>
            </a:r>
            <a:endParaRPr lang="en-IN" sz="1050">
              <a:effectLst/>
              <a:latin typeface="Roboto" panose="02000000000000000000" pitchFamily="2" charset="0"/>
              <a:ea typeface="Roboto" panose="02000000000000000000" pitchFamily="2" charset="0"/>
            </a:endParaRPr>
          </a:p>
        </p:txBody>
      </p:sp>
      <p:pic>
        <p:nvPicPr>
          <p:cNvPr id="20" name="Picture 19">
            <a:extLst>
              <a:ext uri="{FF2B5EF4-FFF2-40B4-BE49-F238E27FC236}">
                <a16:creationId xmlns:a16="http://schemas.microsoft.com/office/drawing/2014/main" id="{A9B67F95-5D4A-624A-9ADA-E28BD82B40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10800" y="228600"/>
            <a:ext cx="1771650" cy="479030"/>
          </a:xfrm>
          <a:prstGeom prst="rect">
            <a:avLst/>
          </a:prstGeom>
        </p:spPr>
      </p:pic>
      <p:sp>
        <p:nvSpPr>
          <p:cNvPr id="24" name="Rectangle 23">
            <a:extLst>
              <a:ext uri="{FF2B5EF4-FFF2-40B4-BE49-F238E27FC236}">
                <a16:creationId xmlns:a16="http://schemas.microsoft.com/office/drawing/2014/main" id="{DE87365E-5135-D04B-B7BD-783845DAD609}"/>
              </a:ext>
            </a:extLst>
          </p:cNvPr>
          <p:cNvSpPr/>
          <p:nvPr/>
        </p:nvSpPr>
        <p:spPr>
          <a:xfrm>
            <a:off x="1862060" y="6204313"/>
            <a:ext cx="2844411" cy="230832"/>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900">
                <a:solidFill>
                  <a:schemeClr val="bg1"/>
                </a:solidFill>
                <a:latin typeface="Roboto" panose="02000000000000000000" pitchFamily="2" charset="0"/>
                <a:ea typeface="Roboto" panose="02000000000000000000" pitchFamily="2" charset="0"/>
              </a:rPr>
              <a:t>Your health. Our technology. Better tomorrow.</a:t>
            </a:r>
            <a:endParaRPr lang="en-IN" sz="900">
              <a:solidFill>
                <a:schemeClr val="bg1"/>
              </a:solidFill>
              <a:effectLst/>
              <a:latin typeface="Roboto" panose="02000000000000000000" pitchFamily="2" charset="0"/>
              <a:ea typeface="Roboto" panose="02000000000000000000" pitchFamily="2" charset="0"/>
            </a:endParaRPr>
          </a:p>
        </p:txBody>
      </p:sp>
      <p:sp>
        <p:nvSpPr>
          <p:cNvPr id="29" name="Rectangle 28">
            <a:extLst>
              <a:ext uri="{FF2B5EF4-FFF2-40B4-BE49-F238E27FC236}">
                <a16:creationId xmlns:a16="http://schemas.microsoft.com/office/drawing/2014/main" id="{86FB2F4E-3B83-D541-8CC8-8479CD7165C4}"/>
              </a:ext>
            </a:extLst>
          </p:cNvPr>
          <p:cNvSpPr/>
          <p:nvPr/>
        </p:nvSpPr>
        <p:spPr>
          <a:xfrm>
            <a:off x="5934587" y="6294344"/>
            <a:ext cx="788941" cy="230832"/>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900">
                <a:solidFill>
                  <a:schemeClr val="bg1"/>
                </a:solidFill>
                <a:latin typeface="Roboto" panose="02000000000000000000" pitchFamily="2" charset="0"/>
                <a:ea typeface="Roboto" panose="02000000000000000000" pitchFamily="2" charset="0"/>
              </a:rPr>
              <a:t>Monitor</a:t>
            </a:r>
            <a:endParaRPr lang="en-IN" sz="900">
              <a:solidFill>
                <a:schemeClr val="bg1"/>
              </a:solidFill>
              <a:effectLst/>
              <a:latin typeface="Roboto" panose="02000000000000000000" pitchFamily="2" charset="0"/>
              <a:ea typeface="Roboto" panose="02000000000000000000" pitchFamily="2" charset="0"/>
            </a:endParaRPr>
          </a:p>
        </p:txBody>
      </p:sp>
      <p:sp>
        <p:nvSpPr>
          <p:cNvPr id="30" name="Rectangle 29">
            <a:extLst>
              <a:ext uri="{FF2B5EF4-FFF2-40B4-BE49-F238E27FC236}">
                <a16:creationId xmlns:a16="http://schemas.microsoft.com/office/drawing/2014/main" id="{BF07AC51-8447-5148-B5DC-01D548B47B85}"/>
              </a:ext>
            </a:extLst>
          </p:cNvPr>
          <p:cNvSpPr/>
          <p:nvPr/>
        </p:nvSpPr>
        <p:spPr>
          <a:xfrm>
            <a:off x="7171107" y="6283954"/>
            <a:ext cx="947814" cy="230832"/>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900">
                <a:solidFill>
                  <a:schemeClr val="bg1"/>
                </a:solidFill>
                <a:latin typeface="Roboto" panose="02000000000000000000" pitchFamily="2" charset="0"/>
                <a:ea typeface="Roboto" panose="02000000000000000000" pitchFamily="2" charset="0"/>
              </a:rPr>
              <a:t>Understand</a:t>
            </a:r>
            <a:endParaRPr lang="en-IN" sz="900">
              <a:solidFill>
                <a:schemeClr val="bg1"/>
              </a:solidFill>
              <a:effectLst/>
              <a:latin typeface="Roboto" panose="02000000000000000000" pitchFamily="2" charset="0"/>
              <a:ea typeface="Roboto" panose="02000000000000000000" pitchFamily="2" charset="0"/>
            </a:endParaRPr>
          </a:p>
        </p:txBody>
      </p:sp>
      <p:sp>
        <p:nvSpPr>
          <p:cNvPr id="31" name="Rectangle 30">
            <a:extLst>
              <a:ext uri="{FF2B5EF4-FFF2-40B4-BE49-F238E27FC236}">
                <a16:creationId xmlns:a16="http://schemas.microsoft.com/office/drawing/2014/main" id="{F509014B-7B71-4348-AC40-EE2BE5E61EF7}"/>
              </a:ext>
            </a:extLst>
          </p:cNvPr>
          <p:cNvSpPr/>
          <p:nvPr/>
        </p:nvSpPr>
        <p:spPr>
          <a:xfrm>
            <a:off x="8584270" y="6294344"/>
            <a:ext cx="603894" cy="230832"/>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900">
                <a:solidFill>
                  <a:schemeClr val="bg1"/>
                </a:solidFill>
                <a:latin typeface="Roboto" panose="02000000000000000000" pitchFamily="2" charset="0"/>
                <a:ea typeface="Roboto" panose="02000000000000000000" pitchFamily="2" charset="0"/>
              </a:rPr>
              <a:t>Act</a:t>
            </a:r>
            <a:endParaRPr lang="en-IN" sz="900">
              <a:solidFill>
                <a:schemeClr val="bg1"/>
              </a:solidFill>
              <a:effectLst/>
              <a:latin typeface="Roboto" panose="02000000000000000000" pitchFamily="2" charset="0"/>
              <a:ea typeface="Roboto" panose="02000000000000000000" pitchFamily="2" charset="0"/>
            </a:endParaRPr>
          </a:p>
        </p:txBody>
      </p:sp>
      <p:sp>
        <p:nvSpPr>
          <p:cNvPr id="32" name="Rectangle 31">
            <a:extLst>
              <a:ext uri="{FF2B5EF4-FFF2-40B4-BE49-F238E27FC236}">
                <a16:creationId xmlns:a16="http://schemas.microsoft.com/office/drawing/2014/main" id="{0CF02B0C-3688-0C41-9C57-423F9E4D7841}"/>
              </a:ext>
            </a:extLst>
          </p:cNvPr>
          <p:cNvSpPr/>
          <p:nvPr/>
        </p:nvSpPr>
        <p:spPr>
          <a:xfrm>
            <a:off x="9727270" y="6294344"/>
            <a:ext cx="1112180" cy="230832"/>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900">
                <a:solidFill>
                  <a:schemeClr val="bg1"/>
                </a:solidFill>
                <a:latin typeface="Roboto" panose="02000000000000000000" pitchFamily="2" charset="0"/>
                <a:ea typeface="Roboto" panose="02000000000000000000" pitchFamily="2" charset="0"/>
              </a:rPr>
              <a:t>Transform</a:t>
            </a:r>
            <a:endParaRPr lang="en-IN" sz="900">
              <a:solidFill>
                <a:schemeClr val="bg1"/>
              </a:solidFill>
              <a:effectLst/>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98605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OBJECTIVES</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What you will be able to do on Friday afternoon</a:t>
            </a:r>
            <a:endParaRPr lang="en-US" sz="3000"/>
          </a:p>
        </p:txBody>
      </p:sp>
      <p:sp>
        <p:nvSpPr>
          <p:cNvPr id="5" name="Shape 3"/>
          <p:cNvSpPr/>
          <p:nvPr/>
        </p:nvSpPr>
        <p:spPr>
          <a:xfrm>
            <a:off x="566928" y="1737360"/>
            <a:ext cx="3520440" cy="2377440"/>
          </a:xfrm>
          <a:prstGeom prst="roundRect">
            <a:avLst>
              <a:gd name="adj" fmla="val 3077"/>
            </a:avLst>
          </a:prstGeom>
          <a:solidFill>
            <a:srgbClr val="EEF1F8"/>
          </a:solidFill>
          <a:ln w="15875">
            <a:solidFill>
              <a:srgbClr val="DCE6FA"/>
            </a:solidFill>
            <a:prstDash val="solid"/>
          </a:ln>
        </p:spPr>
      </p:sp>
      <p:sp>
        <p:nvSpPr>
          <p:cNvPr id="6" name="Text 4"/>
          <p:cNvSpPr txBox="1"/>
          <p:nvPr/>
        </p:nvSpPr>
        <p:spPr>
          <a:xfrm>
            <a:off x="804672" y="1892808"/>
            <a:ext cx="3044952" cy="438912"/>
          </a:xfrm>
          <a:prstGeom prst="rect">
            <a:avLst/>
          </a:prstGeom>
          <a:noFill/>
          <a:ln/>
        </p:spPr>
        <p:txBody>
          <a:bodyPr wrap="square" lIns="0" tIns="0" rIns="0" bIns="0" rtlCol="0" anchor="ctr"/>
          <a:lstStyle/>
          <a:p>
            <a:pPr marL="0" indent="0">
              <a:buNone/>
            </a:pPr>
            <a:r>
              <a:rPr lang="en-US" sz="1900" b="1">
                <a:solidFill>
                  <a:srgbClr val="2E3A8C"/>
                </a:solidFill>
                <a:latin typeface="Calibri" pitchFamily="34" charset="0"/>
                <a:ea typeface="Calibri" pitchFamily="34" charset="-122"/>
                <a:cs typeface="Calibri" pitchFamily="34" charset="-120"/>
              </a:rPr>
              <a:t>Explain</a:t>
            </a:r>
            <a:endParaRPr lang="en-US" sz="1900"/>
          </a:p>
        </p:txBody>
      </p:sp>
      <p:sp>
        <p:nvSpPr>
          <p:cNvPr id="7" name="Text 5"/>
          <p:cNvSpPr txBox="1"/>
          <p:nvPr/>
        </p:nvSpPr>
        <p:spPr>
          <a:xfrm>
            <a:off x="804672" y="2395728"/>
            <a:ext cx="3044952" cy="1572768"/>
          </a:xfrm>
          <a:prstGeom prst="rect">
            <a:avLst/>
          </a:prstGeom>
          <a:noFill/>
          <a:ln/>
        </p:spPr>
        <p:txBody>
          <a:bodyPr wrap="square" lIns="0" tIns="0" rIns="0" bIns="0" rtlCol="0" anchor="t"/>
          <a:lstStyle/>
          <a:p>
            <a:pPr marL="0" indent="0">
              <a:lnSpc>
                <a:spcPct val="112000"/>
              </a:lnSpc>
              <a:buNone/>
            </a:pPr>
            <a:r>
              <a:rPr lang="en-US" sz="1300">
                <a:solidFill>
                  <a:srgbClr val="0E1330"/>
                </a:solidFill>
                <a:latin typeface="Calibri" pitchFamily="34" charset="0"/>
                <a:ea typeface="Calibri" pitchFamily="34" charset="-122"/>
                <a:cs typeface="Calibri" pitchFamily="34" charset="-120"/>
              </a:rPr>
              <a:t>Define synthetic data precisely, distinguish it from anonymised and augmented data, and state where each generative family fits [1] [2] [7].</a:t>
            </a:r>
            <a:endParaRPr lang="en-US" sz="1300"/>
          </a:p>
        </p:txBody>
      </p:sp>
      <p:sp>
        <p:nvSpPr>
          <p:cNvPr id="8" name="Shape 6"/>
          <p:cNvSpPr/>
          <p:nvPr/>
        </p:nvSpPr>
        <p:spPr>
          <a:xfrm>
            <a:off x="4334256" y="1737360"/>
            <a:ext cx="3520440" cy="2377440"/>
          </a:xfrm>
          <a:prstGeom prst="roundRect">
            <a:avLst>
              <a:gd name="adj" fmla="val 3077"/>
            </a:avLst>
          </a:prstGeom>
          <a:solidFill>
            <a:srgbClr val="D6F2EC"/>
          </a:solidFill>
          <a:ln w="15875">
            <a:solidFill>
              <a:srgbClr val="00A896"/>
            </a:solidFill>
            <a:prstDash val="solid"/>
          </a:ln>
        </p:spPr>
      </p:sp>
      <p:sp>
        <p:nvSpPr>
          <p:cNvPr id="9" name="Text 7"/>
          <p:cNvSpPr txBox="1"/>
          <p:nvPr/>
        </p:nvSpPr>
        <p:spPr>
          <a:xfrm>
            <a:off x="4572000" y="1892808"/>
            <a:ext cx="3044952" cy="438912"/>
          </a:xfrm>
          <a:prstGeom prst="rect">
            <a:avLst/>
          </a:prstGeom>
          <a:noFill/>
          <a:ln/>
        </p:spPr>
        <p:txBody>
          <a:bodyPr wrap="square" lIns="0" tIns="0" rIns="0" bIns="0" rtlCol="0" anchor="ctr"/>
          <a:lstStyle/>
          <a:p>
            <a:pPr marL="0" indent="0">
              <a:buNone/>
            </a:pPr>
            <a:r>
              <a:rPr lang="en-US" sz="1900" b="1">
                <a:solidFill>
                  <a:srgbClr val="00A896"/>
                </a:solidFill>
                <a:latin typeface="Calibri" pitchFamily="34" charset="0"/>
                <a:ea typeface="Calibri" pitchFamily="34" charset="-122"/>
                <a:cs typeface="Calibri" pitchFamily="34" charset="-120"/>
              </a:rPr>
              <a:t>Build</a:t>
            </a:r>
            <a:endParaRPr lang="en-US" sz="1900"/>
          </a:p>
        </p:txBody>
      </p:sp>
      <p:sp>
        <p:nvSpPr>
          <p:cNvPr id="10" name="Text 8"/>
          <p:cNvSpPr txBox="1"/>
          <p:nvPr/>
        </p:nvSpPr>
        <p:spPr>
          <a:xfrm>
            <a:off x="4572000" y="2395728"/>
            <a:ext cx="3044952" cy="1572768"/>
          </a:xfrm>
          <a:prstGeom prst="rect">
            <a:avLst/>
          </a:prstGeom>
          <a:noFill/>
          <a:ln/>
        </p:spPr>
        <p:txBody>
          <a:bodyPr wrap="square" lIns="0" tIns="0" rIns="0" bIns="0" rtlCol="0" anchor="t"/>
          <a:lstStyle/>
          <a:p>
            <a:pPr marL="0" indent="0">
              <a:lnSpc>
                <a:spcPct val="112000"/>
              </a:lnSpc>
              <a:buNone/>
            </a:pPr>
            <a:r>
              <a:rPr lang="en-US" sz="1300">
                <a:solidFill>
                  <a:srgbClr val="0E1330"/>
                </a:solidFill>
                <a:latin typeface="Calibri" pitchFamily="34" charset="0"/>
                <a:ea typeface="Calibri" pitchFamily="34" charset="-122"/>
                <a:cs typeface="Calibri" pitchFamily="34" charset="-120"/>
              </a:rPr>
              <a:t>Choose a generative approach for tabular, text or image data, train a CTGAN, and inspect the synthetic output against business rules; VAE and diffusion models are demonstrated [5] [11] [12].</a:t>
            </a:r>
            <a:endParaRPr lang="en-US" sz="1300"/>
          </a:p>
        </p:txBody>
      </p:sp>
      <p:sp>
        <p:nvSpPr>
          <p:cNvPr id="11" name="Shape 9"/>
          <p:cNvSpPr/>
          <p:nvPr/>
        </p:nvSpPr>
        <p:spPr>
          <a:xfrm>
            <a:off x="8101584" y="1737360"/>
            <a:ext cx="3520440" cy="2377440"/>
          </a:xfrm>
          <a:prstGeom prst="roundRect">
            <a:avLst>
              <a:gd name="adj" fmla="val 3077"/>
            </a:avLst>
          </a:prstGeom>
          <a:solidFill>
            <a:srgbClr val="FBEADB"/>
          </a:solidFill>
          <a:ln w="15875">
            <a:solidFill>
              <a:srgbClr val="D9822B"/>
            </a:solidFill>
            <a:prstDash val="solid"/>
          </a:ln>
        </p:spPr>
      </p:sp>
      <p:sp>
        <p:nvSpPr>
          <p:cNvPr id="12" name="Text 10"/>
          <p:cNvSpPr txBox="1"/>
          <p:nvPr/>
        </p:nvSpPr>
        <p:spPr>
          <a:xfrm>
            <a:off x="8339328" y="1892808"/>
            <a:ext cx="3044952" cy="438912"/>
          </a:xfrm>
          <a:prstGeom prst="rect">
            <a:avLst/>
          </a:prstGeom>
          <a:noFill/>
          <a:ln/>
        </p:spPr>
        <p:txBody>
          <a:bodyPr wrap="square" lIns="0" tIns="0" rIns="0" bIns="0" rtlCol="0" anchor="ctr"/>
          <a:lstStyle/>
          <a:p>
            <a:pPr marL="0" indent="0">
              <a:buNone/>
            </a:pPr>
            <a:r>
              <a:rPr lang="en-US" sz="1900" b="1">
                <a:solidFill>
                  <a:srgbClr val="D9822B"/>
                </a:solidFill>
                <a:latin typeface="Calibri" pitchFamily="34" charset="0"/>
                <a:ea typeface="Calibri" pitchFamily="34" charset="-122"/>
                <a:cs typeface="Calibri" pitchFamily="34" charset="-120"/>
              </a:rPr>
              <a:t>Validate</a:t>
            </a:r>
            <a:endParaRPr lang="en-US" sz="1900"/>
          </a:p>
        </p:txBody>
      </p:sp>
      <p:sp>
        <p:nvSpPr>
          <p:cNvPr id="13" name="Text 11"/>
          <p:cNvSpPr txBox="1"/>
          <p:nvPr/>
        </p:nvSpPr>
        <p:spPr>
          <a:xfrm>
            <a:off x="8339328" y="2395728"/>
            <a:ext cx="3044952" cy="1572768"/>
          </a:xfrm>
          <a:prstGeom prst="rect">
            <a:avLst/>
          </a:prstGeom>
          <a:noFill/>
          <a:ln/>
        </p:spPr>
        <p:txBody>
          <a:bodyPr wrap="square" lIns="0" tIns="0" rIns="0" bIns="0" rtlCol="0" anchor="t"/>
          <a:lstStyle/>
          <a:p>
            <a:pPr marL="0" indent="0">
              <a:lnSpc>
                <a:spcPct val="112000"/>
              </a:lnSpc>
              <a:buNone/>
            </a:pPr>
            <a:r>
              <a:rPr lang="en-US" sz="1300">
                <a:solidFill>
                  <a:srgbClr val="0E1330"/>
                </a:solidFill>
                <a:latin typeface="Calibri" pitchFamily="34" charset="0"/>
                <a:ea typeface="Calibri" pitchFamily="34" charset="-122"/>
                <a:cs typeface="Calibri" pitchFamily="34" charset="-120"/>
              </a:rPr>
              <a:t>Run a three-gate fidelity–utility–privacy audit and defend a release decision with numbers rather than impressions [27] [30].</a:t>
            </a:r>
            <a:endParaRPr lang="en-US" sz="1300"/>
          </a:p>
        </p:txBody>
      </p:sp>
      <p:sp>
        <p:nvSpPr>
          <p:cNvPr id="14" name="Shape 12"/>
          <p:cNvSpPr/>
          <p:nvPr/>
        </p:nvSpPr>
        <p:spPr>
          <a:xfrm>
            <a:off x="566928" y="4434840"/>
            <a:ext cx="11064240" cy="1371600"/>
          </a:xfrm>
          <a:prstGeom prst="roundRect">
            <a:avLst>
              <a:gd name="adj" fmla="val 5333"/>
            </a:avLst>
          </a:prstGeom>
          <a:solidFill>
            <a:srgbClr val="EEF1F8"/>
          </a:solidFill>
          <a:ln w="15875">
            <a:solidFill>
              <a:srgbClr val="DCE6FA"/>
            </a:solidFill>
            <a:prstDash val="solid"/>
          </a:ln>
        </p:spPr>
      </p:sp>
      <p:sp>
        <p:nvSpPr>
          <p:cNvPr id="15" name="Text 13"/>
          <p:cNvSpPr txBox="1"/>
          <p:nvPr/>
        </p:nvSpPr>
        <p:spPr>
          <a:xfrm>
            <a:off x="804672" y="4590288"/>
            <a:ext cx="10588752" cy="438912"/>
          </a:xfrm>
          <a:prstGeom prst="rect">
            <a:avLst/>
          </a:prstGeom>
          <a:noFill/>
          <a:ln/>
        </p:spPr>
        <p:txBody>
          <a:bodyPr wrap="square" lIns="0" tIns="0" rIns="0" bIns="0" rtlCol="0" anchor="ctr"/>
          <a:lstStyle/>
          <a:p>
            <a:pPr marL="0" indent="0">
              <a:buNone/>
            </a:pPr>
            <a:r>
              <a:rPr lang="en-US" sz="1500" b="1">
                <a:solidFill>
                  <a:srgbClr val="2E3A8C"/>
                </a:solidFill>
                <a:latin typeface="Calibri" pitchFamily="34" charset="0"/>
                <a:ea typeface="Calibri" pitchFamily="34" charset="-122"/>
                <a:cs typeface="Calibri" pitchFamily="34" charset="-120"/>
              </a:rPr>
              <a:t>The through-line of the course</a:t>
            </a:r>
            <a:endParaRPr lang="en-US" sz="1500"/>
          </a:p>
        </p:txBody>
      </p:sp>
      <p:sp>
        <p:nvSpPr>
          <p:cNvPr id="16" name="Text 14"/>
          <p:cNvSpPr txBox="1"/>
          <p:nvPr/>
        </p:nvSpPr>
        <p:spPr>
          <a:xfrm>
            <a:off x="804672" y="5093208"/>
            <a:ext cx="10588752" cy="566928"/>
          </a:xfrm>
          <a:prstGeom prst="rect">
            <a:avLst/>
          </a:prstGeom>
          <a:noFill/>
          <a:ln/>
        </p:spPr>
        <p:txBody>
          <a:bodyPr wrap="square" lIns="0" tIns="0" rIns="0" bIns="0" rtlCol="0" anchor="t"/>
          <a:lstStyle/>
          <a:p>
            <a:pPr marL="0" indent="0">
              <a:lnSpc>
                <a:spcPct val="112000"/>
              </a:lnSpc>
              <a:buNone/>
            </a:pPr>
            <a:r>
              <a:rPr lang="en-US" sz="1300">
                <a:solidFill>
                  <a:srgbClr val="0E1330"/>
                </a:solidFill>
                <a:latin typeface="Calibri" pitchFamily="34" charset="0"/>
                <a:ea typeface="Calibri" pitchFamily="34" charset="-122"/>
                <a:cs typeface="Calibri" pitchFamily="34" charset="-120"/>
              </a:rPr>
              <a:t>Synthetic data is only useful if it is simultaneously realistic enough to be informative, useful enough to train a model that works on real data, and private enough to release. These three requirements pull against each other, and every design decision in the next three days is a trade between them [27] [30].</a:t>
            </a:r>
            <a:endParaRPr lang="en-US" sz="1300"/>
          </a:p>
        </p:txBody>
      </p:sp>
      <p:sp>
        <p:nvSpPr>
          <p:cNvPr id="17" name="Text 15"/>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 [2] [5] [7] [11] [12] [27] [30]</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4">
    <p:bg>
      <p:bgPr>
        <a:solidFill>
          <a:srgbClr val="0E1330"/>
        </a:solidFill>
        <a:effectLst/>
      </p:bgPr>
    </p:bg>
    <p:spTree>
      <p:nvGrpSpPr>
        <p:cNvPr id="1" name=""/>
        <p:cNvGrpSpPr/>
        <p:nvPr/>
      </p:nvGrpSpPr>
      <p:grpSpPr>
        <a:xfrm>
          <a:off x="0" y="0"/>
          <a:ext cx="0" cy="0"/>
          <a:chOff x="0" y="0"/>
          <a:chExt cx="0" cy="0"/>
        </a:xfrm>
      </p:grpSpPr>
      <p:sp>
        <p:nvSpPr>
          <p:cNvPr id="2" name="Text 0"/>
          <p:cNvSpPr txBox="1"/>
          <p:nvPr/>
        </p:nvSpPr>
        <p:spPr>
          <a:xfrm>
            <a:off x="777240" y="1188720"/>
            <a:ext cx="5486400" cy="365760"/>
          </a:xfrm>
          <a:prstGeom prst="rect">
            <a:avLst/>
          </a:prstGeom>
          <a:noFill/>
          <a:ln/>
        </p:spPr>
        <p:txBody>
          <a:bodyPr wrap="square" lIns="0" tIns="0" rIns="0" bIns="0" rtlCol="0" anchor="ctr"/>
          <a:lstStyle/>
          <a:p>
            <a:pPr marL="0" indent="0">
              <a:buNone/>
            </a:pPr>
            <a:r>
              <a:rPr lang="en-US" sz="1300" b="1" kern="0" spc="200">
                <a:solidFill>
                  <a:srgbClr val="00B0F0"/>
                </a:solidFill>
                <a:latin typeface="Calibri" pitchFamily="34" charset="0"/>
                <a:ea typeface="Calibri" pitchFamily="34" charset="-122"/>
                <a:cs typeface="Calibri" pitchFamily="34" charset="-120"/>
              </a:rPr>
              <a:t>DAY 1</a:t>
            </a:r>
            <a:endParaRPr lang="en-US" sz="1300">
              <a:solidFill>
                <a:srgbClr val="00B0F0"/>
              </a:solidFill>
            </a:endParaRPr>
          </a:p>
        </p:txBody>
      </p:sp>
      <p:sp>
        <p:nvSpPr>
          <p:cNvPr id="3" name="Text 1"/>
          <p:cNvSpPr txBox="1"/>
          <p:nvPr/>
        </p:nvSpPr>
        <p:spPr>
          <a:xfrm>
            <a:off x="777240" y="1627632"/>
            <a:ext cx="10607040" cy="1371600"/>
          </a:xfrm>
          <a:prstGeom prst="rect">
            <a:avLst/>
          </a:prstGeom>
          <a:noFill/>
          <a:ln/>
        </p:spPr>
        <p:txBody>
          <a:bodyPr wrap="square" lIns="0" tIns="0" rIns="0" bIns="0" rtlCol="0" anchor="ctr"/>
          <a:lstStyle/>
          <a:p>
            <a:pPr marL="0" indent="0">
              <a:buNone/>
            </a:pPr>
            <a:r>
              <a:rPr lang="en-US" sz="4000" b="1">
                <a:solidFill>
                  <a:srgbClr val="FFFFFF"/>
                </a:solidFill>
                <a:latin typeface="Cambria" pitchFamily="34" charset="0"/>
                <a:ea typeface="Cambria" pitchFamily="34" charset="-122"/>
                <a:cs typeface="Cambria" pitchFamily="34" charset="-120"/>
              </a:rPr>
              <a:t>Foundations of Synthetic Data + Generative </a:t>
            </a:r>
            <a:r>
              <a:rPr lang="en-US" sz="4000" b="1">
                <a:solidFill>
                  <a:schemeClr val="bg1"/>
                </a:solidFill>
                <a:latin typeface="Cambria" pitchFamily="34" charset="0"/>
                <a:ea typeface="Cambria" pitchFamily="34" charset="-122"/>
                <a:cs typeface="Cambria" pitchFamily="34" charset="-120"/>
              </a:rPr>
              <a:t>AI</a:t>
            </a:r>
            <a:endParaRPr lang="en-US" sz="4000">
              <a:solidFill>
                <a:schemeClr val="bg1"/>
              </a:solidFill>
            </a:endParaRPr>
          </a:p>
        </p:txBody>
      </p:sp>
      <p:sp>
        <p:nvSpPr>
          <p:cNvPr id="4" name="Text 2"/>
          <p:cNvSpPr txBox="1"/>
          <p:nvPr/>
        </p:nvSpPr>
        <p:spPr>
          <a:xfrm>
            <a:off x="777240" y="2971800"/>
            <a:ext cx="8961120" cy="457200"/>
          </a:xfrm>
          <a:prstGeom prst="rect">
            <a:avLst/>
          </a:prstGeom>
          <a:noFill/>
          <a:ln/>
        </p:spPr>
        <p:txBody>
          <a:bodyPr wrap="square" lIns="0" tIns="0" rIns="0" bIns="0" rtlCol="0" anchor="ctr"/>
          <a:lstStyle/>
          <a:p>
            <a:pPr marL="0" indent="0">
              <a:buNone/>
            </a:pPr>
            <a:r>
              <a:rPr lang="en-US" sz="1500">
                <a:solidFill>
                  <a:srgbClr val="C3C9E0"/>
                </a:solidFill>
                <a:latin typeface="Calibri" pitchFamily="34" charset="0"/>
                <a:ea typeface="Calibri" pitchFamily="34" charset="-122"/>
                <a:cs typeface="Calibri" pitchFamily="34" charset="-120"/>
              </a:rPr>
              <a:t>From what synthetic data is, to which generative family you should reach for first.</a:t>
            </a:r>
            <a:endParaRPr lang="en-US" sz="1500"/>
          </a:p>
        </p:txBody>
      </p:sp>
      <p:sp>
        <p:nvSpPr>
          <p:cNvPr id="5" name="Shape 3"/>
          <p:cNvSpPr/>
          <p:nvPr/>
        </p:nvSpPr>
        <p:spPr>
          <a:xfrm>
            <a:off x="777240" y="3931920"/>
            <a:ext cx="934720" cy="1371600"/>
          </a:xfrm>
          <a:prstGeom prst="roundRect">
            <a:avLst>
              <a:gd name="adj" fmla="val 7826"/>
            </a:avLst>
          </a:prstGeom>
          <a:solidFill>
            <a:srgbClr val="1B2145"/>
          </a:solidFill>
          <a:ln w="12700">
            <a:solidFill>
              <a:srgbClr val="39406B"/>
            </a:solidFill>
            <a:prstDash val="solid"/>
          </a:ln>
        </p:spPr>
      </p:sp>
      <p:sp>
        <p:nvSpPr>
          <p:cNvPr id="6" name="Text 4"/>
          <p:cNvSpPr txBox="1"/>
          <p:nvPr/>
        </p:nvSpPr>
        <p:spPr>
          <a:xfrm>
            <a:off x="960120" y="4009644"/>
            <a:ext cx="548640" cy="320040"/>
          </a:xfrm>
          <a:prstGeom prst="rect">
            <a:avLst/>
          </a:prstGeom>
          <a:noFill/>
          <a:ln/>
        </p:spPr>
        <p:txBody>
          <a:bodyPr wrap="square" lIns="0" tIns="0" rIns="0" bIns="0" rtlCol="0" anchor="ctr"/>
          <a:lstStyle/>
          <a:p>
            <a:pPr marL="0" indent="0">
              <a:buNone/>
            </a:pPr>
            <a:r>
              <a:rPr lang="en-US" sz="2000" b="1">
                <a:solidFill>
                  <a:srgbClr val="00B0F0"/>
                </a:solidFill>
                <a:latin typeface="Calibri" pitchFamily="34" charset="0"/>
                <a:ea typeface="Calibri" pitchFamily="34" charset="-122"/>
                <a:cs typeface="Calibri" pitchFamily="34" charset="-120"/>
              </a:rPr>
              <a:t>1</a:t>
            </a:r>
            <a:endParaRPr lang="en-US" sz="2000">
              <a:solidFill>
                <a:srgbClr val="00B0F0"/>
              </a:solidFill>
            </a:endParaRPr>
          </a:p>
        </p:txBody>
      </p:sp>
      <p:sp>
        <p:nvSpPr>
          <p:cNvPr id="7" name="Text 5"/>
          <p:cNvSpPr txBox="1"/>
          <p:nvPr/>
        </p:nvSpPr>
        <p:spPr>
          <a:xfrm>
            <a:off x="960120" y="4407408"/>
            <a:ext cx="56896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Introduction to synthetic data</a:t>
            </a:r>
            <a:endParaRPr lang="en-US" sz="1200"/>
          </a:p>
        </p:txBody>
      </p:sp>
      <p:sp>
        <p:nvSpPr>
          <p:cNvPr id="8" name="Shape 6"/>
          <p:cNvSpPr/>
          <p:nvPr/>
        </p:nvSpPr>
        <p:spPr>
          <a:xfrm>
            <a:off x="1986280" y="3931920"/>
            <a:ext cx="934720" cy="1371600"/>
          </a:xfrm>
          <a:prstGeom prst="roundRect">
            <a:avLst>
              <a:gd name="adj" fmla="val 7826"/>
            </a:avLst>
          </a:prstGeom>
          <a:solidFill>
            <a:srgbClr val="1B2145"/>
          </a:solidFill>
          <a:ln w="12700">
            <a:solidFill>
              <a:srgbClr val="39406B"/>
            </a:solidFill>
            <a:prstDash val="solid"/>
          </a:ln>
        </p:spPr>
      </p:sp>
      <p:sp>
        <p:nvSpPr>
          <p:cNvPr id="9" name="Text 7"/>
          <p:cNvSpPr txBox="1"/>
          <p:nvPr/>
        </p:nvSpPr>
        <p:spPr>
          <a:xfrm>
            <a:off x="2169160" y="4009644"/>
            <a:ext cx="548640" cy="320040"/>
          </a:xfrm>
          <a:prstGeom prst="rect">
            <a:avLst/>
          </a:prstGeom>
          <a:noFill/>
          <a:ln/>
        </p:spPr>
        <p:txBody>
          <a:bodyPr wrap="square" lIns="0" tIns="0" rIns="0" bIns="0" rtlCol="0" anchor="ctr"/>
          <a:lstStyle/>
          <a:p>
            <a:pPr marL="0" indent="0">
              <a:buNone/>
            </a:pPr>
            <a:r>
              <a:rPr lang="en-US" sz="2000" b="1">
                <a:solidFill>
                  <a:srgbClr val="00B0F0"/>
                </a:solidFill>
                <a:latin typeface="Calibri" pitchFamily="34" charset="0"/>
                <a:ea typeface="Calibri" pitchFamily="34" charset="-122"/>
                <a:cs typeface="Calibri" pitchFamily="34" charset="-120"/>
              </a:rPr>
              <a:t>2</a:t>
            </a:r>
            <a:endParaRPr lang="en-US" sz="2000">
              <a:solidFill>
                <a:srgbClr val="00B0F0"/>
              </a:solidFill>
            </a:endParaRPr>
          </a:p>
        </p:txBody>
      </p:sp>
      <p:sp>
        <p:nvSpPr>
          <p:cNvPr id="10" name="Text 8"/>
          <p:cNvSpPr txBox="1"/>
          <p:nvPr/>
        </p:nvSpPr>
        <p:spPr>
          <a:xfrm>
            <a:off x="2169160" y="4407408"/>
            <a:ext cx="56896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Real vs synthetic data</a:t>
            </a:r>
            <a:endParaRPr lang="en-US" sz="1200"/>
          </a:p>
        </p:txBody>
      </p:sp>
      <p:sp>
        <p:nvSpPr>
          <p:cNvPr id="11" name="Shape 9"/>
          <p:cNvSpPr/>
          <p:nvPr/>
        </p:nvSpPr>
        <p:spPr>
          <a:xfrm>
            <a:off x="3195320" y="3931920"/>
            <a:ext cx="934720" cy="1371600"/>
          </a:xfrm>
          <a:prstGeom prst="roundRect">
            <a:avLst>
              <a:gd name="adj" fmla="val 7826"/>
            </a:avLst>
          </a:prstGeom>
          <a:solidFill>
            <a:srgbClr val="1B2145"/>
          </a:solidFill>
          <a:ln w="12700">
            <a:solidFill>
              <a:srgbClr val="39406B"/>
            </a:solidFill>
            <a:prstDash val="solid"/>
          </a:ln>
        </p:spPr>
      </p:sp>
      <p:sp>
        <p:nvSpPr>
          <p:cNvPr id="12" name="Text 10"/>
          <p:cNvSpPr txBox="1"/>
          <p:nvPr/>
        </p:nvSpPr>
        <p:spPr>
          <a:xfrm>
            <a:off x="3378200" y="4009644"/>
            <a:ext cx="548640" cy="320040"/>
          </a:xfrm>
          <a:prstGeom prst="rect">
            <a:avLst/>
          </a:prstGeom>
          <a:noFill/>
          <a:ln/>
        </p:spPr>
        <p:txBody>
          <a:bodyPr wrap="square" lIns="0" tIns="0" rIns="0" bIns="0" rtlCol="0" anchor="ctr"/>
          <a:lstStyle/>
          <a:p>
            <a:pPr marL="0" indent="0">
              <a:buNone/>
            </a:pPr>
            <a:r>
              <a:rPr lang="en-US" sz="2000" b="1">
                <a:solidFill>
                  <a:srgbClr val="00B0F0"/>
                </a:solidFill>
                <a:latin typeface="Calibri" pitchFamily="34" charset="0"/>
                <a:ea typeface="Calibri" pitchFamily="34" charset="-122"/>
                <a:cs typeface="Calibri" pitchFamily="34" charset="-120"/>
              </a:rPr>
              <a:t>3</a:t>
            </a:r>
            <a:endParaRPr lang="en-US" sz="2000">
              <a:solidFill>
                <a:srgbClr val="00B0F0"/>
              </a:solidFill>
            </a:endParaRPr>
          </a:p>
        </p:txBody>
      </p:sp>
      <p:sp>
        <p:nvSpPr>
          <p:cNvPr id="13" name="Text 11"/>
          <p:cNvSpPr txBox="1"/>
          <p:nvPr/>
        </p:nvSpPr>
        <p:spPr>
          <a:xfrm>
            <a:off x="3378200" y="4407408"/>
            <a:ext cx="56896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Why organisations use it</a:t>
            </a:r>
            <a:endParaRPr lang="en-US" sz="1200"/>
          </a:p>
        </p:txBody>
      </p:sp>
      <p:sp>
        <p:nvSpPr>
          <p:cNvPr id="14" name="Shape 12"/>
          <p:cNvSpPr/>
          <p:nvPr/>
        </p:nvSpPr>
        <p:spPr>
          <a:xfrm>
            <a:off x="4404360" y="3931920"/>
            <a:ext cx="934720" cy="1371600"/>
          </a:xfrm>
          <a:prstGeom prst="roundRect">
            <a:avLst>
              <a:gd name="adj" fmla="val 7826"/>
            </a:avLst>
          </a:prstGeom>
          <a:solidFill>
            <a:srgbClr val="1B2145"/>
          </a:solidFill>
          <a:ln w="12700">
            <a:solidFill>
              <a:srgbClr val="39406B"/>
            </a:solidFill>
            <a:prstDash val="solid"/>
          </a:ln>
        </p:spPr>
      </p:sp>
      <p:sp>
        <p:nvSpPr>
          <p:cNvPr id="15" name="Text 13"/>
          <p:cNvSpPr txBox="1"/>
          <p:nvPr/>
        </p:nvSpPr>
        <p:spPr>
          <a:xfrm>
            <a:off x="4587240" y="4009644"/>
            <a:ext cx="548640" cy="320040"/>
          </a:xfrm>
          <a:prstGeom prst="rect">
            <a:avLst/>
          </a:prstGeom>
          <a:noFill/>
          <a:ln/>
        </p:spPr>
        <p:txBody>
          <a:bodyPr wrap="square" lIns="0" tIns="0" rIns="0" bIns="0" rtlCol="0" anchor="ctr"/>
          <a:lstStyle/>
          <a:p>
            <a:pPr marL="0" indent="0">
              <a:buNone/>
            </a:pPr>
            <a:r>
              <a:rPr lang="en-US" sz="2000" b="1">
                <a:solidFill>
                  <a:srgbClr val="00B0F0"/>
                </a:solidFill>
                <a:latin typeface="Calibri" pitchFamily="34" charset="0"/>
                <a:ea typeface="Calibri" pitchFamily="34" charset="-122"/>
                <a:cs typeface="Calibri" pitchFamily="34" charset="-120"/>
              </a:rPr>
              <a:t>4</a:t>
            </a:r>
            <a:endParaRPr lang="en-US" sz="2000">
              <a:solidFill>
                <a:srgbClr val="00B0F0"/>
              </a:solidFill>
            </a:endParaRPr>
          </a:p>
        </p:txBody>
      </p:sp>
      <p:sp>
        <p:nvSpPr>
          <p:cNvPr id="16" name="Text 14"/>
          <p:cNvSpPr txBox="1"/>
          <p:nvPr/>
        </p:nvSpPr>
        <p:spPr>
          <a:xfrm>
            <a:off x="4587240" y="4407408"/>
            <a:ext cx="56896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Types of synthetic data</a:t>
            </a:r>
            <a:endParaRPr lang="en-US" sz="1200"/>
          </a:p>
        </p:txBody>
      </p:sp>
      <p:sp>
        <p:nvSpPr>
          <p:cNvPr id="17" name="Shape 15"/>
          <p:cNvSpPr/>
          <p:nvPr/>
        </p:nvSpPr>
        <p:spPr>
          <a:xfrm>
            <a:off x="5613400" y="3931920"/>
            <a:ext cx="934720" cy="1371600"/>
          </a:xfrm>
          <a:prstGeom prst="roundRect">
            <a:avLst>
              <a:gd name="adj" fmla="val 7826"/>
            </a:avLst>
          </a:prstGeom>
          <a:solidFill>
            <a:srgbClr val="1B2145"/>
          </a:solidFill>
          <a:ln w="12700">
            <a:solidFill>
              <a:srgbClr val="39406B"/>
            </a:solidFill>
            <a:prstDash val="solid"/>
          </a:ln>
        </p:spPr>
      </p:sp>
      <p:sp>
        <p:nvSpPr>
          <p:cNvPr id="18" name="Text 16"/>
          <p:cNvSpPr txBox="1"/>
          <p:nvPr/>
        </p:nvSpPr>
        <p:spPr>
          <a:xfrm>
            <a:off x="5796280" y="4009644"/>
            <a:ext cx="548640" cy="320040"/>
          </a:xfrm>
          <a:prstGeom prst="rect">
            <a:avLst/>
          </a:prstGeom>
          <a:noFill/>
          <a:ln/>
        </p:spPr>
        <p:txBody>
          <a:bodyPr wrap="square" lIns="0" tIns="0" rIns="0" bIns="0" rtlCol="0" anchor="ctr"/>
          <a:lstStyle/>
          <a:p>
            <a:pPr marL="0" indent="0">
              <a:buNone/>
            </a:pPr>
            <a:r>
              <a:rPr lang="en-US" sz="2000" b="1">
                <a:solidFill>
                  <a:srgbClr val="00B0F0"/>
                </a:solidFill>
                <a:latin typeface="Calibri" pitchFamily="34" charset="0"/>
                <a:ea typeface="Calibri" pitchFamily="34" charset="-122"/>
                <a:cs typeface="Calibri" pitchFamily="34" charset="-120"/>
              </a:rPr>
              <a:t>5</a:t>
            </a:r>
            <a:endParaRPr lang="en-US" sz="2000">
              <a:solidFill>
                <a:srgbClr val="00B0F0"/>
              </a:solidFill>
            </a:endParaRPr>
          </a:p>
        </p:txBody>
      </p:sp>
      <p:sp>
        <p:nvSpPr>
          <p:cNvPr id="19" name="Text 17"/>
          <p:cNvSpPr txBox="1"/>
          <p:nvPr/>
        </p:nvSpPr>
        <p:spPr>
          <a:xfrm>
            <a:off x="5796280" y="4407408"/>
            <a:ext cx="56896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Applications</a:t>
            </a:r>
            <a:endParaRPr lang="en-US" sz="1200"/>
          </a:p>
        </p:txBody>
      </p:sp>
      <p:sp>
        <p:nvSpPr>
          <p:cNvPr id="20" name="Shape 18"/>
          <p:cNvSpPr/>
          <p:nvPr/>
        </p:nvSpPr>
        <p:spPr>
          <a:xfrm>
            <a:off x="6822440" y="3931920"/>
            <a:ext cx="934720" cy="1371600"/>
          </a:xfrm>
          <a:prstGeom prst="roundRect">
            <a:avLst>
              <a:gd name="adj" fmla="val 7826"/>
            </a:avLst>
          </a:prstGeom>
          <a:solidFill>
            <a:srgbClr val="1B2145"/>
          </a:solidFill>
          <a:ln w="12700">
            <a:solidFill>
              <a:srgbClr val="39406B"/>
            </a:solidFill>
            <a:prstDash val="solid"/>
          </a:ln>
        </p:spPr>
      </p:sp>
      <p:sp>
        <p:nvSpPr>
          <p:cNvPr id="21" name="Text 19"/>
          <p:cNvSpPr txBox="1"/>
          <p:nvPr/>
        </p:nvSpPr>
        <p:spPr>
          <a:xfrm>
            <a:off x="7005320" y="4009644"/>
            <a:ext cx="548640" cy="320040"/>
          </a:xfrm>
          <a:prstGeom prst="rect">
            <a:avLst/>
          </a:prstGeom>
          <a:noFill/>
          <a:ln/>
        </p:spPr>
        <p:txBody>
          <a:bodyPr wrap="square" lIns="0" tIns="0" rIns="0" bIns="0" rtlCol="0" anchor="ctr"/>
          <a:lstStyle/>
          <a:p>
            <a:pPr marL="0" indent="0">
              <a:buNone/>
            </a:pPr>
            <a:r>
              <a:rPr lang="en-US" sz="2000" b="1">
                <a:solidFill>
                  <a:srgbClr val="00B0F0"/>
                </a:solidFill>
                <a:latin typeface="Calibri" pitchFamily="34" charset="0"/>
                <a:ea typeface="Calibri" pitchFamily="34" charset="-122"/>
                <a:cs typeface="Calibri" pitchFamily="34" charset="-120"/>
              </a:rPr>
              <a:t>6</a:t>
            </a:r>
            <a:endParaRPr lang="en-US" sz="2000">
              <a:solidFill>
                <a:srgbClr val="00B0F0"/>
              </a:solidFill>
            </a:endParaRPr>
          </a:p>
        </p:txBody>
      </p:sp>
      <p:sp>
        <p:nvSpPr>
          <p:cNvPr id="22" name="Text 20"/>
          <p:cNvSpPr txBox="1"/>
          <p:nvPr/>
        </p:nvSpPr>
        <p:spPr>
          <a:xfrm>
            <a:off x="7005320" y="4407408"/>
            <a:ext cx="56896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Introduction to generative AI</a:t>
            </a:r>
            <a:endParaRPr lang="en-US" sz="1200"/>
          </a:p>
        </p:txBody>
      </p:sp>
      <p:sp>
        <p:nvSpPr>
          <p:cNvPr id="23" name="Shape 21"/>
          <p:cNvSpPr/>
          <p:nvPr/>
        </p:nvSpPr>
        <p:spPr>
          <a:xfrm>
            <a:off x="8031480" y="3931920"/>
            <a:ext cx="934720" cy="1371600"/>
          </a:xfrm>
          <a:prstGeom prst="roundRect">
            <a:avLst>
              <a:gd name="adj" fmla="val 7826"/>
            </a:avLst>
          </a:prstGeom>
          <a:solidFill>
            <a:srgbClr val="1B2145"/>
          </a:solidFill>
          <a:ln w="12700">
            <a:solidFill>
              <a:srgbClr val="39406B"/>
            </a:solidFill>
            <a:prstDash val="solid"/>
          </a:ln>
        </p:spPr>
      </p:sp>
      <p:sp>
        <p:nvSpPr>
          <p:cNvPr id="24" name="Text 22"/>
          <p:cNvSpPr txBox="1"/>
          <p:nvPr/>
        </p:nvSpPr>
        <p:spPr>
          <a:xfrm>
            <a:off x="8214360" y="4009644"/>
            <a:ext cx="548640" cy="320040"/>
          </a:xfrm>
          <a:prstGeom prst="rect">
            <a:avLst/>
          </a:prstGeom>
          <a:noFill/>
          <a:ln/>
        </p:spPr>
        <p:txBody>
          <a:bodyPr wrap="square" lIns="0" tIns="0" rIns="0" bIns="0" rtlCol="0" anchor="ctr"/>
          <a:lstStyle/>
          <a:p>
            <a:pPr marL="0" indent="0">
              <a:buNone/>
            </a:pPr>
            <a:r>
              <a:rPr lang="en-US" sz="2000" b="1">
                <a:solidFill>
                  <a:srgbClr val="00B0F0"/>
                </a:solidFill>
                <a:latin typeface="Calibri" pitchFamily="34" charset="0"/>
                <a:ea typeface="Calibri" pitchFamily="34" charset="-122"/>
                <a:cs typeface="Calibri" pitchFamily="34" charset="-120"/>
              </a:rPr>
              <a:t>7</a:t>
            </a:r>
            <a:endParaRPr lang="en-US" sz="2000">
              <a:solidFill>
                <a:srgbClr val="00B0F0"/>
              </a:solidFill>
            </a:endParaRPr>
          </a:p>
        </p:txBody>
      </p:sp>
      <p:sp>
        <p:nvSpPr>
          <p:cNvPr id="25" name="Text 23"/>
          <p:cNvSpPr txBox="1"/>
          <p:nvPr/>
        </p:nvSpPr>
        <p:spPr>
          <a:xfrm>
            <a:off x="8214360" y="4407408"/>
            <a:ext cx="56896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Generative models overview</a:t>
            </a:r>
            <a:endParaRPr lang="en-US" sz="1200"/>
          </a:p>
        </p:txBody>
      </p:sp>
      <p:sp>
        <p:nvSpPr>
          <p:cNvPr id="26" name="Shape 24"/>
          <p:cNvSpPr/>
          <p:nvPr/>
        </p:nvSpPr>
        <p:spPr>
          <a:xfrm>
            <a:off x="9240520" y="3931920"/>
            <a:ext cx="934720" cy="1371600"/>
          </a:xfrm>
          <a:prstGeom prst="roundRect">
            <a:avLst>
              <a:gd name="adj" fmla="val 7826"/>
            </a:avLst>
          </a:prstGeom>
          <a:solidFill>
            <a:srgbClr val="1B2145"/>
          </a:solidFill>
          <a:ln w="12700">
            <a:solidFill>
              <a:srgbClr val="39406B"/>
            </a:solidFill>
            <a:prstDash val="solid"/>
          </a:ln>
        </p:spPr>
      </p:sp>
      <p:sp>
        <p:nvSpPr>
          <p:cNvPr id="27" name="Text 25"/>
          <p:cNvSpPr txBox="1"/>
          <p:nvPr/>
        </p:nvSpPr>
        <p:spPr>
          <a:xfrm>
            <a:off x="9423400" y="4009644"/>
            <a:ext cx="548640" cy="320040"/>
          </a:xfrm>
          <a:prstGeom prst="rect">
            <a:avLst/>
          </a:prstGeom>
          <a:noFill/>
          <a:ln/>
        </p:spPr>
        <p:txBody>
          <a:bodyPr wrap="square" lIns="0" tIns="0" rIns="0" bIns="0" rtlCol="0" anchor="ctr"/>
          <a:lstStyle/>
          <a:p>
            <a:pPr marL="0" indent="0">
              <a:buNone/>
            </a:pPr>
            <a:r>
              <a:rPr lang="en-US" sz="2000" b="1">
                <a:solidFill>
                  <a:srgbClr val="00B0F0"/>
                </a:solidFill>
                <a:latin typeface="Calibri" pitchFamily="34" charset="0"/>
                <a:ea typeface="Calibri" pitchFamily="34" charset="-122"/>
                <a:cs typeface="Calibri" pitchFamily="34" charset="-120"/>
              </a:rPr>
              <a:t>8</a:t>
            </a:r>
            <a:endParaRPr lang="en-US" sz="2000">
              <a:solidFill>
                <a:srgbClr val="00B0F0"/>
              </a:solidFill>
            </a:endParaRPr>
          </a:p>
        </p:txBody>
      </p:sp>
      <p:sp>
        <p:nvSpPr>
          <p:cNvPr id="28" name="Text 26"/>
          <p:cNvSpPr txBox="1"/>
          <p:nvPr/>
        </p:nvSpPr>
        <p:spPr>
          <a:xfrm>
            <a:off x="9423400" y="4407408"/>
            <a:ext cx="56896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Core architectures</a:t>
            </a:r>
            <a:endParaRPr lang="en-US" sz="1200"/>
          </a:p>
        </p:txBody>
      </p:sp>
      <p:sp>
        <p:nvSpPr>
          <p:cNvPr id="29" name="Shape 27"/>
          <p:cNvSpPr/>
          <p:nvPr/>
        </p:nvSpPr>
        <p:spPr>
          <a:xfrm>
            <a:off x="10449560" y="3931920"/>
            <a:ext cx="934720" cy="1371600"/>
          </a:xfrm>
          <a:prstGeom prst="roundRect">
            <a:avLst>
              <a:gd name="adj" fmla="val 7826"/>
            </a:avLst>
          </a:prstGeom>
          <a:solidFill>
            <a:srgbClr val="1B2145"/>
          </a:solidFill>
          <a:ln w="12700">
            <a:solidFill>
              <a:srgbClr val="39406B"/>
            </a:solidFill>
            <a:prstDash val="solid"/>
          </a:ln>
        </p:spPr>
      </p:sp>
      <p:sp>
        <p:nvSpPr>
          <p:cNvPr id="30" name="Text 28"/>
          <p:cNvSpPr txBox="1"/>
          <p:nvPr/>
        </p:nvSpPr>
        <p:spPr>
          <a:xfrm>
            <a:off x="10632440" y="4009644"/>
            <a:ext cx="548640" cy="320040"/>
          </a:xfrm>
          <a:prstGeom prst="rect">
            <a:avLst/>
          </a:prstGeom>
          <a:noFill/>
          <a:ln/>
        </p:spPr>
        <p:txBody>
          <a:bodyPr wrap="square" lIns="0" tIns="0" rIns="0" bIns="0" rtlCol="0" anchor="ctr"/>
          <a:lstStyle/>
          <a:p>
            <a:pPr marL="0" indent="0">
              <a:buNone/>
            </a:pPr>
            <a:r>
              <a:rPr lang="en-US" sz="2000" b="1">
                <a:solidFill>
                  <a:srgbClr val="00B0F0"/>
                </a:solidFill>
                <a:latin typeface="Calibri" pitchFamily="34" charset="0"/>
                <a:ea typeface="Calibri" pitchFamily="34" charset="-122"/>
                <a:cs typeface="Calibri" pitchFamily="34" charset="-120"/>
              </a:rPr>
              <a:t>9</a:t>
            </a:r>
            <a:endParaRPr lang="en-US" sz="2000">
              <a:solidFill>
                <a:srgbClr val="00B0F0"/>
              </a:solidFill>
            </a:endParaRPr>
          </a:p>
        </p:txBody>
      </p:sp>
      <p:sp>
        <p:nvSpPr>
          <p:cNvPr id="31" name="Text 29"/>
          <p:cNvSpPr txBox="1"/>
          <p:nvPr/>
        </p:nvSpPr>
        <p:spPr>
          <a:xfrm>
            <a:off x="10632440" y="4407408"/>
            <a:ext cx="56896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When to use which approach</a:t>
            </a:r>
            <a:endParaRPr lang="en-US" sz="1200"/>
          </a:p>
        </p:txBody>
      </p:sp>
      <p:sp>
        <p:nvSpPr>
          <p:cNvPr id="32" name="Text 30"/>
          <p:cNvSpPr txBox="1"/>
          <p:nvPr/>
        </p:nvSpPr>
        <p:spPr>
          <a:xfrm>
            <a:off x="777240" y="5577840"/>
            <a:ext cx="7315200" cy="365760"/>
          </a:xfrm>
          <a:prstGeom prst="rect">
            <a:avLst/>
          </a:prstGeom>
          <a:noFill/>
          <a:ln/>
        </p:spPr>
        <p:txBody>
          <a:bodyPr wrap="square" lIns="0" tIns="0" rIns="0" bIns="0" rtlCol="0" anchor="ctr"/>
          <a:lstStyle/>
          <a:p>
            <a:pPr marL="0" indent="0">
              <a:buNone/>
            </a:pPr>
            <a:r>
              <a:rPr lang="en-US" sz="1250" i="1">
                <a:solidFill>
                  <a:srgbClr val="8C93B5"/>
                </a:solidFill>
                <a:latin typeface="Calibri" pitchFamily="34" charset="0"/>
                <a:ea typeface="Calibri" pitchFamily="34" charset="-122"/>
                <a:cs typeface="Calibri" pitchFamily="34" charset="-120"/>
              </a:rPr>
              <a:t>Theory 3 hours   ·   Hands-on lab 2 hours</a:t>
            </a:r>
            <a:endParaRPr lang="en-US" sz="1250"/>
          </a:p>
        </p:txBody>
      </p:sp>
      <p:pic>
        <p:nvPicPr>
          <p:cNvPr id="33" name="Picture 32">
            <a:extLst>
              <a:ext uri="{FF2B5EF4-FFF2-40B4-BE49-F238E27FC236}">
                <a16:creationId xmlns:a16="http://schemas.microsoft.com/office/drawing/2014/main" id="{E2AA0B5C-9895-104E-AFFC-6CD23DD0A488}"/>
              </a:ext>
            </a:extLst>
          </p:cNvPr>
          <p:cNvPicPr>
            <a:picLocks noChangeAspect="1"/>
          </p:cNvPicPr>
          <p:nvPr/>
        </p:nvPicPr>
        <p:blipFill>
          <a:blip r:embed="rId3"/>
          <a:stretch>
            <a:fillRect/>
          </a:stretch>
        </p:blipFill>
        <p:spPr>
          <a:xfrm>
            <a:off x="10542494" y="238595"/>
            <a:ext cx="1489412" cy="402716"/>
          </a:xfrm>
          <a:prstGeom prst="rect">
            <a:avLst/>
          </a:prstGeom>
        </p:spPr>
      </p:pic>
      <p:pic>
        <p:nvPicPr>
          <p:cNvPr id="34" name="Picture 33">
            <a:extLst>
              <a:ext uri="{FF2B5EF4-FFF2-40B4-BE49-F238E27FC236}">
                <a16:creationId xmlns:a16="http://schemas.microsoft.com/office/drawing/2014/main" id="{EE15B237-E01E-9543-B630-6BCCC6A80D26}"/>
              </a:ext>
            </a:extLst>
          </p:cNvPr>
          <p:cNvPicPr>
            <a:picLocks noChangeAspect="1"/>
          </p:cNvPicPr>
          <p:nvPr/>
        </p:nvPicPr>
        <p:blipFill>
          <a:blip r:embed="rId4"/>
          <a:stretch>
            <a:fillRect/>
          </a:stretch>
        </p:blipFill>
        <p:spPr>
          <a:xfrm>
            <a:off x="8778588" y="55155"/>
            <a:ext cx="1578751" cy="769596"/>
          </a:xfrm>
          <a:prstGeom prst="rect">
            <a:avLst/>
          </a:prstGeom>
        </p:spPr>
      </p:pic>
      <p:cxnSp>
        <p:nvCxnSpPr>
          <p:cNvPr id="35" name="Straight Connector 34">
            <a:extLst>
              <a:ext uri="{FF2B5EF4-FFF2-40B4-BE49-F238E27FC236}">
                <a16:creationId xmlns:a16="http://schemas.microsoft.com/office/drawing/2014/main" id="{9B9F9E90-958D-D448-9D24-440A1D6E49DC}"/>
              </a:ext>
            </a:extLst>
          </p:cNvPr>
          <p:cNvCxnSpPr/>
          <p:nvPr/>
        </p:nvCxnSpPr>
        <p:spPr>
          <a:xfrm>
            <a:off x="10419057" y="200957"/>
            <a:ext cx="0" cy="4779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What synthetic data actually is</a:t>
            </a:r>
            <a:endParaRPr lang="en-US" sz="3000"/>
          </a:p>
        </p:txBody>
      </p:sp>
      <p:sp>
        <p:nvSpPr>
          <p:cNvPr id="5" name="Shape 3"/>
          <p:cNvSpPr/>
          <p:nvPr/>
        </p:nvSpPr>
        <p:spPr>
          <a:xfrm>
            <a:off x="566928" y="1627632"/>
            <a:ext cx="11064240" cy="1115568"/>
          </a:xfrm>
          <a:prstGeom prst="roundRect">
            <a:avLst>
              <a:gd name="adj" fmla="val 6557"/>
            </a:avLst>
          </a:prstGeom>
          <a:solidFill>
            <a:schemeClr val="accent1">
              <a:lumMod val="75000"/>
            </a:schemeClr>
          </a:solidFill>
          <a:ln w="15875">
            <a:noFill/>
            <a:prstDash val="solid"/>
          </a:ln>
        </p:spPr>
        <p:txBody>
          <a:bodyPr/>
          <a:lstStyle/>
          <a:p>
            <a:endParaRPr/>
          </a:p>
        </p:txBody>
      </p:sp>
      <p:sp>
        <p:nvSpPr>
          <p:cNvPr id="6" name="Text 4"/>
          <p:cNvSpPr txBox="1"/>
          <p:nvPr/>
        </p:nvSpPr>
        <p:spPr>
          <a:xfrm>
            <a:off x="804672" y="1746504"/>
            <a:ext cx="10588752" cy="438912"/>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Working definition</a:t>
            </a:r>
            <a:endParaRPr lang="en-US" sz="1400"/>
          </a:p>
        </p:txBody>
      </p:sp>
      <p:sp>
        <p:nvSpPr>
          <p:cNvPr id="7" name="Text 5"/>
          <p:cNvSpPr txBox="1"/>
          <p:nvPr/>
        </p:nvSpPr>
        <p:spPr>
          <a:xfrm>
            <a:off x="804672" y="2121408"/>
            <a:ext cx="10588752" cy="310896"/>
          </a:xfrm>
          <a:prstGeom prst="rect">
            <a:avLst/>
          </a:prstGeom>
          <a:noFill/>
          <a:ln/>
        </p:spPr>
        <p:txBody>
          <a:bodyPr wrap="square" lIns="0" tIns="0" rIns="0" bIns="0" rtlCol="0" anchor="t"/>
          <a:lstStyle/>
          <a:p>
            <a:pPr marL="0" indent="0">
              <a:lnSpc>
                <a:spcPct val="112000"/>
              </a:lnSpc>
              <a:buNone/>
            </a:pPr>
            <a:r>
              <a:rPr lang="en-US" sz="1250">
                <a:solidFill>
                  <a:srgbClr val="E4E8F4"/>
                </a:solidFill>
                <a:latin typeface="Calibri" pitchFamily="34" charset="0"/>
                <a:ea typeface="Calibri" pitchFamily="34" charset="-122"/>
                <a:cs typeface="Calibri" pitchFamily="34" charset="-120"/>
              </a:rPr>
              <a:t>Data generated by a model that has learned the statistical structure of a real dataset, rather than recorded from real-world events — produced so that it can stand in for the original in analysis, testing or training [1] [2].</a:t>
            </a:r>
            <a:endParaRPr lang="en-US" sz="1250"/>
          </a:p>
        </p:txBody>
      </p:sp>
      <p:sp>
        <p:nvSpPr>
          <p:cNvPr id="8" name="Shape 6"/>
          <p:cNvSpPr/>
          <p:nvPr/>
        </p:nvSpPr>
        <p:spPr>
          <a:xfrm>
            <a:off x="566928" y="2944368"/>
            <a:ext cx="3520440" cy="2331720"/>
          </a:xfrm>
          <a:prstGeom prst="roundRect">
            <a:avLst>
              <a:gd name="adj" fmla="val 3137"/>
            </a:avLst>
          </a:prstGeom>
          <a:solidFill>
            <a:srgbClr val="EEF1F8"/>
          </a:solidFill>
          <a:ln w="15875">
            <a:solidFill>
              <a:srgbClr val="DCE6FA"/>
            </a:solidFill>
            <a:prstDash val="solid"/>
          </a:ln>
        </p:spPr>
        <p:txBody>
          <a:bodyPr/>
          <a:lstStyle/>
          <a:p>
            <a:endParaRPr/>
          </a:p>
        </p:txBody>
      </p:sp>
      <p:sp>
        <p:nvSpPr>
          <p:cNvPr id="9" name="Shape 7"/>
          <p:cNvSpPr/>
          <p:nvPr/>
        </p:nvSpPr>
        <p:spPr>
          <a:xfrm>
            <a:off x="768096" y="3127248"/>
            <a:ext cx="384048" cy="384048"/>
          </a:xfrm>
          <a:prstGeom prst="ellipse">
            <a:avLst/>
          </a:prstGeom>
          <a:solidFill>
            <a:srgbClr val="2E3A8C"/>
          </a:solidFill>
          <a:ln w="12700">
            <a:solidFill>
              <a:srgbClr val="2E3A8C"/>
            </a:solidFill>
            <a:prstDash val="solid"/>
          </a:ln>
        </p:spPr>
        <p:txBody>
          <a:bodyPr/>
          <a:lstStyle/>
          <a:p>
            <a:endParaRPr/>
          </a:p>
        </p:txBody>
      </p:sp>
      <p:sp>
        <p:nvSpPr>
          <p:cNvPr id="10" name="Text 8"/>
          <p:cNvSpPr txBox="1"/>
          <p:nvPr/>
        </p:nvSpPr>
        <p:spPr>
          <a:xfrm>
            <a:off x="768096" y="3127248"/>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11" name="Text 9"/>
          <p:cNvSpPr txBox="1"/>
          <p:nvPr/>
        </p:nvSpPr>
        <p:spPr>
          <a:xfrm>
            <a:off x="1280160" y="3099816"/>
            <a:ext cx="2606040" cy="438912"/>
          </a:xfrm>
          <a:prstGeom prst="rect">
            <a:avLst/>
          </a:prstGeom>
          <a:noFill/>
          <a:ln/>
        </p:spPr>
        <p:txBody>
          <a:bodyPr wrap="square" lIns="0" tIns="0" rIns="0" bIns="0" rtlCol="0" anchor="ctr"/>
          <a:lstStyle/>
          <a:p>
            <a:pPr marL="0" indent="0">
              <a:buNone/>
            </a:pPr>
            <a:r>
              <a:rPr lang="en-US" sz="1400" b="1">
                <a:solidFill>
                  <a:srgbClr val="2E3A8C"/>
                </a:solidFill>
                <a:latin typeface="Calibri" pitchFamily="34" charset="0"/>
                <a:ea typeface="Calibri" pitchFamily="34" charset="-122"/>
                <a:cs typeface="Calibri" pitchFamily="34" charset="-120"/>
              </a:rPr>
              <a:t>Generated, not collected</a:t>
            </a:r>
            <a:endParaRPr lang="en-US" sz="1400"/>
          </a:p>
        </p:txBody>
      </p:sp>
      <p:sp>
        <p:nvSpPr>
          <p:cNvPr id="12" name="Text 10"/>
          <p:cNvSpPr txBox="1"/>
          <p:nvPr/>
        </p:nvSpPr>
        <p:spPr>
          <a:xfrm>
            <a:off x="804672" y="3602736"/>
            <a:ext cx="3044952" cy="152704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Synthetic records are generated rather than directly copied from collected records. However, a poorly controlled generator can reproduce or closely resemble information from its training data — this is why synthesis is not the same as anonymisation, and why privacy still needs separate evaluation [30].</a:t>
            </a:r>
            <a:endParaRPr lang="en-US" sz="1200"/>
          </a:p>
        </p:txBody>
      </p:sp>
      <p:sp>
        <p:nvSpPr>
          <p:cNvPr id="13" name="Shape 11"/>
          <p:cNvSpPr/>
          <p:nvPr/>
        </p:nvSpPr>
        <p:spPr>
          <a:xfrm>
            <a:off x="4334256" y="2944368"/>
            <a:ext cx="3520440" cy="2331720"/>
          </a:xfrm>
          <a:prstGeom prst="roundRect">
            <a:avLst>
              <a:gd name="adj" fmla="val 3137"/>
            </a:avLst>
          </a:prstGeom>
          <a:solidFill>
            <a:srgbClr val="D6F2EC"/>
          </a:solidFill>
          <a:ln w="15875">
            <a:solidFill>
              <a:srgbClr val="00A896"/>
            </a:solidFill>
            <a:prstDash val="solid"/>
          </a:ln>
        </p:spPr>
      </p:sp>
      <p:sp>
        <p:nvSpPr>
          <p:cNvPr id="14" name="Shape 12"/>
          <p:cNvSpPr/>
          <p:nvPr/>
        </p:nvSpPr>
        <p:spPr>
          <a:xfrm>
            <a:off x="4535424" y="3127248"/>
            <a:ext cx="384048" cy="384048"/>
          </a:xfrm>
          <a:prstGeom prst="ellipse">
            <a:avLst/>
          </a:prstGeom>
          <a:solidFill>
            <a:srgbClr val="00A896"/>
          </a:solidFill>
          <a:ln w="12700">
            <a:solidFill>
              <a:srgbClr val="00A896"/>
            </a:solidFill>
            <a:prstDash val="solid"/>
          </a:ln>
        </p:spPr>
      </p:sp>
      <p:sp>
        <p:nvSpPr>
          <p:cNvPr id="15" name="Text 13"/>
          <p:cNvSpPr txBox="1"/>
          <p:nvPr/>
        </p:nvSpPr>
        <p:spPr>
          <a:xfrm>
            <a:off x="4535424" y="3127248"/>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6" name="Text 14"/>
          <p:cNvSpPr txBox="1"/>
          <p:nvPr/>
        </p:nvSpPr>
        <p:spPr>
          <a:xfrm>
            <a:off x="5047488" y="3099816"/>
            <a:ext cx="2606040" cy="438912"/>
          </a:xfrm>
          <a:prstGeom prst="rect">
            <a:avLst/>
          </a:prstGeom>
          <a:noFill/>
          <a:ln/>
        </p:spPr>
        <p:txBody>
          <a:bodyPr wrap="square" lIns="0" tIns="0" rIns="0" bIns="0" rtlCol="0" anchor="ctr"/>
          <a:lstStyle/>
          <a:p>
            <a:pPr marL="0" indent="0">
              <a:buNone/>
            </a:pPr>
            <a:r>
              <a:rPr lang="en-US" sz="1400" b="1">
                <a:solidFill>
                  <a:srgbClr val="00A896"/>
                </a:solidFill>
                <a:latin typeface="Calibri" pitchFamily="34" charset="0"/>
                <a:ea typeface="Calibri" pitchFamily="34" charset="-122"/>
                <a:cs typeface="Calibri" pitchFamily="34" charset="-120"/>
              </a:rPr>
              <a:t>Structure-preserving</a:t>
            </a:r>
            <a:endParaRPr lang="en-US" sz="1400"/>
          </a:p>
        </p:txBody>
      </p:sp>
      <p:sp>
        <p:nvSpPr>
          <p:cNvPr id="17" name="Text 15"/>
          <p:cNvSpPr txBox="1"/>
          <p:nvPr/>
        </p:nvSpPr>
        <p:spPr>
          <a:xfrm>
            <a:off x="4572000" y="3602736"/>
            <a:ext cx="3044952" cy="152704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Column types, value ranges, marginal distributions and — critically — the dependencies between columns are carried over from the source [9] [11].</a:t>
            </a:r>
            <a:endParaRPr lang="en-US" sz="1200"/>
          </a:p>
        </p:txBody>
      </p:sp>
      <p:sp>
        <p:nvSpPr>
          <p:cNvPr id="18" name="Shape 16"/>
          <p:cNvSpPr/>
          <p:nvPr/>
        </p:nvSpPr>
        <p:spPr>
          <a:xfrm>
            <a:off x="8101584" y="2944368"/>
            <a:ext cx="3520440" cy="2331720"/>
          </a:xfrm>
          <a:prstGeom prst="roundRect">
            <a:avLst>
              <a:gd name="adj" fmla="val 3137"/>
            </a:avLst>
          </a:prstGeom>
          <a:solidFill>
            <a:srgbClr val="FBEADB"/>
          </a:solidFill>
          <a:ln w="15875">
            <a:solidFill>
              <a:srgbClr val="D9822B"/>
            </a:solidFill>
            <a:prstDash val="solid"/>
          </a:ln>
        </p:spPr>
      </p:sp>
      <p:sp>
        <p:nvSpPr>
          <p:cNvPr id="19" name="Shape 17"/>
          <p:cNvSpPr/>
          <p:nvPr/>
        </p:nvSpPr>
        <p:spPr>
          <a:xfrm>
            <a:off x="8302752" y="3127248"/>
            <a:ext cx="384048" cy="384048"/>
          </a:xfrm>
          <a:prstGeom prst="ellipse">
            <a:avLst/>
          </a:prstGeom>
          <a:solidFill>
            <a:srgbClr val="D9822B"/>
          </a:solidFill>
          <a:ln w="12700">
            <a:solidFill>
              <a:srgbClr val="D9822B"/>
            </a:solidFill>
            <a:prstDash val="solid"/>
          </a:ln>
        </p:spPr>
      </p:sp>
      <p:sp>
        <p:nvSpPr>
          <p:cNvPr id="20" name="Text 18"/>
          <p:cNvSpPr txBox="1"/>
          <p:nvPr/>
        </p:nvSpPr>
        <p:spPr>
          <a:xfrm>
            <a:off x="8302752" y="3127248"/>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21" name="Text 19"/>
          <p:cNvSpPr txBox="1"/>
          <p:nvPr/>
        </p:nvSpPr>
        <p:spPr>
          <a:xfrm>
            <a:off x="8814816" y="3099816"/>
            <a:ext cx="2606040" cy="438912"/>
          </a:xfrm>
          <a:prstGeom prst="rect">
            <a:avLst/>
          </a:prstGeom>
          <a:noFill/>
          <a:ln/>
        </p:spPr>
        <p:txBody>
          <a:bodyPr wrap="square" lIns="0" tIns="0" rIns="0" bIns="0" rtlCol="0" anchor="ctr"/>
          <a:lstStyle/>
          <a:p>
            <a:pPr marL="0" indent="0">
              <a:buNone/>
            </a:pPr>
            <a:r>
              <a:rPr lang="en-US" sz="1400" b="1">
                <a:solidFill>
                  <a:srgbClr val="D9822B"/>
                </a:solidFill>
                <a:latin typeface="Calibri" pitchFamily="34" charset="0"/>
                <a:ea typeface="Calibri" pitchFamily="34" charset="-122"/>
                <a:cs typeface="Calibri" pitchFamily="34" charset="-120"/>
              </a:rPr>
              <a:t>Purpose-bound</a:t>
            </a:r>
            <a:endParaRPr lang="en-US" sz="1400"/>
          </a:p>
        </p:txBody>
      </p:sp>
      <p:sp>
        <p:nvSpPr>
          <p:cNvPr id="22" name="Text 20"/>
          <p:cNvSpPr txBox="1"/>
          <p:nvPr/>
        </p:nvSpPr>
        <p:spPr>
          <a:xfrm>
            <a:off x="8310574" y="3530850"/>
            <a:ext cx="3073706" cy="1598934"/>
          </a:xfrm>
          <a:prstGeom prst="rect">
            <a:avLst/>
          </a:prstGeom>
          <a:noFill/>
          <a:ln/>
        </p:spPr>
        <p:txBody>
          <a:bodyPr wrap="square" lIns="0" tIns="0" rIns="0" bIns="0" rtlCol="0" anchor="t"/>
          <a:lstStyle/>
          <a:p>
            <a:pPr>
              <a:lnSpc>
                <a:spcPct val="112000"/>
              </a:lnSpc>
            </a:pPr>
            <a:r>
              <a:rPr lang="en-US" sz="1200">
                <a:solidFill>
                  <a:srgbClr val="0E1330"/>
                </a:solidFill>
                <a:latin typeface="Calibri"/>
                <a:ea typeface="Calibri"/>
                <a:cs typeface="Calibri"/>
              </a:rPr>
              <a:t>A synthetic dataset is fit for a stated downstream purpose (</a:t>
            </a:r>
            <a:r>
              <a:rPr lang="en-US" sz="1200">
                <a:solidFill>
                  <a:srgbClr val="0E1330"/>
                </a:solidFill>
                <a:ea typeface="+mn-lt"/>
                <a:cs typeface="+mn-lt"/>
              </a:rPr>
              <a:t>only if it works well for the specific task </a:t>
            </a:r>
            <a:r>
              <a:rPr lang="en-US" sz="1200">
                <a:solidFill>
                  <a:srgbClr val="0E1330"/>
                </a:solidFill>
                <a:latin typeface="Calibri"/>
                <a:ea typeface="Calibri"/>
                <a:cs typeface="Calibri"/>
              </a:rPr>
              <a:t>) , not universally. Utility is measured against that purpose, never in the abstract [1] [27].</a:t>
            </a:r>
            <a:endParaRPr lang="en-US" sz="1200">
              <a:latin typeface="Calibri"/>
              <a:ea typeface="Calibri"/>
              <a:cs typeface="Calibri"/>
            </a:endParaRPr>
          </a:p>
        </p:txBody>
      </p:sp>
      <p:sp>
        <p:nvSpPr>
          <p:cNvPr id="23" name="Text 21"/>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Anonymisation removes identifiers from real records; synthesis replaces the records altogether. The privacy properties of the two are not equivalent [30].</a:t>
            </a:r>
            <a:endParaRPr lang="en-US" sz="1100"/>
          </a:p>
        </p:txBody>
      </p:sp>
      <p:sp>
        <p:nvSpPr>
          <p:cNvPr id="24" name="Text 22"/>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 [2] [9] [11] [27] [30]</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generation pipeline end to end</a:t>
            </a:r>
            <a:endParaRPr lang="en-US" sz="3000"/>
          </a:p>
        </p:txBody>
      </p:sp>
      <p:pic>
        <p:nvPicPr>
          <p:cNvPr id="5" name="Image 0" descr="img/pipeline.png"/>
          <p:cNvPicPr>
            <a:picLocks noChangeAspect="1"/>
          </p:cNvPicPr>
          <p:nvPr/>
        </p:nvPicPr>
        <p:blipFill>
          <a:blip r:embed="rId3"/>
          <a:stretch>
            <a:fillRect/>
          </a:stretch>
        </p:blipFill>
        <p:spPr>
          <a:xfrm>
            <a:off x="1702777" y="1554480"/>
            <a:ext cx="8792543" cy="3200400"/>
          </a:xfrm>
          <a:prstGeom prst="rect">
            <a:avLst/>
          </a:prstGeom>
        </p:spPr>
      </p:pic>
      <p:sp>
        <p:nvSpPr>
          <p:cNvPr id="6" name="Shape 3"/>
          <p:cNvSpPr/>
          <p:nvPr/>
        </p:nvSpPr>
        <p:spPr>
          <a:xfrm>
            <a:off x="566928" y="4828032"/>
            <a:ext cx="5394960" cy="1207008"/>
          </a:xfrm>
          <a:prstGeom prst="roundRect">
            <a:avLst>
              <a:gd name="adj" fmla="val 6061"/>
            </a:avLst>
          </a:prstGeom>
          <a:solidFill>
            <a:srgbClr val="EEF1F8"/>
          </a:solidFill>
          <a:ln w="15875">
            <a:solidFill>
              <a:srgbClr val="DCE6FA"/>
            </a:solidFill>
            <a:prstDash val="solid"/>
          </a:ln>
        </p:spPr>
      </p:sp>
      <p:sp>
        <p:nvSpPr>
          <p:cNvPr id="7" name="Text 4"/>
          <p:cNvSpPr txBox="1"/>
          <p:nvPr/>
        </p:nvSpPr>
        <p:spPr>
          <a:xfrm>
            <a:off x="804672" y="4983480"/>
            <a:ext cx="4919472" cy="438912"/>
          </a:xfrm>
          <a:prstGeom prst="rect">
            <a:avLst/>
          </a:prstGeom>
          <a:noFill/>
          <a:ln/>
        </p:spPr>
        <p:txBody>
          <a:bodyPr wrap="square" lIns="0" tIns="0" rIns="0" bIns="0" rtlCol="0" anchor="ctr"/>
          <a:lstStyle/>
          <a:p>
            <a:pPr marL="0" indent="0">
              <a:buNone/>
            </a:pPr>
            <a:r>
              <a:rPr lang="en-US" sz="1300" b="1">
                <a:solidFill>
                  <a:srgbClr val="2E3A8C"/>
                </a:solidFill>
                <a:latin typeface="Calibri" pitchFamily="34" charset="0"/>
                <a:ea typeface="Calibri" pitchFamily="34" charset="-122"/>
                <a:cs typeface="Calibri" pitchFamily="34" charset="-120"/>
              </a:rPr>
              <a:t>Steps 1–4 are modelling</a:t>
            </a:r>
            <a:endParaRPr lang="en-US" sz="1300"/>
          </a:p>
        </p:txBody>
      </p:sp>
      <p:sp>
        <p:nvSpPr>
          <p:cNvPr id="8" name="Text 5"/>
          <p:cNvSpPr txBox="1"/>
          <p:nvPr/>
        </p:nvSpPr>
        <p:spPr>
          <a:xfrm>
            <a:off x="804672" y="5486400"/>
            <a:ext cx="4919472" cy="402336"/>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Most published work concentrates here — the choice of generative family and its conditioning [3] [5] [11].</a:t>
            </a:r>
            <a:endParaRPr lang="en-US" sz="1150"/>
          </a:p>
        </p:txBody>
      </p:sp>
      <p:sp>
        <p:nvSpPr>
          <p:cNvPr id="9" name="Shape 6"/>
          <p:cNvSpPr/>
          <p:nvPr/>
        </p:nvSpPr>
        <p:spPr>
          <a:xfrm>
            <a:off x="6236208" y="4828032"/>
            <a:ext cx="5394960" cy="1207008"/>
          </a:xfrm>
          <a:prstGeom prst="roundRect">
            <a:avLst>
              <a:gd name="adj" fmla="val 6061"/>
            </a:avLst>
          </a:prstGeom>
          <a:solidFill>
            <a:srgbClr val="D6F2EC"/>
          </a:solidFill>
          <a:ln w="15875">
            <a:solidFill>
              <a:srgbClr val="00A896"/>
            </a:solidFill>
            <a:prstDash val="solid"/>
          </a:ln>
        </p:spPr>
      </p:sp>
      <p:sp>
        <p:nvSpPr>
          <p:cNvPr id="10" name="Text 7"/>
          <p:cNvSpPr txBox="1"/>
          <p:nvPr/>
        </p:nvSpPr>
        <p:spPr>
          <a:xfrm>
            <a:off x="6473952" y="4983480"/>
            <a:ext cx="4919472" cy="438912"/>
          </a:xfrm>
          <a:prstGeom prst="rect">
            <a:avLst/>
          </a:prstGeom>
          <a:noFill/>
          <a:ln/>
        </p:spPr>
        <p:txBody>
          <a:bodyPr wrap="square" lIns="0" tIns="0" rIns="0" bIns="0" rtlCol="0" anchor="ctr"/>
          <a:lstStyle/>
          <a:p>
            <a:pPr marL="0" indent="0">
              <a:buNone/>
            </a:pPr>
            <a:r>
              <a:rPr lang="en-US" sz="1300" b="1">
                <a:solidFill>
                  <a:srgbClr val="00A896"/>
                </a:solidFill>
                <a:latin typeface="Calibri" pitchFamily="34" charset="0"/>
                <a:ea typeface="Calibri" pitchFamily="34" charset="-122"/>
                <a:cs typeface="Calibri" pitchFamily="34" charset="-120"/>
              </a:rPr>
              <a:t>Steps 5–7 decide adoption</a:t>
            </a:r>
            <a:endParaRPr lang="en-US" sz="1300"/>
          </a:p>
        </p:txBody>
      </p:sp>
      <p:sp>
        <p:nvSpPr>
          <p:cNvPr id="11" name="Text 8"/>
          <p:cNvSpPr txBox="1"/>
          <p:nvPr/>
        </p:nvSpPr>
        <p:spPr>
          <a:xfrm>
            <a:off x="6473952" y="5486400"/>
            <a:ext cx="4919472" cy="402336"/>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Constraint repair and the evaluation gates are what make a dataset releasable in practice [27] [30].</a:t>
            </a:r>
            <a:endParaRPr lang="en-US" sz="1150"/>
          </a:p>
        </p:txBody>
      </p:sp>
      <p:sp>
        <p:nvSpPr>
          <p:cNvPr id="12" name="Text 9"/>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[3] [5] [11] [27] [30]</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2</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Real vs synthetic data, side by side</a:t>
            </a:r>
            <a:endParaRPr lang="en-US" sz="3000"/>
          </a:p>
        </p:txBody>
      </p:sp>
      <p:graphicFrame>
        <p:nvGraphicFramePr>
          <p:cNvPr id="8" name="Table 0"/>
          <p:cNvGraphicFramePr>
            <a:graphicFrameLocks noGrp="1"/>
          </p:cNvGraphicFramePr>
          <p:nvPr>
            <p:extLst>
              <p:ext uri="{D42A27DB-BD31-4B8C-83A1-F6EECF244321}">
                <p14:modId xmlns:p14="http://schemas.microsoft.com/office/powerpoint/2010/main" val="71303255"/>
              </p:ext>
            </p:extLst>
          </p:nvPr>
        </p:nvGraphicFramePr>
        <p:xfrm>
          <a:off x="566928" y="1627632"/>
          <a:ext cx="11064240" cy="2926080"/>
        </p:xfrm>
        <a:graphic>
          <a:graphicData uri="http://schemas.openxmlformats.org/drawingml/2006/table">
            <a:tbl>
              <a:tblPr/>
              <a:tblGrid>
                <a:gridCol w="1248620">
                  <a:extLst>
                    <a:ext uri="{9D8B030D-6E8A-4147-A177-3AD203B41FA5}">
                      <a16:colId xmlns:a16="http://schemas.microsoft.com/office/drawing/2014/main" val="20000"/>
                    </a:ext>
                  </a:extLst>
                </a:gridCol>
                <a:gridCol w="4041913">
                  <a:extLst>
                    <a:ext uri="{9D8B030D-6E8A-4147-A177-3AD203B41FA5}">
                      <a16:colId xmlns:a16="http://schemas.microsoft.com/office/drawing/2014/main" val="20001"/>
                    </a:ext>
                  </a:extLst>
                </a:gridCol>
                <a:gridCol w="5773707">
                  <a:extLst>
                    <a:ext uri="{9D8B030D-6E8A-4147-A177-3AD203B41FA5}">
                      <a16:colId xmlns:a16="http://schemas.microsoft.com/office/drawing/2014/main" val="20002"/>
                    </a:ext>
                  </a:extLst>
                </a:gridCol>
              </a:tblGrid>
              <a:tr h="329184">
                <a:tc>
                  <a:txBody>
                    <a:bodyPr/>
                    <a:lstStyle/>
                    <a:p>
                      <a:pPr marL="0" indent="0" algn="l">
                        <a:buNone/>
                      </a:pPr>
                      <a:r>
                        <a:rPr lang="en-US" sz="1000" b="1">
                          <a:solidFill>
                            <a:srgbClr val="FFFFFF"/>
                          </a:solidFill>
                          <a:latin typeface="Calibri" pitchFamily="34" charset="0"/>
                          <a:ea typeface="Calibri" pitchFamily="34" charset="-122"/>
                          <a:cs typeface="Calibri" pitchFamily="34" charset="-120"/>
                        </a:rPr>
                        <a:t>Dimension</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tc>
                  <a:txBody>
                    <a:bodyPr/>
                    <a:lstStyle/>
                    <a:p>
                      <a:pPr marL="0" indent="0" algn="l">
                        <a:buNone/>
                      </a:pPr>
                      <a:r>
                        <a:rPr lang="en-US" sz="1000" b="1">
                          <a:solidFill>
                            <a:srgbClr val="FFFFFF"/>
                          </a:solidFill>
                          <a:latin typeface="Calibri" pitchFamily="34" charset="0"/>
                          <a:ea typeface="Calibri" pitchFamily="34" charset="-122"/>
                          <a:cs typeface="Calibri" pitchFamily="34" charset="-120"/>
                        </a:rPr>
                        <a:t>Real data</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tc>
                  <a:txBody>
                    <a:bodyPr/>
                    <a:lstStyle/>
                    <a:p>
                      <a:pPr marL="0" indent="0" algn="l">
                        <a:buNone/>
                      </a:pPr>
                      <a:r>
                        <a:rPr lang="en-US" sz="1000" b="1">
                          <a:solidFill>
                            <a:srgbClr val="FFFFFF"/>
                          </a:solidFill>
                          <a:latin typeface="Calibri" pitchFamily="34" charset="0"/>
                          <a:ea typeface="Calibri" pitchFamily="34" charset="-122"/>
                          <a:cs typeface="Calibri" pitchFamily="34" charset="-120"/>
                        </a:rPr>
                        <a:t>Synthetic data</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extLst>
                  <a:ext uri="{0D108BD9-81ED-4DB2-BD59-A6C34878D82A}">
                    <a16:rowId xmlns:a16="http://schemas.microsoft.com/office/drawing/2014/main" val="10000"/>
                  </a:ext>
                </a:extLst>
              </a:tr>
              <a:tr h="32461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Provenance</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Recorded from actual events, people or sensors</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Sampled from a model fitted to real data [1]</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32461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Marginal accuracy</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Ground truth by definition</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Close but never exact; measured by Kolmogorov–Smirnov (KS)/ </a:t>
                      </a:r>
                      <a:r>
                        <a:rPr lang="en-IN" sz="1000"/>
                        <a:t>Total Variation (TV)</a:t>
                      </a:r>
                      <a:r>
                        <a:rPr lang="en-US" sz="1000">
                          <a:solidFill>
                            <a:srgbClr val="0E1330"/>
                          </a:solidFill>
                          <a:latin typeface="Calibri" pitchFamily="34" charset="0"/>
                          <a:ea typeface="Calibri" pitchFamily="34" charset="-122"/>
                          <a:cs typeface="Calibri" pitchFamily="34" charset="-120"/>
                        </a:rPr>
                        <a:t> distance [29]</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461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Joint structure</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All dependencies present, including the ones nobody documented</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Only the dependencies the model had capacity to learn [11] [12]</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r h="32461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Rare events / tails</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Present at their true, often inconveniently low, rate</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Systematically under-represented unless explicitly conditioned [11] [27]</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461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Volume</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Fixed by what was collected</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Unbounded; can be rebalanced by class on demand [11]</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5"/>
                  </a:ext>
                </a:extLst>
              </a:tr>
              <a:tr h="32461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Labelling cost</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Manual annotation dominates the budget</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Labels can be generated alongside synthetic records, potentially reducing manual annotation cost [21] [23]</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461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Privacy exposure</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Direct — governed by GDPR, DPDP Act, HIPAA</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Reduced but not eliminated; residual attack surface remains [30]</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7"/>
                  </a:ext>
                </a:extLst>
              </a:tr>
              <a:tr h="32461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Regulatory status</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Personal data</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Contested: not automatically outside data-protection scope [30]</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 [11] [12] [21] [23] [27] [29] [30]</a:t>
            </a:r>
            <a:endParaRPr lang="en-US" sz="1000"/>
          </a:p>
        </p:txBody>
      </p:sp>
      <p:sp>
        <p:nvSpPr>
          <p:cNvPr id="9" name="Rounded Rectangle 8"/>
          <p:cNvSpPr/>
          <p:nvPr/>
        </p:nvSpPr>
        <p:spPr>
          <a:xfrm>
            <a:off x="566928" y="4663440"/>
            <a:ext cx="3566160" cy="1609343"/>
          </a:xfrm>
          <a:prstGeom prst="roundRect">
            <a:avLst>
              <a:gd name="adj" fmla="val 4545"/>
            </a:avLst>
          </a:prstGeom>
          <a:solidFill>
            <a:srgbClr val="EEF1F8"/>
          </a:solidFill>
          <a:ln w="12700">
            <a:solidFill>
              <a:srgbClr val="DCE6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754880"/>
            <a:ext cx="3200400" cy="274320"/>
          </a:xfrm>
          <a:prstGeom prst="rect">
            <a:avLst/>
          </a:prstGeom>
          <a:noFill/>
        </p:spPr>
        <p:txBody>
          <a:bodyPr wrap="square" lIns="0" tIns="0" rIns="0" bIns="0" anchor="t">
            <a:spAutoFit/>
          </a:bodyPr>
          <a:lstStyle/>
          <a:p>
            <a:pPr marL="0" indent="0" algn="l">
              <a:spcAft>
                <a:spcPts val="400"/>
              </a:spcAft>
              <a:buNone/>
            </a:pPr>
            <a:r>
              <a:rPr sz="1200" b="1" i="0">
                <a:solidFill>
                  <a:srgbClr val="2E3A8C"/>
                </a:solidFill>
                <a:latin typeface="Calibri"/>
              </a:rPr>
              <a:t>Glixify example</a:t>
            </a:r>
          </a:p>
        </p:txBody>
      </p:sp>
      <p:sp>
        <p:nvSpPr>
          <p:cNvPr id="11" name="TextBox 10"/>
          <p:cNvSpPr txBox="1"/>
          <p:nvPr/>
        </p:nvSpPr>
        <p:spPr>
          <a:xfrm>
            <a:off x="749808" y="5074920"/>
            <a:ext cx="3200400" cy="1152143"/>
          </a:xfrm>
          <a:prstGeom prst="rect">
            <a:avLst/>
          </a:prstGeom>
          <a:noFill/>
        </p:spPr>
        <p:txBody>
          <a:bodyPr wrap="square" lIns="0" tIns="0" rIns="0" bIns="0" anchor="t">
            <a:spAutoFit/>
          </a:bodyPr>
          <a:lstStyle/>
          <a:p>
            <a:pPr marL="0" indent="0" algn="l">
              <a:spcAft>
                <a:spcPts val="300"/>
              </a:spcAft>
              <a:buNone/>
            </a:pPr>
            <a:r>
              <a:rPr sz="1150" b="1" i="0">
                <a:solidFill>
                  <a:srgbClr val="0E1330"/>
                </a:solidFill>
                <a:latin typeface="Calibri"/>
              </a:rPr>
              <a:t>Real Glixify data: </a:t>
            </a:r>
            <a:r>
              <a:rPr sz="1150" b="0" i="0">
                <a:solidFill>
                  <a:srgbClr val="0E1330"/>
                </a:solidFill>
                <a:latin typeface="Calibri"/>
              </a:rPr>
              <a:t>measurements from actual wearable/CGM observations.</a:t>
            </a:r>
          </a:p>
          <a:p>
            <a:pPr marL="0" indent="0" algn="l">
              <a:spcAft>
                <a:spcPts val="400"/>
              </a:spcAft>
              <a:buNone/>
            </a:pPr>
            <a:r>
              <a:rPr sz="1150" b="1" i="0">
                <a:solidFill>
                  <a:srgbClr val="0E1330"/>
                </a:solidFill>
                <a:latin typeface="Calibri"/>
              </a:rPr>
              <a:t>Synthetic Glixify data: </a:t>
            </a:r>
            <a:r>
              <a:rPr sz="1150" b="0" i="0">
                <a:solidFill>
                  <a:srgbClr val="0E1330"/>
                </a:solidFill>
                <a:latin typeface="Calibri"/>
              </a:rPr>
              <a:t>measurements generated from a model that has learned patterns from the real data.</a:t>
            </a:r>
          </a:p>
        </p:txBody>
      </p:sp>
      <p:sp>
        <p:nvSpPr>
          <p:cNvPr id="12" name="Rounded Rectangle 11"/>
          <p:cNvSpPr/>
          <p:nvPr/>
        </p:nvSpPr>
        <p:spPr>
          <a:xfrm>
            <a:off x="4315968" y="4663440"/>
            <a:ext cx="3657600" cy="1609343"/>
          </a:xfrm>
          <a:prstGeom prst="roundRect">
            <a:avLst>
              <a:gd name="adj" fmla="val 4545"/>
            </a:avLst>
          </a:prstGeom>
          <a:solidFill>
            <a:srgbClr val="D6F2EC"/>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8" y="4754880"/>
            <a:ext cx="3291840" cy="274320"/>
          </a:xfrm>
          <a:prstGeom prst="rect">
            <a:avLst/>
          </a:prstGeom>
          <a:noFill/>
        </p:spPr>
        <p:txBody>
          <a:bodyPr wrap="square" lIns="0" tIns="0" rIns="0" bIns="0" anchor="t">
            <a:spAutoFit/>
          </a:bodyPr>
          <a:lstStyle/>
          <a:p>
            <a:pPr marL="0" indent="0" algn="l">
              <a:spcAft>
                <a:spcPts val="400"/>
              </a:spcAft>
              <a:buNone/>
            </a:pPr>
            <a:r>
              <a:rPr sz="1200" b="1" i="0">
                <a:solidFill>
                  <a:srgbClr val="00A896"/>
                </a:solidFill>
                <a:latin typeface="Calibri"/>
              </a:rPr>
              <a:t>What we want to preserve</a:t>
            </a:r>
          </a:p>
        </p:txBody>
      </p:sp>
      <p:sp>
        <p:nvSpPr>
          <p:cNvPr id="14" name="TextBox 13"/>
          <p:cNvSpPr txBox="1"/>
          <p:nvPr/>
        </p:nvSpPr>
        <p:spPr>
          <a:xfrm>
            <a:off x="4498848" y="5074920"/>
            <a:ext cx="3291840" cy="1152143"/>
          </a:xfrm>
          <a:prstGeom prst="rect">
            <a:avLst/>
          </a:prstGeom>
          <a:noFill/>
        </p:spPr>
        <p:txBody>
          <a:bodyPr wrap="square" lIns="0" tIns="0" rIns="0" bIns="0" anchor="t">
            <a:spAutoFit/>
          </a:bodyPr>
          <a:lstStyle/>
          <a:p>
            <a:pPr marL="167957" indent="-167957" algn="l">
              <a:spcAft>
                <a:spcPts val="200"/>
              </a:spcAft>
              <a:buClr>
                <a:srgbClr val="00A896"/>
              </a:buClr>
              <a:buChar char="•"/>
            </a:pPr>
            <a:r>
              <a:rPr sz="1150" b="0" i="0">
                <a:solidFill>
                  <a:srgbClr val="0E1330"/>
                </a:solidFill>
                <a:latin typeface="Calibri"/>
              </a:rPr>
              <a:t>Individual distributions · relationships between metrics</a:t>
            </a:r>
          </a:p>
          <a:p>
            <a:pPr marL="167957" indent="-167957" algn="l">
              <a:spcAft>
                <a:spcPts val="200"/>
              </a:spcAft>
              <a:buClr>
                <a:srgbClr val="00A896"/>
              </a:buClr>
              <a:buChar char="•"/>
            </a:pPr>
            <a:r>
              <a:rPr sz="1150" b="0" i="0">
                <a:solidFill>
                  <a:srgbClr val="0E1330"/>
                </a:solidFill>
                <a:latin typeface="Calibri"/>
              </a:rPr>
              <a:t>Temporal behaviour · plausible combinations</a:t>
            </a:r>
          </a:p>
          <a:p>
            <a:pPr marL="167957" indent="-167957" algn="l">
              <a:spcAft>
                <a:spcPts val="200"/>
              </a:spcAft>
              <a:buClr>
                <a:srgbClr val="00A896"/>
              </a:buClr>
              <a:buChar char="•"/>
            </a:pPr>
            <a:r>
              <a:rPr sz="1150" b="0" i="0">
                <a:solidFill>
                  <a:srgbClr val="0E1330"/>
                </a:solidFill>
                <a:latin typeface="Calibri"/>
              </a:rPr>
              <a:t>Relevant missing-data patterns</a:t>
            </a:r>
          </a:p>
        </p:txBody>
      </p:sp>
      <p:sp>
        <p:nvSpPr>
          <p:cNvPr id="15" name="Rounded Rectangle 14"/>
          <p:cNvSpPr/>
          <p:nvPr/>
        </p:nvSpPr>
        <p:spPr>
          <a:xfrm>
            <a:off x="8156448" y="4663440"/>
            <a:ext cx="3456432" cy="1609343"/>
          </a:xfrm>
          <a:prstGeom prst="roundRect">
            <a:avLst>
              <a:gd name="adj" fmla="val 4545"/>
            </a:avLst>
          </a:prstGeom>
          <a:solidFill>
            <a:srgbClr val="FBEAD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9327" y="4754880"/>
            <a:ext cx="3090672" cy="274320"/>
          </a:xfrm>
          <a:prstGeom prst="rect">
            <a:avLst/>
          </a:prstGeom>
          <a:noFill/>
        </p:spPr>
        <p:txBody>
          <a:bodyPr wrap="square" lIns="0" tIns="0" rIns="0" bIns="0" anchor="t">
            <a:spAutoFit/>
          </a:bodyPr>
          <a:lstStyle/>
          <a:p>
            <a:pPr marL="0" indent="0" algn="l">
              <a:spcAft>
                <a:spcPts val="400"/>
              </a:spcAft>
              <a:buNone/>
            </a:pPr>
            <a:r>
              <a:rPr sz="1200" b="1" i="0">
                <a:solidFill>
                  <a:srgbClr val="D9822B"/>
                </a:solidFill>
                <a:latin typeface="Calibri"/>
              </a:rPr>
              <a:t>What we want to avoid</a:t>
            </a:r>
          </a:p>
        </p:txBody>
      </p:sp>
      <p:sp>
        <p:nvSpPr>
          <p:cNvPr id="17" name="TextBox 16"/>
          <p:cNvSpPr txBox="1"/>
          <p:nvPr/>
        </p:nvSpPr>
        <p:spPr>
          <a:xfrm>
            <a:off x="8339327" y="5074920"/>
            <a:ext cx="3090672" cy="1152143"/>
          </a:xfrm>
          <a:prstGeom prst="rect">
            <a:avLst/>
          </a:prstGeom>
          <a:noFill/>
        </p:spPr>
        <p:txBody>
          <a:bodyPr wrap="square" lIns="0" tIns="0" rIns="0" bIns="0" anchor="t">
            <a:spAutoFit/>
          </a:bodyPr>
          <a:lstStyle/>
          <a:p>
            <a:pPr marL="167957" indent="-167957" algn="l">
              <a:spcAft>
                <a:spcPts val="200"/>
              </a:spcAft>
              <a:buClr>
                <a:srgbClr val="D9822B"/>
              </a:buClr>
              <a:buChar char="•"/>
            </a:pPr>
            <a:r>
              <a:rPr sz="1150" b="0" i="0">
                <a:solidFill>
                  <a:srgbClr val="0E1330"/>
                </a:solidFill>
                <a:latin typeface="Calibri"/>
              </a:rPr>
              <a:t>Exact copying of real records</a:t>
            </a:r>
          </a:p>
          <a:p>
            <a:pPr marL="167957" indent="-167957" algn="l">
              <a:spcAft>
                <a:spcPts val="200"/>
              </a:spcAft>
              <a:buClr>
                <a:srgbClr val="D9822B"/>
              </a:buClr>
              <a:buChar char="•"/>
            </a:pPr>
            <a:r>
              <a:rPr sz="1150" b="0" i="0">
                <a:solidFill>
                  <a:srgbClr val="0E1330"/>
                </a:solidFill>
                <a:latin typeface="Calibri"/>
              </a:rPr>
              <a:t>Memorization of individual users</a:t>
            </a:r>
          </a:p>
          <a:p>
            <a:pPr marL="167957" indent="-167957" algn="l">
              <a:spcAft>
                <a:spcPts val="200"/>
              </a:spcAft>
              <a:buClr>
                <a:srgbClr val="D9822B"/>
              </a:buClr>
              <a:buChar char="•"/>
            </a:pPr>
            <a:r>
              <a:rPr sz="1150" b="0" i="0">
                <a:solidFill>
                  <a:srgbClr val="0E1330"/>
                </a:solidFill>
                <a:latin typeface="Calibri"/>
              </a:rPr>
              <a:t>Unrealistic combinations · broken temporal patterns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2</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Why you cannot optimise all three at once</a:t>
            </a:r>
            <a:endParaRPr lang="en-US" sz="3000"/>
          </a:p>
        </p:txBody>
      </p:sp>
      <p:pic>
        <p:nvPicPr>
          <p:cNvPr id="5" name="Image 0" descr="img/triangle.png"/>
          <p:cNvPicPr>
            <a:picLocks noChangeAspect="1"/>
          </p:cNvPicPr>
          <p:nvPr/>
        </p:nvPicPr>
        <p:blipFill>
          <a:blip r:embed="rId3"/>
          <a:stretch>
            <a:fillRect/>
          </a:stretch>
        </p:blipFill>
        <p:spPr>
          <a:xfrm>
            <a:off x="606303" y="1554480"/>
            <a:ext cx="5041890" cy="4206240"/>
          </a:xfrm>
          <a:prstGeom prst="rect">
            <a:avLst/>
          </a:prstGeom>
        </p:spPr>
      </p:pic>
      <p:sp>
        <p:nvSpPr>
          <p:cNvPr id="6" name="Shape 3"/>
          <p:cNvSpPr/>
          <p:nvPr/>
        </p:nvSpPr>
        <p:spPr>
          <a:xfrm>
            <a:off x="6035040" y="1691640"/>
            <a:ext cx="5596128" cy="1298448"/>
          </a:xfrm>
          <a:prstGeom prst="roundRect">
            <a:avLst>
              <a:gd name="adj" fmla="val 5634"/>
            </a:avLst>
          </a:prstGeom>
          <a:solidFill>
            <a:srgbClr val="FBEADB"/>
          </a:solidFill>
          <a:ln w="15875">
            <a:solidFill>
              <a:srgbClr val="D9822B"/>
            </a:solidFill>
            <a:prstDash val="solid"/>
          </a:ln>
        </p:spPr>
      </p:sp>
      <p:sp>
        <p:nvSpPr>
          <p:cNvPr id="7" name="Text 4"/>
          <p:cNvSpPr txBox="1"/>
          <p:nvPr/>
        </p:nvSpPr>
        <p:spPr>
          <a:xfrm>
            <a:off x="6272784" y="1847088"/>
            <a:ext cx="5120640" cy="438912"/>
          </a:xfrm>
          <a:prstGeom prst="rect">
            <a:avLst/>
          </a:prstGeom>
          <a:noFill/>
          <a:ln/>
        </p:spPr>
        <p:txBody>
          <a:bodyPr wrap="square" lIns="0" tIns="0" rIns="0" bIns="0" rtlCol="0" anchor="ctr"/>
          <a:lstStyle/>
          <a:p>
            <a:pPr marL="0" indent="0">
              <a:buNone/>
            </a:pPr>
            <a:r>
              <a:rPr lang="en-US" sz="1400" b="1">
                <a:solidFill>
                  <a:srgbClr val="D9822B"/>
                </a:solidFill>
                <a:latin typeface="Calibri" pitchFamily="34" charset="0"/>
                <a:ea typeface="Calibri" pitchFamily="34" charset="-122"/>
                <a:cs typeface="Calibri" pitchFamily="34" charset="-120"/>
              </a:rPr>
              <a:t>Push fidelity too far</a:t>
            </a:r>
            <a:endParaRPr lang="en-US" sz="1400"/>
          </a:p>
        </p:txBody>
      </p:sp>
      <p:sp>
        <p:nvSpPr>
          <p:cNvPr id="8" name="Text 5"/>
          <p:cNvSpPr txBox="1"/>
          <p:nvPr/>
        </p:nvSpPr>
        <p:spPr>
          <a:xfrm>
            <a:off x="6272784" y="2350008"/>
            <a:ext cx="5120640" cy="493776"/>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A model that reproduces the training distribution perfectly has, in the limit, memorised it. Memorised records are recoverable [27] [29].</a:t>
            </a:r>
            <a:endParaRPr lang="en-US" sz="1200"/>
          </a:p>
        </p:txBody>
      </p:sp>
      <p:sp>
        <p:nvSpPr>
          <p:cNvPr id="9" name="Shape 6"/>
          <p:cNvSpPr/>
          <p:nvPr/>
        </p:nvSpPr>
        <p:spPr>
          <a:xfrm>
            <a:off x="6035040" y="3127248"/>
            <a:ext cx="5596128" cy="1298448"/>
          </a:xfrm>
          <a:prstGeom prst="roundRect">
            <a:avLst>
              <a:gd name="adj" fmla="val 5634"/>
            </a:avLst>
          </a:prstGeom>
          <a:solidFill>
            <a:srgbClr val="D6F2EC"/>
          </a:solidFill>
          <a:ln w="15875">
            <a:solidFill>
              <a:srgbClr val="00A896"/>
            </a:solidFill>
            <a:prstDash val="solid"/>
          </a:ln>
        </p:spPr>
      </p:sp>
      <p:sp>
        <p:nvSpPr>
          <p:cNvPr id="10" name="Text 7"/>
          <p:cNvSpPr txBox="1"/>
          <p:nvPr/>
        </p:nvSpPr>
        <p:spPr>
          <a:xfrm>
            <a:off x="6272784" y="3282696"/>
            <a:ext cx="5120640" cy="438912"/>
          </a:xfrm>
          <a:prstGeom prst="rect">
            <a:avLst/>
          </a:prstGeom>
          <a:noFill/>
          <a:ln/>
        </p:spPr>
        <p:txBody>
          <a:bodyPr wrap="square" lIns="0" tIns="0" rIns="0" bIns="0" rtlCol="0" anchor="ctr"/>
          <a:lstStyle/>
          <a:p>
            <a:pPr marL="0" indent="0">
              <a:buNone/>
            </a:pPr>
            <a:r>
              <a:rPr lang="en-US" sz="1400" b="1">
                <a:solidFill>
                  <a:srgbClr val="00A896"/>
                </a:solidFill>
                <a:latin typeface="Calibri" pitchFamily="34" charset="0"/>
                <a:ea typeface="Calibri" pitchFamily="34" charset="-122"/>
                <a:cs typeface="Calibri" pitchFamily="34" charset="-120"/>
              </a:rPr>
              <a:t>Push privacy too far</a:t>
            </a:r>
            <a:endParaRPr lang="en-US" sz="1400"/>
          </a:p>
        </p:txBody>
      </p:sp>
      <p:sp>
        <p:nvSpPr>
          <p:cNvPr id="11" name="Text 8"/>
          <p:cNvSpPr txBox="1"/>
          <p:nvPr/>
        </p:nvSpPr>
        <p:spPr>
          <a:xfrm>
            <a:off x="6272784" y="3785616"/>
            <a:ext cx="5120640" cy="493776"/>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Differentially private training with a small ε adds enough noise that rare but informative structure is destroyed, and utility collapses [25] [26].</a:t>
            </a:r>
            <a:endParaRPr lang="en-US" sz="1200"/>
          </a:p>
        </p:txBody>
      </p:sp>
      <p:sp>
        <p:nvSpPr>
          <p:cNvPr id="12" name="Shape 9"/>
          <p:cNvSpPr/>
          <p:nvPr/>
        </p:nvSpPr>
        <p:spPr>
          <a:xfrm>
            <a:off x="6035040" y="4562856"/>
            <a:ext cx="5596128" cy="1298448"/>
          </a:xfrm>
          <a:prstGeom prst="roundRect">
            <a:avLst>
              <a:gd name="adj" fmla="val 5634"/>
            </a:avLst>
          </a:prstGeom>
          <a:solidFill>
            <a:srgbClr val="EEF1F8"/>
          </a:solidFill>
          <a:ln w="15875">
            <a:solidFill>
              <a:srgbClr val="DCE6FA"/>
            </a:solidFill>
            <a:prstDash val="solid"/>
          </a:ln>
        </p:spPr>
      </p:sp>
      <p:sp>
        <p:nvSpPr>
          <p:cNvPr id="13" name="Text 10"/>
          <p:cNvSpPr txBox="1"/>
          <p:nvPr/>
        </p:nvSpPr>
        <p:spPr>
          <a:xfrm>
            <a:off x="6272784" y="4718304"/>
            <a:ext cx="5120640" cy="438912"/>
          </a:xfrm>
          <a:prstGeom prst="rect">
            <a:avLst/>
          </a:prstGeom>
          <a:noFill/>
          <a:ln/>
        </p:spPr>
        <p:txBody>
          <a:bodyPr wrap="square" lIns="0" tIns="0" rIns="0" bIns="0" rtlCol="0" anchor="ctr"/>
          <a:lstStyle/>
          <a:p>
            <a:pPr marL="0" indent="0">
              <a:buNone/>
            </a:pPr>
            <a:r>
              <a:rPr lang="en-US" sz="1400" b="1">
                <a:solidFill>
                  <a:srgbClr val="2E3A8C"/>
                </a:solidFill>
                <a:latin typeface="Calibri" pitchFamily="34" charset="0"/>
                <a:ea typeface="Calibri" pitchFamily="34" charset="-122"/>
                <a:cs typeface="Calibri" pitchFamily="34" charset="-120"/>
              </a:rPr>
              <a:t>Chase utility alone</a:t>
            </a:r>
            <a:endParaRPr lang="en-US" sz="1400"/>
          </a:p>
        </p:txBody>
      </p:sp>
      <p:sp>
        <p:nvSpPr>
          <p:cNvPr id="14" name="Text 11"/>
          <p:cNvSpPr txBox="1"/>
          <p:nvPr/>
        </p:nvSpPr>
        <p:spPr>
          <a:xfrm>
            <a:off x="6272784" y="5221224"/>
            <a:ext cx="5120640" cy="493776"/>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Optimising only the downstream score encourages the generator to copy the training set — the highest-utility synthetic dataset is the real one [30].</a:t>
            </a:r>
            <a:endParaRPr lang="en-US" sz="1200"/>
          </a:p>
        </p:txBody>
      </p:sp>
      <p:sp>
        <p:nvSpPr>
          <p:cNvPr id="15" name="Text 12"/>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[25] [26] [27] [29] [30]</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3</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Six reasons </a:t>
            </a:r>
            <a:r>
              <a:rPr lang="en-US" sz="3000" b="1" err="1">
                <a:solidFill>
                  <a:srgbClr val="0E1330"/>
                </a:solidFill>
                <a:latin typeface="Cambria" pitchFamily="34" charset="0"/>
                <a:ea typeface="Cambria" pitchFamily="34" charset="-122"/>
                <a:cs typeface="Cambria" pitchFamily="34" charset="-120"/>
              </a:rPr>
              <a:t>organisations</a:t>
            </a:r>
            <a:r>
              <a:rPr lang="en-US" sz="3000" b="1">
                <a:solidFill>
                  <a:srgbClr val="0E1330"/>
                </a:solidFill>
                <a:latin typeface="Cambria" pitchFamily="34" charset="0"/>
                <a:ea typeface="Cambria" pitchFamily="34" charset="-122"/>
                <a:cs typeface="Cambria" pitchFamily="34" charset="-120"/>
              </a:rPr>
              <a:t> adopt synthetic data</a:t>
            </a:r>
            <a:endParaRPr lang="en-US" sz="3000"/>
          </a:p>
        </p:txBody>
      </p:sp>
      <p:sp>
        <p:nvSpPr>
          <p:cNvPr id="5" name="Shape 3"/>
          <p:cNvSpPr/>
          <p:nvPr/>
        </p:nvSpPr>
        <p:spPr>
          <a:xfrm>
            <a:off x="566928" y="1691640"/>
            <a:ext cx="3520440" cy="1600200"/>
          </a:xfrm>
          <a:prstGeom prst="roundRect">
            <a:avLst>
              <a:gd name="adj" fmla="val 3810"/>
            </a:avLst>
          </a:prstGeom>
          <a:solidFill>
            <a:srgbClr val="EEF1F8"/>
          </a:solidFill>
          <a:ln w="15875">
            <a:solidFill>
              <a:srgbClr val="DCE6FA"/>
            </a:solidFill>
            <a:prstDash val="solid"/>
          </a:ln>
        </p:spPr>
      </p:sp>
      <p:sp>
        <p:nvSpPr>
          <p:cNvPr id="6" name="Shape 4"/>
          <p:cNvSpPr/>
          <p:nvPr/>
        </p:nvSpPr>
        <p:spPr>
          <a:xfrm>
            <a:off x="768096" y="1874520"/>
            <a:ext cx="384048" cy="384048"/>
          </a:xfrm>
          <a:prstGeom prst="ellipse">
            <a:avLst/>
          </a:prstGeom>
          <a:solidFill>
            <a:srgbClr val="2E3A8C"/>
          </a:solidFill>
          <a:ln w="12700">
            <a:solidFill>
              <a:srgbClr val="2E3A8C"/>
            </a:solidFill>
            <a:prstDash val="solid"/>
          </a:ln>
        </p:spPr>
      </p:sp>
      <p:sp>
        <p:nvSpPr>
          <p:cNvPr id="7" name="Text 5"/>
          <p:cNvSpPr txBox="1"/>
          <p:nvPr/>
        </p:nvSpPr>
        <p:spPr>
          <a:xfrm>
            <a:off x="768096" y="187452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280160" y="1847088"/>
            <a:ext cx="2606040" cy="438912"/>
          </a:xfrm>
          <a:prstGeom prst="rect">
            <a:avLst/>
          </a:prstGeom>
          <a:noFill/>
          <a:ln/>
        </p:spPr>
        <p:txBody>
          <a:bodyPr wrap="square" lIns="0" tIns="0" rIns="0" bIns="0" rtlCol="0" anchor="ctr"/>
          <a:lstStyle/>
          <a:p>
            <a:pPr marL="0" indent="0">
              <a:buNone/>
            </a:pPr>
            <a:r>
              <a:rPr lang="en-US" sz="1400" b="1">
                <a:solidFill>
                  <a:srgbClr val="2E3A8C"/>
                </a:solidFill>
                <a:latin typeface="Calibri" pitchFamily="34" charset="0"/>
                <a:ea typeface="Calibri" pitchFamily="34" charset="-122"/>
                <a:cs typeface="Calibri" pitchFamily="34" charset="-120"/>
              </a:rPr>
              <a:t>Data access</a:t>
            </a:r>
            <a:endParaRPr lang="en-US" sz="1400"/>
          </a:p>
        </p:txBody>
      </p:sp>
      <p:sp>
        <p:nvSpPr>
          <p:cNvPr id="9" name="Text 7"/>
          <p:cNvSpPr txBox="1"/>
          <p:nvPr/>
        </p:nvSpPr>
        <p:spPr>
          <a:xfrm>
            <a:off x="804672" y="2350008"/>
            <a:ext cx="3044952" cy="86868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Development and testing teams are blocked on approvals for production data. Synthetic copies can be provisioned in hours instead of quarters [1] [9].</a:t>
            </a:r>
            <a:endParaRPr lang="en-US" sz="1150"/>
          </a:p>
        </p:txBody>
      </p:sp>
      <p:sp>
        <p:nvSpPr>
          <p:cNvPr id="10" name="Shape 8"/>
          <p:cNvSpPr/>
          <p:nvPr/>
        </p:nvSpPr>
        <p:spPr>
          <a:xfrm>
            <a:off x="4334256" y="1691640"/>
            <a:ext cx="3520440" cy="1600200"/>
          </a:xfrm>
          <a:prstGeom prst="roundRect">
            <a:avLst>
              <a:gd name="adj" fmla="val 3810"/>
            </a:avLst>
          </a:prstGeom>
          <a:solidFill>
            <a:srgbClr val="D6F2EC"/>
          </a:solidFill>
          <a:ln w="15875">
            <a:solidFill>
              <a:srgbClr val="00A896"/>
            </a:solidFill>
            <a:prstDash val="solid"/>
          </a:ln>
        </p:spPr>
      </p:sp>
      <p:sp>
        <p:nvSpPr>
          <p:cNvPr id="11" name="Shape 9"/>
          <p:cNvSpPr/>
          <p:nvPr/>
        </p:nvSpPr>
        <p:spPr>
          <a:xfrm>
            <a:off x="4535424" y="1874520"/>
            <a:ext cx="384048" cy="384048"/>
          </a:xfrm>
          <a:prstGeom prst="ellipse">
            <a:avLst/>
          </a:prstGeom>
          <a:solidFill>
            <a:srgbClr val="00A896"/>
          </a:solidFill>
          <a:ln w="12700">
            <a:solidFill>
              <a:srgbClr val="00A896"/>
            </a:solidFill>
            <a:prstDash val="solid"/>
          </a:ln>
        </p:spPr>
      </p:sp>
      <p:sp>
        <p:nvSpPr>
          <p:cNvPr id="12" name="Text 10"/>
          <p:cNvSpPr txBox="1"/>
          <p:nvPr/>
        </p:nvSpPr>
        <p:spPr>
          <a:xfrm>
            <a:off x="4535424" y="187452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3" name="Text 11"/>
          <p:cNvSpPr txBox="1"/>
          <p:nvPr/>
        </p:nvSpPr>
        <p:spPr>
          <a:xfrm>
            <a:off x="5047488" y="1847088"/>
            <a:ext cx="2606040" cy="438912"/>
          </a:xfrm>
          <a:prstGeom prst="rect">
            <a:avLst/>
          </a:prstGeom>
          <a:noFill/>
          <a:ln/>
        </p:spPr>
        <p:txBody>
          <a:bodyPr wrap="square" lIns="0" tIns="0" rIns="0" bIns="0" rtlCol="0" anchor="ctr"/>
          <a:lstStyle/>
          <a:p>
            <a:pPr marL="0" indent="0">
              <a:buNone/>
            </a:pPr>
            <a:r>
              <a:rPr lang="en-US" sz="1400" b="1">
                <a:solidFill>
                  <a:srgbClr val="00A896"/>
                </a:solidFill>
                <a:latin typeface="Calibri" pitchFamily="34" charset="0"/>
                <a:ea typeface="Calibri" pitchFamily="34" charset="-122"/>
                <a:cs typeface="Calibri" pitchFamily="34" charset="-120"/>
              </a:rPr>
              <a:t>Privacy &amp; compliance</a:t>
            </a:r>
            <a:endParaRPr lang="en-US" sz="1400"/>
          </a:p>
        </p:txBody>
      </p:sp>
      <p:sp>
        <p:nvSpPr>
          <p:cNvPr id="14" name="Text 12"/>
          <p:cNvSpPr txBox="1"/>
          <p:nvPr/>
        </p:nvSpPr>
        <p:spPr>
          <a:xfrm>
            <a:off x="4572000" y="2350008"/>
            <a:ext cx="3044952" cy="86868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A generated dataset carrying no real individual reduces the compliance surface for sharing across borders and with vendors [1] [30].</a:t>
            </a:r>
            <a:endParaRPr lang="en-US" sz="1150"/>
          </a:p>
        </p:txBody>
      </p:sp>
      <p:sp>
        <p:nvSpPr>
          <p:cNvPr id="15" name="Shape 13"/>
          <p:cNvSpPr/>
          <p:nvPr/>
        </p:nvSpPr>
        <p:spPr>
          <a:xfrm>
            <a:off x="8101584" y="1691640"/>
            <a:ext cx="3520440" cy="1600200"/>
          </a:xfrm>
          <a:prstGeom prst="roundRect">
            <a:avLst>
              <a:gd name="adj" fmla="val 3810"/>
            </a:avLst>
          </a:prstGeom>
          <a:solidFill>
            <a:srgbClr val="FBEADB"/>
          </a:solidFill>
          <a:ln w="15875">
            <a:solidFill>
              <a:srgbClr val="D9822B"/>
            </a:solidFill>
            <a:prstDash val="solid"/>
          </a:ln>
        </p:spPr>
      </p:sp>
      <p:sp>
        <p:nvSpPr>
          <p:cNvPr id="16" name="Shape 14"/>
          <p:cNvSpPr/>
          <p:nvPr/>
        </p:nvSpPr>
        <p:spPr>
          <a:xfrm>
            <a:off x="8302752" y="1874520"/>
            <a:ext cx="384048" cy="384048"/>
          </a:xfrm>
          <a:prstGeom prst="ellipse">
            <a:avLst/>
          </a:prstGeom>
          <a:solidFill>
            <a:srgbClr val="D9822B"/>
          </a:solidFill>
          <a:ln w="12700">
            <a:solidFill>
              <a:srgbClr val="D9822B"/>
            </a:solidFill>
            <a:prstDash val="solid"/>
          </a:ln>
        </p:spPr>
      </p:sp>
      <p:sp>
        <p:nvSpPr>
          <p:cNvPr id="17" name="Text 15"/>
          <p:cNvSpPr txBox="1"/>
          <p:nvPr/>
        </p:nvSpPr>
        <p:spPr>
          <a:xfrm>
            <a:off x="8302752" y="187452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txBox="1"/>
          <p:nvPr/>
        </p:nvSpPr>
        <p:spPr>
          <a:xfrm>
            <a:off x="8814816" y="1847088"/>
            <a:ext cx="2606040" cy="438912"/>
          </a:xfrm>
          <a:prstGeom prst="rect">
            <a:avLst/>
          </a:prstGeom>
          <a:noFill/>
          <a:ln/>
        </p:spPr>
        <p:txBody>
          <a:bodyPr wrap="square" lIns="0" tIns="0" rIns="0" bIns="0" rtlCol="0" anchor="ctr"/>
          <a:lstStyle/>
          <a:p>
            <a:pPr marL="0" indent="0">
              <a:buNone/>
            </a:pPr>
            <a:r>
              <a:rPr lang="en-US" sz="1400" b="1">
                <a:solidFill>
                  <a:srgbClr val="D9822B"/>
                </a:solidFill>
                <a:latin typeface="Calibri" pitchFamily="34" charset="0"/>
                <a:ea typeface="Calibri" pitchFamily="34" charset="-122"/>
                <a:cs typeface="Calibri" pitchFamily="34" charset="-120"/>
              </a:rPr>
              <a:t>Class imbalance</a:t>
            </a:r>
            <a:endParaRPr lang="en-US" sz="1400"/>
          </a:p>
        </p:txBody>
      </p:sp>
      <p:sp>
        <p:nvSpPr>
          <p:cNvPr id="19" name="Text 17"/>
          <p:cNvSpPr txBox="1"/>
          <p:nvPr/>
        </p:nvSpPr>
        <p:spPr>
          <a:xfrm>
            <a:off x="8339328" y="2350008"/>
            <a:ext cx="3044952" cy="86868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Fraud, machine failure and rare disease are too infrequent to train on. Conditional generators can oversample the minority class directly [11] [28].</a:t>
            </a:r>
            <a:endParaRPr lang="en-US" sz="1150"/>
          </a:p>
        </p:txBody>
      </p:sp>
      <p:sp>
        <p:nvSpPr>
          <p:cNvPr id="20" name="Shape 18"/>
          <p:cNvSpPr/>
          <p:nvPr/>
        </p:nvSpPr>
        <p:spPr>
          <a:xfrm>
            <a:off x="566928" y="3429000"/>
            <a:ext cx="3520440" cy="1600200"/>
          </a:xfrm>
          <a:prstGeom prst="roundRect">
            <a:avLst>
              <a:gd name="adj" fmla="val 3810"/>
            </a:avLst>
          </a:prstGeom>
          <a:solidFill>
            <a:srgbClr val="EEF1F8"/>
          </a:solidFill>
          <a:ln w="15875">
            <a:solidFill>
              <a:srgbClr val="DCE6FA"/>
            </a:solidFill>
            <a:prstDash val="solid"/>
          </a:ln>
        </p:spPr>
      </p:sp>
      <p:sp>
        <p:nvSpPr>
          <p:cNvPr id="21" name="Shape 19"/>
          <p:cNvSpPr/>
          <p:nvPr/>
        </p:nvSpPr>
        <p:spPr>
          <a:xfrm>
            <a:off x="768096" y="3611880"/>
            <a:ext cx="384048" cy="384048"/>
          </a:xfrm>
          <a:prstGeom prst="ellipse">
            <a:avLst/>
          </a:prstGeom>
          <a:solidFill>
            <a:srgbClr val="2E3A8C"/>
          </a:solidFill>
          <a:ln w="12700">
            <a:solidFill>
              <a:srgbClr val="2E3A8C"/>
            </a:solidFill>
            <a:prstDash val="solid"/>
          </a:ln>
        </p:spPr>
      </p:sp>
      <p:sp>
        <p:nvSpPr>
          <p:cNvPr id="22" name="Text 20"/>
          <p:cNvSpPr txBox="1"/>
          <p:nvPr/>
        </p:nvSpPr>
        <p:spPr>
          <a:xfrm>
            <a:off x="768096" y="36118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4</a:t>
            </a:r>
            <a:endParaRPr lang="en-US" sz="1300"/>
          </a:p>
        </p:txBody>
      </p:sp>
      <p:sp>
        <p:nvSpPr>
          <p:cNvPr id="23" name="Text 21"/>
          <p:cNvSpPr txBox="1"/>
          <p:nvPr/>
        </p:nvSpPr>
        <p:spPr>
          <a:xfrm>
            <a:off x="1280160" y="3584448"/>
            <a:ext cx="2606040" cy="438912"/>
          </a:xfrm>
          <a:prstGeom prst="rect">
            <a:avLst/>
          </a:prstGeom>
          <a:noFill/>
          <a:ln/>
        </p:spPr>
        <p:txBody>
          <a:bodyPr wrap="square" lIns="0" tIns="0" rIns="0" bIns="0" rtlCol="0" anchor="ctr"/>
          <a:lstStyle/>
          <a:p>
            <a:pPr marL="0" indent="0">
              <a:buNone/>
            </a:pPr>
            <a:r>
              <a:rPr lang="en-US" sz="1400" b="1">
                <a:solidFill>
                  <a:srgbClr val="2E3A8C"/>
                </a:solidFill>
                <a:latin typeface="Calibri" pitchFamily="34" charset="0"/>
                <a:ea typeface="Calibri" pitchFamily="34" charset="-122"/>
                <a:cs typeface="Calibri" pitchFamily="34" charset="-120"/>
              </a:rPr>
              <a:t>Annotation cost</a:t>
            </a:r>
            <a:endParaRPr lang="en-US" sz="1400"/>
          </a:p>
        </p:txBody>
      </p:sp>
      <p:sp>
        <p:nvSpPr>
          <p:cNvPr id="24" name="Text 22"/>
          <p:cNvSpPr txBox="1"/>
          <p:nvPr/>
        </p:nvSpPr>
        <p:spPr>
          <a:xfrm>
            <a:off x="804672" y="4087368"/>
            <a:ext cx="3044952" cy="86868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In vision and robotics, labels are the expense. A renderer emits pixel-perfect segmentation and depth for free [21] [22] [23].</a:t>
            </a:r>
            <a:endParaRPr lang="en-US" sz="1150"/>
          </a:p>
        </p:txBody>
      </p:sp>
      <p:sp>
        <p:nvSpPr>
          <p:cNvPr id="25" name="Shape 23"/>
          <p:cNvSpPr/>
          <p:nvPr/>
        </p:nvSpPr>
        <p:spPr>
          <a:xfrm>
            <a:off x="4334256" y="3429000"/>
            <a:ext cx="3520440" cy="1600200"/>
          </a:xfrm>
          <a:prstGeom prst="roundRect">
            <a:avLst>
              <a:gd name="adj" fmla="val 3810"/>
            </a:avLst>
          </a:prstGeom>
          <a:solidFill>
            <a:srgbClr val="D6F2EC"/>
          </a:solidFill>
          <a:ln w="15875">
            <a:solidFill>
              <a:srgbClr val="00A896"/>
            </a:solidFill>
            <a:prstDash val="solid"/>
          </a:ln>
        </p:spPr>
      </p:sp>
      <p:sp>
        <p:nvSpPr>
          <p:cNvPr id="26" name="Shape 24"/>
          <p:cNvSpPr/>
          <p:nvPr/>
        </p:nvSpPr>
        <p:spPr>
          <a:xfrm>
            <a:off x="4535424" y="3611880"/>
            <a:ext cx="384048" cy="384048"/>
          </a:xfrm>
          <a:prstGeom prst="ellipse">
            <a:avLst/>
          </a:prstGeom>
          <a:solidFill>
            <a:srgbClr val="00A896"/>
          </a:solidFill>
          <a:ln w="12700">
            <a:solidFill>
              <a:srgbClr val="00A896"/>
            </a:solidFill>
            <a:prstDash val="solid"/>
          </a:ln>
        </p:spPr>
      </p:sp>
      <p:sp>
        <p:nvSpPr>
          <p:cNvPr id="27" name="Text 25"/>
          <p:cNvSpPr txBox="1"/>
          <p:nvPr/>
        </p:nvSpPr>
        <p:spPr>
          <a:xfrm>
            <a:off x="4535424" y="36118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5</a:t>
            </a:r>
            <a:endParaRPr lang="en-US" sz="1300"/>
          </a:p>
        </p:txBody>
      </p:sp>
      <p:sp>
        <p:nvSpPr>
          <p:cNvPr id="28" name="Text 26"/>
          <p:cNvSpPr txBox="1"/>
          <p:nvPr/>
        </p:nvSpPr>
        <p:spPr>
          <a:xfrm>
            <a:off x="5047488" y="3584448"/>
            <a:ext cx="2606040" cy="438912"/>
          </a:xfrm>
          <a:prstGeom prst="rect">
            <a:avLst/>
          </a:prstGeom>
          <a:noFill/>
          <a:ln/>
        </p:spPr>
        <p:txBody>
          <a:bodyPr wrap="square" lIns="0" tIns="0" rIns="0" bIns="0" rtlCol="0" anchor="ctr"/>
          <a:lstStyle/>
          <a:p>
            <a:pPr marL="0" indent="0">
              <a:buNone/>
            </a:pPr>
            <a:r>
              <a:rPr lang="en-US" sz="1400" b="1">
                <a:solidFill>
                  <a:srgbClr val="00A896"/>
                </a:solidFill>
                <a:latin typeface="Calibri" pitchFamily="34" charset="0"/>
                <a:ea typeface="Calibri" pitchFamily="34" charset="-122"/>
                <a:cs typeface="Calibri" pitchFamily="34" charset="-120"/>
              </a:rPr>
              <a:t>Scenario coverage</a:t>
            </a:r>
            <a:endParaRPr lang="en-US" sz="1400"/>
          </a:p>
        </p:txBody>
      </p:sp>
      <p:sp>
        <p:nvSpPr>
          <p:cNvPr id="29" name="Text 27"/>
          <p:cNvSpPr txBox="1"/>
          <p:nvPr/>
        </p:nvSpPr>
        <p:spPr>
          <a:xfrm>
            <a:off x="4572000" y="4087368"/>
            <a:ext cx="3044952" cy="86868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Safety-critical systems must be tested against events that have not yet occurred. Those scenarios can only be generated [21] [23].</a:t>
            </a:r>
            <a:endParaRPr lang="en-US" sz="1150"/>
          </a:p>
        </p:txBody>
      </p:sp>
      <p:sp>
        <p:nvSpPr>
          <p:cNvPr id="30" name="Shape 28"/>
          <p:cNvSpPr/>
          <p:nvPr/>
        </p:nvSpPr>
        <p:spPr>
          <a:xfrm>
            <a:off x="8101584" y="3429000"/>
            <a:ext cx="3520440" cy="1600200"/>
          </a:xfrm>
          <a:prstGeom prst="roundRect">
            <a:avLst>
              <a:gd name="adj" fmla="val 3810"/>
            </a:avLst>
          </a:prstGeom>
          <a:solidFill>
            <a:srgbClr val="FBEADB"/>
          </a:solidFill>
          <a:ln w="15875">
            <a:solidFill>
              <a:srgbClr val="D9822B"/>
            </a:solidFill>
            <a:prstDash val="solid"/>
          </a:ln>
        </p:spPr>
      </p:sp>
      <p:sp>
        <p:nvSpPr>
          <p:cNvPr id="31" name="Shape 29"/>
          <p:cNvSpPr/>
          <p:nvPr/>
        </p:nvSpPr>
        <p:spPr>
          <a:xfrm>
            <a:off x="8302752" y="3611880"/>
            <a:ext cx="384048" cy="384048"/>
          </a:xfrm>
          <a:prstGeom prst="ellipse">
            <a:avLst/>
          </a:prstGeom>
          <a:solidFill>
            <a:srgbClr val="D9822B"/>
          </a:solidFill>
          <a:ln w="12700">
            <a:solidFill>
              <a:srgbClr val="D9822B"/>
            </a:solidFill>
            <a:prstDash val="solid"/>
          </a:ln>
        </p:spPr>
      </p:sp>
      <p:sp>
        <p:nvSpPr>
          <p:cNvPr id="32" name="Text 30"/>
          <p:cNvSpPr txBox="1"/>
          <p:nvPr/>
        </p:nvSpPr>
        <p:spPr>
          <a:xfrm>
            <a:off x="8302752" y="36118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6</a:t>
            </a:r>
            <a:endParaRPr lang="en-US" sz="1300"/>
          </a:p>
        </p:txBody>
      </p:sp>
      <p:sp>
        <p:nvSpPr>
          <p:cNvPr id="33" name="Text 31"/>
          <p:cNvSpPr txBox="1"/>
          <p:nvPr/>
        </p:nvSpPr>
        <p:spPr>
          <a:xfrm>
            <a:off x="8814816" y="3584448"/>
            <a:ext cx="2606040" cy="438912"/>
          </a:xfrm>
          <a:prstGeom prst="rect">
            <a:avLst/>
          </a:prstGeom>
          <a:noFill/>
          <a:ln/>
        </p:spPr>
        <p:txBody>
          <a:bodyPr wrap="square" lIns="0" tIns="0" rIns="0" bIns="0" rtlCol="0" anchor="ctr"/>
          <a:lstStyle/>
          <a:p>
            <a:pPr marL="0" indent="0">
              <a:buNone/>
            </a:pPr>
            <a:r>
              <a:rPr lang="en-US" sz="1400" b="1">
                <a:solidFill>
                  <a:srgbClr val="D9822B"/>
                </a:solidFill>
                <a:latin typeface="Calibri" pitchFamily="34" charset="0"/>
                <a:ea typeface="Calibri" pitchFamily="34" charset="-122"/>
                <a:cs typeface="Calibri" pitchFamily="34" charset="-120"/>
              </a:rPr>
              <a:t>Data sharing</a:t>
            </a:r>
            <a:endParaRPr lang="en-US" sz="1400"/>
          </a:p>
        </p:txBody>
      </p:sp>
      <p:sp>
        <p:nvSpPr>
          <p:cNvPr id="34" name="Text 32"/>
          <p:cNvSpPr txBox="1"/>
          <p:nvPr/>
        </p:nvSpPr>
        <p:spPr>
          <a:xfrm>
            <a:off x="8339328" y="4087368"/>
            <a:ext cx="3044952" cy="86868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Benchmarks, competitions and research collaborations need a shareable stand-in for data that cannot leave the building [9] [28].</a:t>
            </a:r>
            <a:endParaRPr lang="en-US" sz="1150"/>
          </a:p>
        </p:txBody>
      </p:sp>
      <p:sp>
        <p:nvSpPr>
          <p:cNvPr id="35" name="Text 3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 [9] [11] [21] [22] [23] [28] [30]</a:t>
            </a:r>
            <a:endParaRPr lang="en-US" sz="1000"/>
          </a:p>
        </p:txBody>
      </p:sp>
      <p:sp>
        <p:nvSpPr>
          <p:cNvPr id="36" name="Rounded Rectangle 35"/>
          <p:cNvSpPr/>
          <p:nvPr/>
        </p:nvSpPr>
        <p:spPr>
          <a:xfrm>
            <a:off x="566928" y="5193792"/>
            <a:ext cx="11045952" cy="1024128"/>
          </a:xfrm>
          <a:prstGeom prst="roundRect">
            <a:avLst>
              <a:gd name="adj" fmla="val 7142"/>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60" y="5405774"/>
            <a:ext cx="10515600" cy="600164"/>
          </a:xfrm>
          <a:prstGeom prst="rect">
            <a:avLst/>
          </a:prstGeom>
          <a:noFill/>
        </p:spPr>
        <p:txBody>
          <a:bodyPr wrap="square" lIns="0" tIns="0" rIns="0" bIns="0" anchor="ctr">
            <a:spAutoFit/>
          </a:bodyPr>
          <a:lstStyle/>
          <a:p>
            <a:pPr marL="0" indent="0" algn="l">
              <a:spcAft>
                <a:spcPts val="300"/>
              </a:spcAft>
              <a:buNone/>
            </a:pPr>
            <a:r>
              <a:rPr sz="1050" b="1" i="0">
                <a:solidFill>
                  <a:schemeClr val="bg1"/>
                </a:solidFill>
                <a:latin typeface="Calibri"/>
              </a:rPr>
              <a:t>STIXIS / GLIXIFY EXAMPLE — POTENTIAL USE OF SYNTHETIC DATA IN A GLIXIFY-STYLE APPLICATION</a:t>
            </a:r>
          </a:p>
          <a:p>
            <a:pPr marL="0" indent="0" algn="l">
              <a:spcAft>
                <a:spcPts val="400"/>
              </a:spcAft>
              <a:buNone/>
            </a:pPr>
            <a:r>
              <a:rPr sz="1300" b="0" i="0">
                <a:solidFill>
                  <a:srgbClr val="FFFFFF"/>
                </a:solidFill>
                <a:latin typeface="Cambria"/>
              </a:rPr>
              <a:t>Synthetic data can provide a representative environment for application development, testing and analytics experimentation without requiring every development activity to operate directly on real user records.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3</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regulatory argument, stated carefully</a:t>
            </a:r>
            <a:endParaRPr lang="en-US" sz="3000"/>
          </a:p>
        </p:txBody>
      </p:sp>
      <p:sp>
        <p:nvSpPr>
          <p:cNvPr id="5" name="Shape 3"/>
          <p:cNvSpPr/>
          <p:nvPr/>
        </p:nvSpPr>
        <p:spPr>
          <a:xfrm>
            <a:off x="566928" y="1627632"/>
            <a:ext cx="5440680" cy="2057400"/>
          </a:xfrm>
          <a:prstGeom prst="roundRect">
            <a:avLst>
              <a:gd name="adj" fmla="val 3556"/>
            </a:avLst>
          </a:prstGeom>
          <a:solidFill>
            <a:srgbClr val="D6F2EC"/>
          </a:solidFill>
          <a:ln w="15875">
            <a:solidFill>
              <a:srgbClr val="00A896"/>
            </a:solidFill>
            <a:prstDash val="solid"/>
          </a:ln>
        </p:spPr>
        <p:txBody>
          <a:bodyPr/>
          <a:lstStyle/>
          <a:p>
            <a:endParaRPr/>
          </a:p>
        </p:txBody>
      </p:sp>
      <p:sp>
        <p:nvSpPr>
          <p:cNvPr id="6" name="Text 4"/>
          <p:cNvSpPr txBox="1"/>
          <p:nvPr/>
        </p:nvSpPr>
        <p:spPr>
          <a:xfrm>
            <a:off x="804672" y="1783080"/>
            <a:ext cx="4965192"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The claim that holds</a:t>
            </a:r>
            <a:endParaRPr lang="en-US" sz="1500"/>
          </a:p>
        </p:txBody>
      </p:sp>
      <p:sp>
        <p:nvSpPr>
          <p:cNvPr id="7" name="Text 5"/>
          <p:cNvSpPr txBox="1"/>
          <p:nvPr/>
        </p:nvSpPr>
        <p:spPr>
          <a:xfrm>
            <a:off x="804672" y="2286000"/>
            <a:ext cx="4965192" cy="1252728"/>
          </a:xfrm>
          <a:prstGeom prst="rect">
            <a:avLst/>
          </a:prstGeom>
          <a:noFill/>
          <a:ln/>
        </p:spPr>
        <p:txBody>
          <a:bodyPr wrap="square" lIns="0" tIns="0" rIns="0" bIns="0" rtlCol="0" anchor="t"/>
          <a:lstStyle/>
          <a:p>
            <a:pPr marL="0" indent="0">
              <a:lnSpc>
                <a:spcPct val="112000"/>
              </a:lnSpc>
              <a:buNone/>
            </a:pPr>
            <a:r>
              <a:rPr lang="en-US" sz="1250">
                <a:solidFill>
                  <a:srgbClr val="0E1330"/>
                </a:solidFill>
                <a:latin typeface="Calibri" pitchFamily="34" charset="0"/>
                <a:ea typeface="Calibri" pitchFamily="34" charset="-122"/>
                <a:cs typeface="Calibri" pitchFamily="34" charset="-120"/>
              </a:rPr>
              <a:t>Generating data from a model trained under a differential-privacy mechanism gives a quantified, provable bound on what any downstream analyst can learn about any one training record [24] [25] [26].</a:t>
            </a:r>
            <a:endParaRPr lang="en-US" sz="1250"/>
          </a:p>
        </p:txBody>
      </p:sp>
      <p:sp>
        <p:nvSpPr>
          <p:cNvPr id="8" name="Shape 6"/>
          <p:cNvSpPr/>
          <p:nvPr/>
        </p:nvSpPr>
        <p:spPr>
          <a:xfrm>
            <a:off x="6190488" y="1627632"/>
            <a:ext cx="5440680" cy="2057400"/>
          </a:xfrm>
          <a:prstGeom prst="roundRect">
            <a:avLst>
              <a:gd name="adj" fmla="val 3556"/>
            </a:avLst>
          </a:prstGeom>
          <a:solidFill>
            <a:srgbClr val="FBEADB"/>
          </a:solidFill>
          <a:ln w="15875">
            <a:solidFill>
              <a:srgbClr val="B03A48"/>
            </a:solidFill>
            <a:prstDash val="solid"/>
          </a:ln>
        </p:spPr>
        <p:txBody>
          <a:bodyPr/>
          <a:lstStyle/>
          <a:p>
            <a:endParaRPr/>
          </a:p>
        </p:txBody>
      </p:sp>
      <p:sp>
        <p:nvSpPr>
          <p:cNvPr id="9" name="Text 7"/>
          <p:cNvSpPr txBox="1"/>
          <p:nvPr/>
        </p:nvSpPr>
        <p:spPr>
          <a:xfrm>
            <a:off x="6428232" y="1783080"/>
            <a:ext cx="4965192" cy="438912"/>
          </a:xfrm>
          <a:prstGeom prst="rect">
            <a:avLst/>
          </a:prstGeom>
          <a:noFill/>
          <a:ln/>
        </p:spPr>
        <p:txBody>
          <a:bodyPr wrap="square" lIns="0" tIns="0" rIns="0" bIns="0" rtlCol="0" anchor="ctr"/>
          <a:lstStyle/>
          <a:p>
            <a:pPr marL="0" indent="0">
              <a:buNone/>
            </a:pPr>
            <a:r>
              <a:rPr lang="en-US" sz="1500" b="1">
                <a:solidFill>
                  <a:srgbClr val="B03A48"/>
                </a:solidFill>
                <a:latin typeface="Calibri" pitchFamily="34" charset="0"/>
                <a:ea typeface="Calibri" pitchFamily="34" charset="-122"/>
                <a:cs typeface="Calibri" pitchFamily="34" charset="-120"/>
              </a:rPr>
              <a:t>The claim that does not</a:t>
            </a:r>
            <a:endParaRPr lang="en-US" sz="1500"/>
          </a:p>
        </p:txBody>
      </p:sp>
      <p:sp>
        <p:nvSpPr>
          <p:cNvPr id="10" name="Text 8"/>
          <p:cNvSpPr txBox="1"/>
          <p:nvPr/>
        </p:nvSpPr>
        <p:spPr>
          <a:xfrm>
            <a:off x="6428232" y="2286000"/>
            <a:ext cx="4965192" cy="1252728"/>
          </a:xfrm>
          <a:prstGeom prst="rect">
            <a:avLst/>
          </a:prstGeom>
          <a:noFill/>
          <a:ln/>
        </p:spPr>
        <p:txBody>
          <a:bodyPr wrap="square" lIns="0" tIns="0" rIns="0" bIns="0" rtlCol="0" anchor="t"/>
          <a:lstStyle/>
          <a:p>
            <a:pPr marL="0" indent="0">
              <a:lnSpc>
                <a:spcPct val="112000"/>
              </a:lnSpc>
              <a:buNone/>
            </a:pPr>
            <a:r>
              <a:rPr lang="en-US" sz="1250">
                <a:solidFill>
                  <a:srgbClr val="0E1330"/>
                </a:solidFill>
                <a:latin typeface="Calibri" pitchFamily="34" charset="0"/>
                <a:ea typeface="Calibri" pitchFamily="34" charset="-122"/>
                <a:cs typeface="Calibri" pitchFamily="34" charset="-120"/>
              </a:rPr>
              <a:t>That synthetic data is automatically anonymous. Controlled evaluations show that without a formal guarantee, synthetic datasets either leak to inference attacks or lose the utility that motivated them [30].</a:t>
            </a:r>
            <a:endParaRPr lang="en-US" sz="1250"/>
          </a:p>
        </p:txBody>
      </p:sp>
      <p:sp>
        <p:nvSpPr>
          <p:cNvPr id="11" name="Text 9"/>
          <p:cNvSpPr txBox="1"/>
          <p:nvPr/>
        </p:nvSpPr>
        <p:spPr>
          <a:xfrm>
            <a:off x="566928" y="3886200"/>
            <a:ext cx="11064240" cy="1783080"/>
          </a:xfrm>
          <a:prstGeom prst="rect">
            <a:avLst/>
          </a:prstGeom>
          <a:noFill/>
          <a:ln/>
        </p:spPr>
        <p:txBody>
          <a:bodyPr wrap="square" lIns="0" tIns="0" rIns="0" bIns="0" rtlCol="0" anchor="t"/>
          <a:lstStyle/>
          <a:p>
            <a:pPr marL="342900" indent="-342900">
              <a:lnSpc>
                <a:spcPct val="110000"/>
              </a:lnSpc>
              <a:spcAft>
                <a:spcPts val="900"/>
              </a:spcAft>
              <a:buSzPct val="100000"/>
              <a:buChar char="▪"/>
            </a:pPr>
            <a:r>
              <a:rPr lang="en-US" sz="1300">
                <a:solidFill>
                  <a:srgbClr val="0E1330"/>
                </a:solidFill>
                <a:latin typeface="Calibri" pitchFamily="34" charset="0"/>
                <a:ea typeface="Calibri" pitchFamily="34" charset="-122"/>
                <a:cs typeface="Calibri" pitchFamily="34" charset="-120"/>
              </a:rPr>
              <a:t>Under GDPR, data is outside scope only if re-identification is reasonably impossible — a property of the generation process, not of the word 'synthetic' [30].</a:t>
            </a:r>
            <a:endParaRPr lang="en-US" sz="1300"/>
          </a:p>
          <a:p>
            <a:pPr marL="342900" indent="-342900">
              <a:lnSpc>
                <a:spcPct val="110000"/>
              </a:lnSpc>
              <a:spcAft>
                <a:spcPts val="900"/>
              </a:spcAft>
              <a:buSzPct val="100000"/>
              <a:buChar char="▪"/>
            </a:pPr>
            <a:r>
              <a:rPr lang="en-US" sz="1300">
                <a:solidFill>
                  <a:srgbClr val="0E1330"/>
                </a:solidFill>
                <a:latin typeface="Calibri" pitchFamily="34" charset="0"/>
                <a:ea typeface="Calibri" pitchFamily="34" charset="-122"/>
                <a:cs typeface="Calibri" pitchFamily="34" charset="-120"/>
              </a:rPr>
              <a:t>Data-protection and sector-specific rules may still apply depending on the jurisdiction, data, organisation and intended use. Synthetic data should therefore be assessed for residual privacy risk rather than assumed to be exempt.</a:t>
            </a:r>
            <a:endParaRPr lang="en-US" sz="1300"/>
          </a:p>
          <a:p>
            <a:pPr marL="342900" indent="-342900">
              <a:lnSpc>
                <a:spcPct val="110000"/>
              </a:lnSpc>
              <a:spcAft>
                <a:spcPts val="900"/>
              </a:spcAft>
              <a:buSzPct val="100000"/>
              <a:buChar char="▪"/>
            </a:pPr>
            <a:r>
              <a:rPr lang="en-US" sz="1300">
                <a:solidFill>
                  <a:srgbClr val="0E1330"/>
                </a:solidFill>
                <a:latin typeface="Calibri" pitchFamily="34" charset="0"/>
                <a:ea typeface="Calibri" pitchFamily="34" charset="-122"/>
                <a:cs typeface="Calibri" pitchFamily="34" charset="-120"/>
              </a:rPr>
              <a:t>Practical consequence: treat a synthetic release as a controlled release. Document the generator, the privacy budget if any, and the audit results [1] [30].</a:t>
            </a:r>
            <a:endParaRPr lang="en-US" sz="1300"/>
          </a:p>
        </p:txBody>
      </p:sp>
      <p:sp>
        <p:nvSpPr>
          <p:cNvPr id="12" name="Text 1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 [24] [25] [26] [30]</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0515600" cy="176972"/>
          </a:xfrm>
          <a:prstGeom prst="rect">
            <a:avLst/>
          </a:prstGeom>
          <a:noFill/>
        </p:spPr>
        <p:txBody>
          <a:bodyPr wrap="square" lIns="0" tIns="0" rIns="0" bIns="0" anchor="t">
            <a:spAutoFit/>
          </a:bodyPr>
          <a:lstStyle/>
          <a:p>
            <a:pPr marL="0" indent="0" algn="l">
              <a:spcAft>
                <a:spcPts val="400"/>
              </a:spcAft>
              <a:buNone/>
            </a:pPr>
            <a:r>
              <a:rPr sz="1150" b="1" i="0">
                <a:solidFill>
                  <a:srgbClr val="0070C0"/>
                </a:solidFill>
                <a:latin typeface="Calibri"/>
              </a:rPr>
              <a:t>DAY 1 · TOPIC 3 · STIXIS EXAMPLE</a:t>
            </a:r>
          </a:p>
        </p:txBody>
      </p:sp>
      <p:sp>
        <p:nvSpPr>
          <p:cNvPr id="3" name="TextBox 2"/>
          <p:cNvSpPr txBox="1"/>
          <p:nvPr/>
        </p:nvSpPr>
        <p:spPr>
          <a:xfrm>
            <a:off x="566928" y="676656"/>
            <a:ext cx="10972800" cy="713232"/>
          </a:xfrm>
          <a:prstGeom prst="rect">
            <a:avLst/>
          </a:prstGeom>
          <a:noFill/>
        </p:spPr>
        <p:txBody>
          <a:bodyPr wrap="square" lIns="0" tIns="0" rIns="0" bIns="0" anchor="t">
            <a:spAutoFit/>
          </a:bodyPr>
          <a:lstStyle/>
          <a:p>
            <a:pPr marL="0" indent="0" algn="l">
              <a:spcAft>
                <a:spcPts val="400"/>
              </a:spcAft>
              <a:buNone/>
            </a:pPr>
            <a:r>
              <a:rPr sz="3000" b="1" i="0">
                <a:solidFill>
                  <a:srgbClr val="0E1330"/>
                </a:solidFill>
                <a:latin typeface="Cambria"/>
              </a:rPr>
              <a:t>A Stixis Example: Glixify</a:t>
            </a:r>
          </a:p>
        </p:txBody>
      </p:sp>
      <p:sp>
        <p:nvSpPr>
          <p:cNvPr id="4" name="TextBox 3"/>
          <p:cNvSpPr txBox="1"/>
          <p:nvPr/>
        </p:nvSpPr>
        <p:spPr>
          <a:xfrm>
            <a:off x="566928" y="6327648"/>
            <a:ext cx="10424160" cy="292608"/>
          </a:xfrm>
          <a:prstGeom prst="rect">
            <a:avLst/>
          </a:prstGeom>
          <a:noFill/>
        </p:spPr>
        <p:txBody>
          <a:bodyPr wrap="square" lIns="0" tIns="0" rIns="0" bIns="0" anchor="t">
            <a:spAutoFit/>
          </a:bodyPr>
          <a:lstStyle/>
          <a:p>
            <a:pPr marL="0" indent="0" algn="l">
              <a:spcAft>
                <a:spcPts val="400"/>
              </a:spcAft>
              <a:buNone/>
            </a:pPr>
            <a:r>
              <a:rPr sz="1000" b="0" i="0">
                <a:solidFill>
                  <a:srgbClr val="5A6079"/>
                </a:solidFill>
                <a:latin typeface="Calibri"/>
              </a:rPr>
              <a:t>Illustrative application scenario — metric names only; no user data shown, and no claim about any production system.</a:t>
            </a:r>
          </a:p>
        </p:txBody>
      </p:sp>
      <p:sp>
        <p:nvSpPr>
          <p:cNvPr id="6" name="TextBox 5"/>
          <p:cNvSpPr txBox="1"/>
          <p:nvPr/>
        </p:nvSpPr>
        <p:spPr>
          <a:xfrm>
            <a:off x="566928" y="1298448"/>
            <a:ext cx="10972800" cy="320040"/>
          </a:xfrm>
          <a:prstGeom prst="rect">
            <a:avLst/>
          </a:prstGeom>
          <a:noFill/>
        </p:spPr>
        <p:txBody>
          <a:bodyPr wrap="square" lIns="0" tIns="0" rIns="0" bIns="0" anchor="t">
            <a:spAutoFit/>
          </a:bodyPr>
          <a:lstStyle/>
          <a:p>
            <a:pPr marL="0" indent="0" algn="l">
              <a:spcAft>
                <a:spcPts val="400"/>
              </a:spcAft>
              <a:buNone/>
            </a:pPr>
            <a:r>
              <a:rPr sz="1500" b="0" i="1">
                <a:solidFill>
                  <a:srgbClr val="5A6079"/>
                </a:solidFill>
                <a:latin typeface="Calibri"/>
              </a:rPr>
              <a:t>Bringing together wearable and continuous glucose monitoring data</a:t>
            </a:r>
          </a:p>
        </p:txBody>
      </p:sp>
      <p:sp>
        <p:nvSpPr>
          <p:cNvPr id="7" name="Rounded Rectangle 6"/>
          <p:cNvSpPr/>
          <p:nvPr/>
        </p:nvSpPr>
        <p:spPr>
          <a:xfrm>
            <a:off x="566928" y="1828800"/>
            <a:ext cx="5989320" cy="4206240"/>
          </a:xfrm>
          <a:prstGeom prst="roundRect">
            <a:avLst>
              <a:gd name="adj" fmla="val 1739"/>
            </a:avLst>
          </a:prstGeom>
          <a:solidFill>
            <a:srgbClr val="EEF1F8"/>
          </a:solidFill>
          <a:ln w="12700">
            <a:solidFill>
              <a:srgbClr val="DCE6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011680"/>
            <a:ext cx="5486400" cy="1005840"/>
          </a:xfrm>
          <a:prstGeom prst="rect">
            <a:avLst/>
          </a:prstGeom>
          <a:noFill/>
        </p:spPr>
        <p:txBody>
          <a:bodyPr wrap="square" lIns="0" tIns="0" rIns="0" bIns="0" anchor="t">
            <a:spAutoFit/>
          </a:bodyPr>
          <a:lstStyle/>
          <a:p>
            <a:pPr marL="0" indent="0" algn="l">
              <a:spcAft>
                <a:spcPts val="400"/>
              </a:spcAft>
              <a:buNone/>
            </a:pPr>
            <a:r>
              <a:rPr sz="1350" b="1" i="0">
                <a:solidFill>
                  <a:srgbClr val="0E1330"/>
                </a:solidFill>
                <a:latin typeface="Calibri"/>
              </a:rPr>
              <a:t>Glixify is a Stixis application scenario where data from wearable devices and continuous glucose monitors (CGMs) can be brought together for analytics and application development.</a:t>
            </a:r>
          </a:p>
        </p:txBody>
      </p:sp>
      <p:sp>
        <p:nvSpPr>
          <p:cNvPr id="9" name="TextBox 8"/>
          <p:cNvSpPr txBox="1"/>
          <p:nvPr/>
        </p:nvSpPr>
        <p:spPr>
          <a:xfrm>
            <a:off x="822960" y="3200400"/>
            <a:ext cx="5486400" cy="274320"/>
          </a:xfrm>
          <a:prstGeom prst="rect">
            <a:avLst/>
          </a:prstGeom>
          <a:noFill/>
        </p:spPr>
        <p:txBody>
          <a:bodyPr wrap="square" lIns="0" tIns="0" rIns="0" bIns="0" anchor="t">
            <a:spAutoFit/>
          </a:bodyPr>
          <a:lstStyle/>
          <a:p>
            <a:pPr marL="0" indent="0" algn="l">
              <a:spcAft>
                <a:spcPts val="400"/>
              </a:spcAft>
              <a:buNone/>
            </a:pPr>
            <a:r>
              <a:rPr sz="1200" b="1" i="0">
                <a:solidFill>
                  <a:srgbClr val="2E3A8C"/>
                </a:solidFill>
                <a:latin typeface="Calibri"/>
              </a:rPr>
              <a:t>Depending on the device and source, the data can include:</a:t>
            </a:r>
          </a:p>
        </p:txBody>
      </p:sp>
      <p:sp>
        <p:nvSpPr>
          <p:cNvPr id="10" name="TextBox 9"/>
          <p:cNvSpPr txBox="1"/>
          <p:nvPr/>
        </p:nvSpPr>
        <p:spPr>
          <a:xfrm>
            <a:off x="822960" y="3566160"/>
            <a:ext cx="2743200" cy="2377440"/>
          </a:xfrm>
          <a:prstGeom prst="rect">
            <a:avLst/>
          </a:prstGeom>
          <a:noFill/>
        </p:spPr>
        <p:txBody>
          <a:bodyPr wrap="square" lIns="0" tIns="0" rIns="0" bIns="0" anchor="t">
            <a:spAutoFit/>
          </a:bodyPr>
          <a:lstStyle/>
          <a:p>
            <a:pPr marL="189864" indent="-189864" algn="l">
              <a:spcAft>
                <a:spcPts val="700"/>
              </a:spcAft>
              <a:buClr>
                <a:srgbClr val="00A896"/>
              </a:buClr>
              <a:buChar char="•"/>
            </a:pPr>
            <a:r>
              <a:rPr sz="1300" b="0" i="0">
                <a:solidFill>
                  <a:srgbClr val="0E1330"/>
                </a:solidFill>
                <a:latin typeface="Calibri"/>
              </a:rPr>
              <a:t>Blood glucose</a:t>
            </a:r>
          </a:p>
          <a:p>
            <a:pPr marL="189864" indent="-189864" algn="l">
              <a:spcAft>
                <a:spcPts val="700"/>
              </a:spcAft>
              <a:buClr>
                <a:srgbClr val="00A896"/>
              </a:buClr>
              <a:buChar char="•"/>
            </a:pPr>
            <a:r>
              <a:rPr sz="1300" b="0" i="0">
                <a:solidFill>
                  <a:srgbClr val="0E1330"/>
                </a:solidFill>
                <a:latin typeface="Calibri"/>
              </a:rPr>
              <a:t>Heart rate</a:t>
            </a:r>
          </a:p>
          <a:p>
            <a:pPr marL="189864" indent="-189864" algn="l">
              <a:spcAft>
                <a:spcPts val="700"/>
              </a:spcAft>
              <a:buClr>
                <a:srgbClr val="00A896"/>
              </a:buClr>
              <a:buChar char="•"/>
            </a:pPr>
            <a:r>
              <a:rPr sz="1300" b="0" i="0">
                <a:solidFill>
                  <a:srgbClr val="0E1330"/>
                </a:solidFill>
                <a:latin typeface="Calibri"/>
              </a:rPr>
              <a:t>Heart rate variability (HRV)</a:t>
            </a:r>
          </a:p>
          <a:p>
            <a:pPr marL="189864" indent="-189864" algn="l">
              <a:spcAft>
                <a:spcPts val="700"/>
              </a:spcAft>
              <a:buClr>
                <a:srgbClr val="00A896"/>
              </a:buClr>
              <a:buChar char="•"/>
            </a:pPr>
            <a:r>
              <a:rPr sz="1300" b="0" i="0">
                <a:solidFill>
                  <a:srgbClr val="0E1330"/>
                </a:solidFill>
                <a:latin typeface="Calibri"/>
              </a:rPr>
              <a:t>SpO₂</a:t>
            </a:r>
          </a:p>
        </p:txBody>
      </p:sp>
      <p:sp>
        <p:nvSpPr>
          <p:cNvPr id="11" name="TextBox 10"/>
          <p:cNvSpPr txBox="1"/>
          <p:nvPr/>
        </p:nvSpPr>
        <p:spPr>
          <a:xfrm>
            <a:off x="3566160" y="3566160"/>
            <a:ext cx="2834640" cy="2377440"/>
          </a:xfrm>
          <a:prstGeom prst="rect">
            <a:avLst/>
          </a:prstGeom>
          <a:noFill/>
        </p:spPr>
        <p:txBody>
          <a:bodyPr wrap="square" lIns="0" tIns="0" rIns="0" bIns="0" anchor="t">
            <a:spAutoFit/>
          </a:bodyPr>
          <a:lstStyle/>
          <a:p>
            <a:pPr marL="189864" indent="-189864" algn="l">
              <a:spcAft>
                <a:spcPts val="700"/>
              </a:spcAft>
              <a:buClr>
                <a:srgbClr val="00A896"/>
              </a:buClr>
              <a:buChar char="•"/>
            </a:pPr>
            <a:r>
              <a:rPr sz="1300" b="0" i="0">
                <a:solidFill>
                  <a:srgbClr val="0E1330"/>
                </a:solidFill>
                <a:latin typeface="Calibri"/>
              </a:rPr>
              <a:t>Sleep</a:t>
            </a:r>
          </a:p>
          <a:p>
            <a:pPr marL="189864" indent="-189864" algn="l">
              <a:spcAft>
                <a:spcPts val="700"/>
              </a:spcAft>
              <a:buClr>
                <a:srgbClr val="00A896"/>
              </a:buClr>
              <a:buChar char="•"/>
            </a:pPr>
            <a:r>
              <a:rPr sz="1300" b="0" i="0">
                <a:solidFill>
                  <a:srgbClr val="0E1330"/>
                </a:solidFill>
                <a:latin typeface="Calibri"/>
              </a:rPr>
              <a:t>Activity</a:t>
            </a:r>
          </a:p>
          <a:p>
            <a:pPr marL="189864" indent="-189864" algn="l">
              <a:spcAft>
                <a:spcPts val="700"/>
              </a:spcAft>
              <a:buClr>
                <a:srgbClr val="00A896"/>
              </a:buClr>
              <a:buChar char="•"/>
            </a:pPr>
            <a:r>
              <a:rPr sz="1300" b="0" i="0">
                <a:solidFill>
                  <a:srgbClr val="0E1330"/>
                </a:solidFill>
                <a:latin typeface="Calibri"/>
              </a:rPr>
              <a:t>Timestamped measurements</a:t>
            </a:r>
          </a:p>
          <a:p>
            <a:pPr marL="189864" indent="-189864" algn="l">
              <a:spcAft>
                <a:spcPts val="700"/>
              </a:spcAft>
              <a:buClr>
                <a:srgbClr val="00A896"/>
              </a:buClr>
              <a:buChar char="•"/>
            </a:pPr>
            <a:r>
              <a:rPr sz="1300" b="0" i="0">
                <a:solidFill>
                  <a:srgbClr val="0E1330"/>
                </a:solidFill>
                <a:latin typeface="Calibri"/>
              </a:rPr>
              <a:t>Device / source information</a:t>
            </a:r>
          </a:p>
        </p:txBody>
      </p:sp>
      <p:sp>
        <p:nvSpPr>
          <p:cNvPr id="12" name="Rounded Rectangle 11"/>
          <p:cNvSpPr/>
          <p:nvPr/>
        </p:nvSpPr>
        <p:spPr>
          <a:xfrm>
            <a:off x="7040880" y="1828800"/>
            <a:ext cx="4572000" cy="786384"/>
          </a:xfrm>
          <a:prstGeom prst="roundRect">
            <a:avLst>
              <a:gd name="adj" fmla="val 9302"/>
            </a:avLst>
          </a:prstGeom>
          <a:solidFill>
            <a:srgbClr val="2E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69480" y="1828800"/>
            <a:ext cx="4114800" cy="786384"/>
          </a:xfrm>
          <a:prstGeom prst="rect">
            <a:avLst/>
          </a:prstGeom>
          <a:noFill/>
        </p:spPr>
        <p:txBody>
          <a:bodyPr wrap="square" lIns="0" tIns="0" rIns="0" bIns="0" anchor="ctr">
            <a:spAutoFit/>
          </a:bodyPr>
          <a:lstStyle/>
          <a:p>
            <a:pPr marL="0" indent="0" algn="l">
              <a:spcAft>
                <a:spcPts val="100"/>
              </a:spcAft>
              <a:buNone/>
            </a:pPr>
            <a:r>
              <a:rPr sz="1500" b="1" i="0">
                <a:solidFill>
                  <a:srgbClr val="FFFFFF"/>
                </a:solidFill>
                <a:latin typeface="Calibri"/>
              </a:rPr>
              <a:t>Wearables + CGM</a:t>
            </a:r>
          </a:p>
          <a:p>
            <a:pPr marL="0" indent="0" algn="l">
              <a:spcAft>
                <a:spcPts val="400"/>
              </a:spcAft>
              <a:buNone/>
            </a:pPr>
            <a:r>
              <a:rPr sz="1050" b="0" i="0">
                <a:solidFill>
                  <a:srgbClr val="FFFFFF"/>
                </a:solidFill>
                <a:latin typeface="Calibri"/>
              </a:rPr>
              <a:t>Data sources</a:t>
            </a:r>
          </a:p>
        </p:txBody>
      </p:sp>
      <p:sp>
        <p:nvSpPr>
          <p:cNvPr id="14" name="Down Arrow 13"/>
          <p:cNvSpPr/>
          <p:nvPr/>
        </p:nvSpPr>
        <p:spPr>
          <a:xfrm>
            <a:off x="9217152" y="2651760"/>
            <a:ext cx="237744" cy="292608"/>
          </a:xfrm>
          <a:prstGeom prst="down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040880" y="2962656"/>
            <a:ext cx="4572000" cy="786384"/>
          </a:xfrm>
          <a:prstGeom prst="roundRect">
            <a:avLst>
              <a:gd name="adj" fmla="val 9302"/>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69480" y="2962656"/>
            <a:ext cx="4114800" cy="786384"/>
          </a:xfrm>
          <a:prstGeom prst="rect">
            <a:avLst/>
          </a:prstGeom>
          <a:noFill/>
        </p:spPr>
        <p:txBody>
          <a:bodyPr wrap="square" lIns="0" tIns="0" rIns="0" bIns="0" anchor="ctr">
            <a:spAutoFit/>
          </a:bodyPr>
          <a:lstStyle/>
          <a:p>
            <a:pPr marL="0" indent="0" algn="l">
              <a:spcAft>
                <a:spcPts val="100"/>
              </a:spcAft>
              <a:buNone/>
            </a:pPr>
            <a:r>
              <a:rPr sz="1500" b="1" i="0">
                <a:solidFill>
                  <a:srgbClr val="FFFFFF"/>
                </a:solidFill>
                <a:latin typeface="Calibri"/>
              </a:rPr>
              <a:t>Glixify</a:t>
            </a:r>
          </a:p>
          <a:p>
            <a:pPr marL="0" indent="0" algn="l">
              <a:spcAft>
                <a:spcPts val="400"/>
              </a:spcAft>
              <a:buNone/>
            </a:pPr>
            <a:r>
              <a:rPr sz="1050" b="0" i="0">
                <a:solidFill>
                  <a:srgbClr val="FFFFFF"/>
                </a:solidFill>
                <a:latin typeface="Calibri"/>
              </a:rPr>
              <a:t>Stixis application</a:t>
            </a:r>
          </a:p>
        </p:txBody>
      </p:sp>
      <p:sp>
        <p:nvSpPr>
          <p:cNvPr id="17" name="Down Arrow 16"/>
          <p:cNvSpPr/>
          <p:nvPr/>
        </p:nvSpPr>
        <p:spPr>
          <a:xfrm>
            <a:off x="9217152" y="3785616"/>
            <a:ext cx="237744" cy="292608"/>
          </a:xfrm>
          <a:prstGeom prst="down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040880" y="4096512"/>
            <a:ext cx="4572000" cy="786384"/>
          </a:xfrm>
          <a:prstGeom prst="roundRect">
            <a:avLst>
              <a:gd name="adj" fmla="val 9302"/>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69480" y="4096512"/>
            <a:ext cx="4114800" cy="786384"/>
          </a:xfrm>
          <a:prstGeom prst="rect">
            <a:avLst/>
          </a:prstGeom>
          <a:noFill/>
        </p:spPr>
        <p:txBody>
          <a:bodyPr wrap="square" lIns="0" tIns="0" rIns="0" bIns="0" anchor="ctr">
            <a:spAutoFit/>
          </a:bodyPr>
          <a:lstStyle/>
          <a:p>
            <a:pPr marL="0" indent="0" algn="l">
              <a:spcAft>
                <a:spcPts val="100"/>
              </a:spcAft>
              <a:buNone/>
            </a:pPr>
            <a:r>
              <a:rPr sz="1500" b="1" i="0">
                <a:solidFill>
                  <a:srgbClr val="FFFFFF"/>
                </a:solidFill>
                <a:latin typeface="Calibri"/>
              </a:rPr>
              <a:t>Health &amp; activity metrics</a:t>
            </a:r>
          </a:p>
          <a:p>
            <a:pPr marL="0" indent="0" algn="l">
              <a:spcAft>
                <a:spcPts val="400"/>
              </a:spcAft>
              <a:buNone/>
            </a:pPr>
            <a:r>
              <a:rPr sz="1050" b="0" i="0">
                <a:solidFill>
                  <a:srgbClr val="FFFFFF"/>
                </a:solidFill>
                <a:latin typeface="Calibri"/>
              </a:rPr>
              <a:t>Glucose · HR · HRV · SpO₂ · sleep · activity</a:t>
            </a:r>
          </a:p>
        </p:txBody>
      </p:sp>
      <p:sp>
        <p:nvSpPr>
          <p:cNvPr id="20" name="Down Arrow 19"/>
          <p:cNvSpPr/>
          <p:nvPr/>
        </p:nvSpPr>
        <p:spPr>
          <a:xfrm>
            <a:off x="9217152" y="4919472"/>
            <a:ext cx="237744" cy="292608"/>
          </a:xfrm>
          <a:prstGeom prst="down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040880" y="5230368"/>
            <a:ext cx="4572000" cy="786384"/>
          </a:xfrm>
          <a:prstGeom prst="roundRect">
            <a:avLst>
              <a:gd name="adj" fmla="val 9302"/>
            </a:avLst>
          </a:prstGeom>
          <a:solidFill>
            <a:srgbClr val="0E1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69480" y="5230368"/>
            <a:ext cx="4114800" cy="786384"/>
          </a:xfrm>
          <a:prstGeom prst="rect">
            <a:avLst/>
          </a:prstGeom>
          <a:noFill/>
        </p:spPr>
        <p:txBody>
          <a:bodyPr wrap="square" lIns="0" tIns="0" rIns="0" bIns="0" anchor="ctr">
            <a:spAutoFit/>
          </a:bodyPr>
          <a:lstStyle/>
          <a:p>
            <a:pPr marL="0" indent="0" algn="l">
              <a:spcAft>
                <a:spcPts val="100"/>
              </a:spcAft>
              <a:buNone/>
            </a:pPr>
            <a:r>
              <a:rPr sz="1500" b="1" i="0">
                <a:solidFill>
                  <a:srgbClr val="FFFFFF"/>
                </a:solidFill>
                <a:latin typeface="Calibri"/>
              </a:rPr>
              <a:t>Analytics / AI / Testing</a:t>
            </a:r>
          </a:p>
          <a:p>
            <a:pPr marL="0" indent="0" algn="l">
              <a:spcAft>
                <a:spcPts val="400"/>
              </a:spcAft>
              <a:buNone/>
            </a:pPr>
            <a:r>
              <a:rPr sz="1050" b="0" i="0">
                <a:solidFill>
                  <a:srgbClr val="FFFFFF"/>
                </a:solidFill>
                <a:latin typeface="Calibri"/>
              </a:rPr>
              <a:t>Where synthetic data becomes relevant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0515600" cy="176972"/>
          </a:xfrm>
          <a:prstGeom prst="rect">
            <a:avLst/>
          </a:prstGeom>
          <a:noFill/>
        </p:spPr>
        <p:txBody>
          <a:bodyPr wrap="square" lIns="0" tIns="0" rIns="0" bIns="0" anchor="t">
            <a:spAutoFit/>
          </a:bodyPr>
          <a:lstStyle/>
          <a:p>
            <a:pPr marL="0" indent="0" algn="l">
              <a:spcAft>
                <a:spcPts val="400"/>
              </a:spcAft>
              <a:buNone/>
            </a:pPr>
            <a:r>
              <a:rPr sz="1150" b="1" i="0">
                <a:solidFill>
                  <a:srgbClr val="0070C0"/>
                </a:solidFill>
                <a:latin typeface="Calibri"/>
              </a:rPr>
              <a:t>DAY 1 · TOPIC 3 · STIXIS EXAMPLE</a:t>
            </a:r>
          </a:p>
        </p:txBody>
      </p:sp>
      <p:sp>
        <p:nvSpPr>
          <p:cNvPr id="3" name="TextBox 2"/>
          <p:cNvSpPr txBox="1"/>
          <p:nvPr/>
        </p:nvSpPr>
        <p:spPr>
          <a:xfrm>
            <a:off x="566928" y="676656"/>
            <a:ext cx="10972800" cy="713232"/>
          </a:xfrm>
          <a:prstGeom prst="rect">
            <a:avLst/>
          </a:prstGeom>
          <a:noFill/>
        </p:spPr>
        <p:txBody>
          <a:bodyPr wrap="square" lIns="0" tIns="0" rIns="0" bIns="0" anchor="t">
            <a:spAutoFit/>
          </a:bodyPr>
          <a:lstStyle/>
          <a:p>
            <a:pPr marL="0" indent="0" algn="l">
              <a:spcAft>
                <a:spcPts val="400"/>
              </a:spcAft>
              <a:buNone/>
            </a:pPr>
            <a:r>
              <a:rPr sz="2600" b="1" i="0">
                <a:solidFill>
                  <a:srgbClr val="0E1330"/>
                </a:solidFill>
                <a:latin typeface="Cambria"/>
              </a:rPr>
              <a:t>What Makes Glixify Data Interesting for Synthetic Data?</a:t>
            </a:r>
          </a:p>
        </p:txBody>
      </p:sp>
      <p:sp>
        <p:nvSpPr>
          <p:cNvPr id="4" name="TextBox 3"/>
          <p:cNvSpPr txBox="1"/>
          <p:nvPr/>
        </p:nvSpPr>
        <p:spPr>
          <a:xfrm>
            <a:off x="566928" y="6327648"/>
            <a:ext cx="10424160" cy="292608"/>
          </a:xfrm>
          <a:prstGeom prst="rect">
            <a:avLst/>
          </a:prstGeom>
          <a:noFill/>
        </p:spPr>
        <p:txBody>
          <a:bodyPr wrap="square" lIns="0" tIns="0" rIns="0" bIns="0" anchor="t">
            <a:spAutoFit/>
          </a:bodyPr>
          <a:lstStyle/>
          <a:p>
            <a:pPr marL="0" indent="0" algn="l">
              <a:spcAft>
                <a:spcPts val="400"/>
              </a:spcAft>
              <a:buNone/>
            </a:pPr>
            <a:r>
              <a:rPr sz="1000" b="0" i="0">
                <a:solidFill>
                  <a:srgbClr val="5A6079"/>
                </a:solidFill>
                <a:latin typeface="Calibri"/>
              </a:rPr>
              <a:t>Illustrative application scenario — metric names only; no user data shown, and no claim about any production system.</a:t>
            </a:r>
          </a:p>
        </p:txBody>
      </p:sp>
      <p:sp>
        <p:nvSpPr>
          <p:cNvPr id="6" name="TextBox 5"/>
          <p:cNvSpPr txBox="1"/>
          <p:nvPr/>
        </p:nvSpPr>
        <p:spPr>
          <a:xfrm>
            <a:off x="566928" y="1298448"/>
            <a:ext cx="10972800" cy="320040"/>
          </a:xfrm>
          <a:prstGeom prst="rect">
            <a:avLst/>
          </a:prstGeom>
          <a:noFill/>
        </p:spPr>
        <p:txBody>
          <a:bodyPr wrap="square" lIns="0" tIns="0" rIns="0" bIns="0" anchor="t">
            <a:spAutoFit/>
          </a:bodyPr>
          <a:lstStyle/>
          <a:p>
            <a:pPr marL="0" indent="0" algn="l">
              <a:spcAft>
                <a:spcPts val="400"/>
              </a:spcAft>
              <a:buNone/>
            </a:pPr>
            <a:r>
              <a:rPr sz="1500" b="0" i="1">
                <a:solidFill>
                  <a:srgbClr val="5A6079"/>
                </a:solidFill>
                <a:latin typeface="Calibri"/>
              </a:rPr>
              <a:t>A Glixify-style dataset is not just a collection of independent columns.</a:t>
            </a:r>
          </a:p>
        </p:txBody>
      </p:sp>
      <p:sp>
        <p:nvSpPr>
          <p:cNvPr id="7" name="Rounded Rectangle 6"/>
          <p:cNvSpPr/>
          <p:nvPr/>
        </p:nvSpPr>
        <p:spPr>
          <a:xfrm>
            <a:off x="566928" y="1828800"/>
            <a:ext cx="4206240" cy="3063240"/>
          </a:xfrm>
          <a:prstGeom prst="roundRect">
            <a:avLst>
              <a:gd name="adj" fmla="val 2388"/>
            </a:avLst>
          </a:prstGeom>
          <a:solidFill>
            <a:srgbClr val="D6F2EC"/>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1984248"/>
            <a:ext cx="3730752" cy="365760"/>
          </a:xfrm>
          <a:prstGeom prst="rect">
            <a:avLst/>
          </a:prstGeom>
          <a:noFill/>
        </p:spPr>
        <p:txBody>
          <a:bodyPr wrap="square" lIns="0" tIns="0" rIns="0" bIns="0" anchor="t">
            <a:spAutoFit/>
          </a:bodyPr>
          <a:lstStyle/>
          <a:p>
            <a:pPr marL="0" indent="0" algn="l">
              <a:spcAft>
                <a:spcPts val="400"/>
              </a:spcAft>
              <a:buNone/>
            </a:pPr>
            <a:r>
              <a:rPr sz="1500" b="1" i="0">
                <a:solidFill>
                  <a:srgbClr val="00A896"/>
                </a:solidFill>
                <a:latin typeface="Calibri"/>
              </a:rPr>
              <a:t>Individual measurements</a:t>
            </a:r>
          </a:p>
        </p:txBody>
      </p:sp>
      <p:sp>
        <p:nvSpPr>
          <p:cNvPr id="9" name="TextBox 8"/>
          <p:cNvSpPr txBox="1"/>
          <p:nvPr/>
        </p:nvSpPr>
        <p:spPr>
          <a:xfrm>
            <a:off x="804672" y="2441448"/>
            <a:ext cx="3730752" cy="2340864"/>
          </a:xfrm>
          <a:prstGeom prst="rect">
            <a:avLst/>
          </a:prstGeom>
          <a:noFill/>
        </p:spPr>
        <p:txBody>
          <a:bodyPr wrap="square" lIns="0" tIns="0" rIns="0" bIns="0" anchor="t">
            <a:spAutoFit/>
          </a:bodyPr>
          <a:lstStyle/>
          <a:p>
            <a:pPr marL="189864" indent="-189864" algn="l">
              <a:spcAft>
                <a:spcPts val="500"/>
              </a:spcAft>
              <a:buClr>
                <a:srgbClr val="00A896"/>
              </a:buClr>
              <a:buChar char="•"/>
            </a:pPr>
            <a:r>
              <a:rPr sz="1300" b="0" i="0">
                <a:solidFill>
                  <a:srgbClr val="0E1330"/>
                </a:solidFill>
                <a:latin typeface="Calibri"/>
              </a:rPr>
              <a:t>Blood glucose</a:t>
            </a:r>
          </a:p>
          <a:p>
            <a:pPr marL="189864" indent="-189864" algn="l">
              <a:spcAft>
                <a:spcPts val="500"/>
              </a:spcAft>
              <a:buClr>
                <a:srgbClr val="00A896"/>
              </a:buClr>
              <a:buChar char="•"/>
            </a:pPr>
            <a:r>
              <a:rPr sz="1300" b="0" i="0">
                <a:solidFill>
                  <a:srgbClr val="0E1330"/>
                </a:solidFill>
                <a:latin typeface="Calibri"/>
              </a:rPr>
              <a:t>Heart rate</a:t>
            </a:r>
          </a:p>
          <a:p>
            <a:pPr marL="189864" indent="-189864" algn="l">
              <a:spcAft>
                <a:spcPts val="500"/>
              </a:spcAft>
              <a:buClr>
                <a:srgbClr val="00A896"/>
              </a:buClr>
              <a:buChar char="•"/>
            </a:pPr>
            <a:r>
              <a:rPr sz="1300" b="0" i="0">
                <a:solidFill>
                  <a:srgbClr val="0E1330"/>
                </a:solidFill>
                <a:latin typeface="Calibri"/>
              </a:rPr>
              <a:t>HRV</a:t>
            </a:r>
          </a:p>
          <a:p>
            <a:pPr marL="189864" indent="-189864" algn="l">
              <a:spcAft>
                <a:spcPts val="500"/>
              </a:spcAft>
              <a:buClr>
                <a:srgbClr val="00A896"/>
              </a:buClr>
              <a:buChar char="•"/>
            </a:pPr>
            <a:r>
              <a:rPr sz="1300" b="0" i="0">
                <a:solidFill>
                  <a:srgbClr val="0E1330"/>
                </a:solidFill>
                <a:latin typeface="Calibri"/>
              </a:rPr>
              <a:t>SpO₂</a:t>
            </a:r>
          </a:p>
          <a:p>
            <a:pPr marL="189864" indent="-189864" algn="l">
              <a:spcAft>
                <a:spcPts val="500"/>
              </a:spcAft>
              <a:buClr>
                <a:srgbClr val="00A896"/>
              </a:buClr>
              <a:buChar char="•"/>
            </a:pPr>
            <a:r>
              <a:rPr sz="1300" b="0" i="0">
                <a:solidFill>
                  <a:srgbClr val="0E1330"/>
                </a:solidFill>
                <a:latin typeface="Calibri"/>
              </a:rPr>
              <a:t>Sleep duration</a:t>
            </a:r>
          </a:p>
          <a:p>
            <a:pPr marL="189864" indent="-189864" algn="l">
              <a:spcAft>
                <a:spcPts val="500"/>
              </a:spcAft>
              <a:buClr>
                <a:srgbClr val="00A896"/>
              </a:buClr>
              <a:buChar char="•"/>
            </a:pPr>
            <a:r>
              <a:rPr sz="1300" b="0" i="0">
                <a:solidFill>
                  <a:srgbClr val="0E1330"/>
                </a:solidFill>
                <a:latin typeface="Calibri"/>
              </a:rPr>
              <a:t>Activity</a:t>
            </a:r>
          </a:p>
          <a:p>
            <a:pPr marL="189864" indent="-189864" algn="l">
              <a:spcAft>
                <a:spcPts val="500"/>
              </a:spcAft>
              <a:buClr>
                <a:srgbClr val="00A896"/>
              </a:buClr>
              <a:buChar char="•"/>
            </a:pPr>
            <a:r>
              <a:rPr sz="1300" b="0" i="0">
                <a:solidFill>
                  <a:srgbClr val="0E1330"/>
                </a:solidFill>
                <a:latin typeface="Calibri"/>
              </a:rPr>
              <a:t>Timestamp</a:t>
            </a:r>
          </a:p>
        </p:txBody>
      </p:sp>
      <p:sp>
        <p:nvSpPr>
          <p:cNvPr id="10" name="Rounded Rectangle 9"/>
          <p:cNvSpPr/>
          <p:nvPr/>
        </p:nvSpPr>
        <p:spPr>
          <a:xfrm>
            <a:off x="4983480" y="1828800"/>
            <a:ext cx="6629400" cy="3063240"/>
          </a:xfrm>
          <a:prstGeom prst="roundRect">
            <a:avLst>
              <a:gd name="adj" fmla="val 2388"/>
            </a:avLst>
          </a:prstGeom>
          <a:solidFill>
            <a:srgbClr val="EEF1F8"/>
          </a:solidFill>
          <a:ln w="12700">
            <a:solidFill>
              <a:srgbClr val="DCE6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21224" y="1984248"/>
            <a:ext cx="6153912" cy="365760"/>
          </a:xfrm>
          <a:prstGeom prst="rect">
            <a:avLst/>
          </a:prstGeom>
          <a:noFill/>
        </p:spPr>
        <p:txBody>
          <a:bodyPr wrap="square" lIns="0" tIns="0" rIns="0" bIns="0" anchor="t">
            <a:spAutoFit/>
          </a:bodyPr>
          <a:lstStyle/>
          <a:p>
            <a:pPr marL="0" indent="0" algn="l">
              <a:spcAft>
                <a:spcPts val="400"/>
              </a:spcAft>
              <a:buNone/>
            </a:pPr>
            <a:r>
              <a:rPr sz="1500" b="1" i="0">
                <a:solidFill>
                  <a:srgbClr val="2E3A8C"/>
                </a:solidFill>
                <a:latin typeface="Calibri"/>
              </a:rPr>
              <a:t>But the important information is also in the relationships</a:t>
            </a:r>
          </a:p>
        </p:txBody>
      </p:sp>
      <p:sp>
        <p:nvSpPr>
          <p:cNvPr id="12" name="TextBox 11"/>
          <p:cNvSpPr txBox="1"/>
          <p:nvPr/>
        </p:nvSpPr>
        <p:spPr>
          <a:xfrm>
            <a:off x="5221224" y="2441448"/>
            <a:ext cx="6153912" cy="2340864"/>
          </a:xfrm>
          <a:prstGeom prst="rect">
            <a:avLst/>
          </a:prstGeom>
          <a:noFill/>
        </p:spPr>
        <p:txBody>
          <a:bodyPr wrap="square" lIns="0" tIns="0" rIns="0" bIns="0" anchor="t">
            <a:spAutoFit/>
          </a:bodyPr>
          <a:lstStyle/>
          <a:p>
            <a:pPr marL="189864" indent="-189864" algn="l">
              <a:spcAft>
                <a:spcPts val="500"/>
              </a:spcAft>
              <a:buClr>
                <a:srgbClr val="2E3A8C"/>
              </a:buClr>
              <a:buChar char="•"/>
            </a:pPr>
            <a:r>
              <a:rPr sz="1300" b="0" i="0">
                <a:solidFill>
                  <a:srgbClr val="0E1330"/>
                </a:solidFill>
                <a:latin typeface="Calibri"/>
              </a:rPr>
              <a:t>Measurements change over time.</a:t>
            </a:r>
          </a:p>
          <a:p>
            <a:pPr marL="189864" indent="-189864" algn="l">
              <a:spcAft>
                <a:spcPts val="500"/>
              </a:spcAft>
              <a:buClr>
                <a:srgbClr val="2E3A8C"/>
              </a:buClr>
              <a:buChar char="•"/>
            </a:pPr>
            <a:r>
              <a:rPr sz="1300" b="0" i="0">
                <a:solidFill>
                  <a:srgbClr val="0E1330"/>
                </a:solidFill>
                <a:latin typeface="Calibri"/>
              </a:rPr>
              <a:t>Activity and heart rate can be related.</a:t>
            </a:r>
          </a:p>
          <a:p>
            <a:pPr marL="189864" indent="-189864" algn="l">
              <a:spcAft>
                <a:spcPts val="500"/>
              </a:spcAft>
              <a:buClr>
                <a:srgbClr val="2E3A8C"/>
              </a:buClr>
              <a:buChar char="•"/>
            </a:pPr>
            <a:r>
              <a:rPr sz="1300" b="0" i="0">
                <a:solidFill>
                  <a:srgbClr val="0E1330"/>
                </a:solidFill>
                <a:latin typeface="Calibri"/>
              </a:rPr>
              <a:t>Sleep characteristics can be associated with subsequent activity or physiological measurements.</a:t>
            </a:r>
          </a:p>
          <a:p>
            <a:pPr marL="189864" indent="-189864" algn="l">
              <a:spcAft>
                <a:spcPts val="500"/>
              </a:spcAft>
              <a:buClr>
                <a:srgbClr val="2E3A8C"/>
              </a:buClr>
              <a:buChar char="•"/>
            </a:pPr>
            <a:r>
              <a:rPr sz="1300" b="0" i="0">
                <a:solidFill>
                  <a:srgbClr val="0E1330"/>
                </a:solidFill>
                <a:latin typeface="Calibri"/>
              </a:rPr>
              <a:t>Glucose measurements form a time-dependent sequence.</a:t>
            </a:r>
          </a:p>
          <a:p>
            <a:pPr marL="189864" indent="-189864" algn="l">
              <a:spcAft>
                <a:spcPts val="500"/>
              </a:spcAft>
              <a:buClr>
                <a:srgbClr val="2E3A8C"/>
              </a:buClr>
              <a:buChar char="•"/>
            </a:pPr>
            <a:r>
              <a:rPr sz="1300" b="0" i="0">
                <a:solidFill>
                  <a:srgbClr val="0E1330"/>
                </a:solidFill>
                <a:latin typeface="Calibri"/>
              </a:rPr>
              <a:t>Different devices may produce data at different frequencies.</a:t>
            </a:r>
          </a:p>
          <a:p>
            <a:pPr marL="189864" indent="-189864" algn="l">
              <a:spcAft>
                <a:spcPts val="500"/>
              </a:spcAft>
              <a:buClr>
                <a:srgbClr val="2E3A8C"/>
              </a:buClr>
              <a:buChar char="•"/>
            </a:pPr>
            <a:r>
              <a:rPr sz="1300" b="0" i="0">
                <a:solidFill>
                  <a:srgbClr val="0E1330"/>
                </a:solidFill>
                <a:latin typeface="Calibri"/>
              </a:rPr>
              <a:t>Missing observations can occur because of device or connectivity gaps.</a:t>
            </a:r>
          </a:p>
        </p:txBody>
      </p:sp>
      <p:sp>
        <p:nvSpPr>
          <p:cNvPr id="13" name="Rounded Rectangle 12"/>
          <p:cNvSpPr/>
          <p:nvPr/>
        </p:nvSpPr>
        <p:spPr>
          <a:xfrm>
            <a:off x="566928" y="5120640"/>
            <a:ext cx="11045952" cy="1024128"/>
          </a:xfrm>
          <a:prstGeom prst="roundRect">
            <a:avLst>
              <a:gd name="adj" fmla="val 7142"/>
            </a:avLst>
          </a:prstGeom>
          <a:solidFill>
            <a:srgbClr val="0E1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5120640"/>
            <a:ext cx="10497312" cy="1024128"/>
          </a:xfrm>
          <a:prstGeom prst="rect">
            <a:avLst/>
          </a:prstGeom>
          <a:noFill/>
        </p:spPr>
        <p:txBody>
          <a:bodyPr wrap="square" lIns="0" tIns="0" rIns="0" bIns="0" anchor="ctr">
            <a:spAutoFit/>
          </a:bodyPr>
          <a:lstStyle/>
          <a:p>
            <a:pPr marL="0" indent="0" algn="l">
              <a:spcAft>
                <a:spcPts val="300"/>
              </a:spcAft>
              <a:buNone/>
            </a:pPr>
            <a:r>
              <a:rPr sz="1050" b="1" i="0">
                <a:solidFill>
                  <a:srgbClr val="6FE3D6"/>
                </a:solidFill>
                <a:latin typeface="Calibri"/>
              </a:rPr>
              <a:t>KEY TEACHING POINT</a:t>
            </a:r>
          </a:p>
          <a:p>
            <a:pPr marL="0" indent="0" algn="l">
              <a:spcAft>
                <a:spcPts val="400"/>
              </a:spcAft>
              <a:buNone/>
            </a:pPr>
            <a:r>
              <a:rPr sz="1600" b="0" i="1">
                <a:solidFill>
                  <a:srgbClr val="FFFFFF"/>
                </a:solidFill>
                <a:latin typeface="Cambria"/>
              </a:rPr>
              <a:t>Synthetic data should preserve the relationships that matter for the intended use case — not simply make every individual column look realistic.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0515600" cy="176972"/>
          </a:xfrm>
          <a:prstGeom prst="rect">
            <a:avLst/>
          </a:prstGeom>
          <a:noFill/>
        </p:spPr>
        <p:txBody>
          <a:bodyPr wrap="square" lIns="0" tIns="0" rIns="0" bIns="0" anchor="t">
            <a:spAutoFit/>
          </a:bodyPr>
          <a:lstStyle/>
          <a:p>
            <a:pPr marL="0" indent="0" algn="l">
              <a:spcAft>
                <a:spcPts val="400"/>
              </a:spcAft>
              <a:buNone/>
            </a:pPr>
            <a:r>
              <a:rPr sz="1150" b="1" i="0">
                <a:solidFill>
                  <a:srgbClr val="0070C0"/>
                </a:solidFill>
                <a:latin typeface="Calibri"/>
              </a:rPr>
              <a:t>DAY 1 · TOPIC 3 · STIXIS EXAMPLE</a:t>
            </a:r>
          </a:p>
        </p:txBody>
      </p:sp>
      <p:sp>
        <p:nvSpPr>
          <p:cNvPr id="3" name="TextBox 2"/>
          <p:cNvSpPr txBox="1"/>
          <p:nvPr/>
        </p:nvSpPr>
        <p:spPr>
          <a:xfrm>
            <a:off x="566928" y="676656"/>
            <a:ext cx="10972800" cy="713232"/>
          </a:xfrm>
          <a:prstGeom prst="rect">
            <a:avLst/>
          </a:prstGeom>
          <a:noFill/>
        </p:spPr>
        <p:txBody>
          <a:bodyPr wrap="square" lIns="0" tIns="0" rIns="0" bIns="0" anchor="t">
            <a:spAutoFit/>
          </a:bodyPr>
          <a:lstStyle/>
          <a:p>
            <a:pPr marL="0" indent="0" algn="l">
              <a:spcAft>
                <a:spcPts val="400"/>
              </a:spcAft>
              <a:buNone/>
            </a:pPr>
            <a:r>
              <a:rPr sz="3000" b="1" i="0">
                <a:solidFill>
                  <a:srgbClr val="0E1330"/>
                </a:solidFill>
                <a:latin typeface="Cambria"/>
              </a:rPr>
              <a:t>The Synthetic Data Question for Glixify</a:t>
            </a:r>
          </a:p>
        </p:txBody>
      </p:sp>
      <p:sp>
        <p:nvSpPr>
          <p:cNvPr id="4" name="TextBox 3"/>
          <p:cNvSpPr txBox="1"/>
          <p:nvPr/>
        </p:nvSpPr>
        <p:spPr>
          <a:xfrm>
            <a:off x="566928" y="6327648"/>
            <a:ext cx="10424160" cy="292608"/>
          </a:xfrm>
          <a:prstGeom prst="rect">
            <a:avLst/>
          </a:prstGeom>
          <a:noFill/>
        </p:spPr>
        <p:txBody>
          <a:bodyPr wrap="square" lIns="0" tIns="0" rIns="0" bIns="0" anchor="t">
            <a:spAutoFit/>
          </a:bodyPr>
          <a:lstStyle/>
          <a:p>
            <a:pPr marL="0" indent="0" algn="l">
              <a:spcAft>
                <a:spcPts val="400"/>
              </a:spcAft>
              <a:buNone/>
            </a:pPr>
            <a:r>
              <a:rPr sz="1000" b="0" i="0">
                <a:solidFill>
                  <a:srgbClr val="5A6079"/>
                </a:solidFill>
                <a:latin typeface="Calibri"/>
              </a:rPr>
              <a:t>Illustrative application scenario — metric names only; no user data shown, and no claim about any production system.</a:t>
            </a:r>
          </a:p>
        </p:txBody>
      </p:sp>
      <p:sp>
        <p:nvSpPr>
          <p:cNvPr id="6" name="Rounded Rectangle 5"/>
          <p:cNvSpPr/>
          <p:nvPr/>
        </p:nvSpPr>
        <p:spPr>
          <a:xfrm>
            <a:off x="566928" y="1691640"/>
            <a:ext cx="5212080" cy="2834640"/>
          </a:xfrm>
          <a:prstGeom prst="roundRect">
            <a:avLst>
              <a:gd name="adj" fmla="val 2580"/>
            </a:avLst>
          </a:prstGeom>
          <a:solidFill>
            <a:srgbClr val="EEF1F8"/>
          </a:solidFill>
          <a:ln w="12700">
            <a:solidFill>
              <a:srgbClr val="DCE6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847088"/>
            <a:ext cx="4736592" cy="365760"/>
          </a:xfrm>
          <a:prstGeom prst="rect">
            <a:avLst/>
          </a:prstGeom>
          <a:noFill/>
        </p:spPr>
        <p:txBody>
          <a:bodyPr wrap="square" lIns="0" tIns="0" rIns="0" bIns="0" anchor="t">
            <a:spAutoFit/>
          </a:bodyPr>
          <a:lstStyle/>
          <a:p>
            <a:pPr marL="0" indent="0" algn="l">
              <a:spcAft>
                <a:spcPts val="400"/>
              </a:spcAft>
              <a:buNone/>
            </a:pPr>
            <a:r>
              <a:rPr sz="1450" b="1" i="0">
                <a:solidFill>
                  <a:srgbClr val="2E3A8C"/>
                </a:solidFill>
                <a:latin typeface="Calibri"/>
              </a:rPr>
              <a:t>Imagine a large collection of real Glixify records</a:t>
            </a:r>
          </a:p>
        </p:txBody>
      </p:sp>
      <p:sp>
        <p:nvSpPr>
          <p:cNvPr id="8" name="TextBox 7"/>
          <p:cNvSpPr txBox="1"/>
          <p:nvPr/>
        </p:nvSpPr>
        <p:spPr>
          <a:xfrm>
            <a:off x="804672" y="2304288"/>
            <a:ext cx="4736592" cy="2112264"/>
          </a:xfrm>
          <a:prstGeom prst="rect">
            <a:avLst/>
          </a:prstGeom>
          <a:noFill/>
        </p:spPr>
        <p:txBody>
          <a:bodyPr wrap="square" lIns="0" tIns="0" rIns="0" bIns="0" anchor="t">
            <a:spAutoFit/>
          </a:bodyPr>
          <a:lstStyle/>
          <a:p>
            <a:pPr marL="0" indent="0" algn="l">
              <a:spcAft>
                <a:spcPts val="600"/>
              </a:spcAft>
              <a:buNone/>
            </a:pPr>
            <a:r>
              <a:rPr sz="1200" b="1" i="0">
                <a:solidFill>
                  <a:srgbClr val="5A6079"/>
                </a:solidFill>
                <a:latin typeface="Calibri"/>
              </a:rPr>
              <a:t>We may want to:</a:t>
            </a:r>
          </a:p>
          <a:p>
            <a:pPr marL="175260" indent="-175260" algn="l">
              <a:spcAft>
                <a:spcPts val="400"/>
              </a:spcAft>
              <a:buClr>
                <a:srgbClr val="2E3A8C"/>
              </a:buClr>
              <a:buChar char="•"/>
            </a:pPr>
            <a:r>
              <a:rPr sz="1200" b="0" i="0">
                <a:solidFill>
                  <a:srgbClr val="0E1330"/>
                </a:solidFill>
                <a:latin typeface="Calibri"/>
              </a:rPr>
              <a:t>Develop and test analytics without exposing real user records</a:t>
            </a:r>
          </a:p>
          <a:p>
            <a:pPr marL="175260" indent="-175260" algn="l">
              <a:spcAft>
                <a:spcPts val="400"/>
              </a:spcAft>
              <a:buClr>
                <a:srgbClr val="2E3A8C"/>
              </a:buClr>
              <a:buChar char="•"/>
            </a:pPr>
            <a:r>
              <a:rPr sz="1200" b="0" i="0">
                <a:solidFill>
                  <a:srgbClr val="0E1330"/>
                </a:solidFill>
                <a:latin typeface="Calibri"/>
              </a:rPr>
              <a:t>Test applications at larger scale</a:t>
            </a:r>
          </a:p>
          <a:p>
            <a:pPr marL="175260" indent="-175260" algn="l">
              <a:spcAft>
                <a:spcPts val="400"/>
              </a:spcAft>
              <a:buClr>
                <a:srgbClr val="2E3A8C"/>
              </a:buClr>
              <a:buChar char="•"/>
            </a:pPr>
            <a:r>
              <a:rPr sz="1200" b="0" i="0">
                <a:solidFill>
                  <a:srgbClr val="0E1330"/>
                </a:solidFill>
                <a:latin typeface="Calibri"/>
              </a:rPr>
              <a:t>Create representative datasets for development</a:t>
            </a:r>
          </a:p>
          <a:p>
            <a:pPr marL="175260" indent="-175260" algn="l">
              <a:spcAft>
                <a:spcPts val="400"/>
              </a:spcAft>
              <a:buClr>
                <a:srgbClr val="2E3A8C"/>
              </a:buClr>
              <a:buChar char="•"/>
            </a:pPr>
            <a:r>
              <a:rPr sz="1200" b="0" i="0">
                <a:solidFill>
                  <a:srgbClr val="0E1330"/>
                </a:solidFill>
                <a:latin typeface="Calibri"/>
              </a:rPr>
              <a:t>Explore unusual but plausible scenarios</a:t>
            </a:r>
          </a:p>
          <a:p>
            <a:pPr marL="175260" indent="-175260" algn="l">
              <a:spcAft>
                <a:spcPts val="400"/>
              </a:spcAft>
              <a:buClr>
                <a:srgbClr val="2E3A8C"/>
              </a:buClr>
              <a:buChar char="•"/>
            </a:pPr>
            <a:r>
              <a:rPr sz="1200" b="0" i="0">
                <a:solidFill>
                  <a:srgbClr val="0E1330"/>
                </a:solidFill>
                <a:latin typeface="Calibri"/>
              </a:rPr>
              <a:t>Share representative data with teams that do not need access to real user records</a:t>
            </a:r>
          </a:p>
        </p:txBody>
      </p:sp>
      <p:sp>
        <p:nvSpPr>
          <p:cNvPr id="9" name="Rounded Rectangle 8"/>
          <p:cNvSpPr/>
          <p:nvPr/>
        </p:nvSpPr>
        <p:spPr>
          <a:xfrm>
            <a:off x="6035040" y="1691640"/>
            <a:ext cx="5577840" cy="2834640"/>
          </a:xfrm>
          <a:prstGeom prst="roundRect">
            <a:avLst>
              <a:gd name="adj" fmla="val 2580"/>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2212848"/>
            <a:ext cx="4937760" cy="161583"/>
          </a:xfrm>
          <a:prstGeom prst="rect">
            <a:avLst/>
          </a:prstGeom>
          <a:noFill/>
        </p:spPr>
        <p:txBody>
          <a:bodyPr wrap="square" lIns="0" tIns="0" rIns="0" bIns="0" anchor="t">
            <a:spAutoFit/>
          </a:bodyPr>
          <a:lstStyle/>
          <a:p>
            <a:pPr marL="0" indent="0" algn="l">
              <a:spcAft>
                <a:spcPts val="400"/>
              </a:spcAft>
              <a:buNone/>
            </a:pPr>
            <a:r>
              <a:rPr sz="1050" b="1" i="0">
                <a:solidFill>
                  <a:schemeClr val="bg1"/>
                </a:solidFill>
                <a:latin typeface="Calibri"/>
              </a:rPr>
              <a:t>THE QUESTION</a:t>
            </a:r>
          </a:p>
        </p:txBody>
      </p:sp>
      <p:sp>
        <p:nvSpPr>
          <p:cNvPr id="11" name="TextBox 10"/>
          <p:cNvSpPr txBox="1"/>
          <p:nvPr/>
        </p:nvSpPr>
        <p:spPr>
          <a:xfrm>
            <a:off x="6355080" y="2493407"/>
            <a:ext cx="5074920" cy="1231106"/>
          </a:xfrm>
          <a:prstGeom prst="rect">
            <a:avLst/>
          </a:prstGeom>
          <a:noFill/>
        </p:spPr>
        <p:txBody>
          <a:bodyPr wrap="square" lIns="0" tIns="0" rIns="0" bIns="0" anchor="t">
            <a:spAutoFit/>
          </a:bodyPr>
          <a:lstStyle/>
          <a:p>
            <a:pPr marL="0" indent="0" algn="l">
              <a:spcAft>
                <a:spcPts val="400"/>
              </a:spcAft>
              <a:buNone/>
            </a:pPr>
            <a:r>
              <a:rPr sz="2000" b="0" i="1">
                <a:solidFill>
                  <a:srgbClr val="FFFFFF"/>
                </a:solidFill>
                <a:latin typeface="Cambria"/>
              </a:rPr>
              <a:t>Can we generate synthetic </a:t>
            </a:r>
            <a:r>
              <a:rPr sz="2000" b="0" i="1" err="1">
                <a:solidFill>
                  <a:srgbClr val="FFFFFF"/>
                </a:solidFill>
                <a:latin typeface="Cambria"/>
              </a:rPr>
              <a:t>Glixify</a:t>
            </a:r>
            <a:r>
              <a:rPr sz="2000" b="0" i="1">
                <a:solidFill>
                  <a:srgbClr val="FFFFFF"/>
                </a:solidFill>
                <a:latin typeface="Cambria"/>
              </a:rPr>
              <a:t>-style data that preserves the important statistical and temporal relationships without simply copying real users?</a:t>
            </a:r>
          </a:p>
        </p:txBody>
      </p:sp>
      <p:sp>
        <p:nvSpPr>
          <p:cNvPr id="12" name="Rounded Rectangle 11"/>
          <p:cNvSpPr/>
          <p:nvPr/>
        </p:nvSpPr>
        <p:spPr>
          <a:xfrm>
            <a:off x="566928" y="4846320"/>
            <a:ext cx="2048256" cy="658368"/>
          </a:xfrm>
          <a:prstGeom prst="roundRect">
            <a:avLst>
              <a:gd name="adj" fmla="val 11111"/>
            </a:avLst>
          </a:prstGeom>
          <a:solidFill>
            <a:srgbClr val="2E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846320"/>
            <a:ext cx="2048256" cy="658368"/>
          </a:xfrm>
          <a:prstGeom prst="rect">
            <a:avLst/>
          </a:prstGeom>
          <a:noFill/>
        </p:spPr>
        <p:txBody>
          <a:bodyPr wrap="square" lIns="0" tIns="0" rIns="0" bIns="0" anchor="ctr">
            <a:spAutoFit/>
          </a:bodyPr>
          <a:lstStyle/>
          <a:p>
            <a:pPr marL="0" indent="0" algn="ctr">
              <a:spcAft>
                <a:spcPts val="400"/>
              </a:spcAft>
              <a:buNone/>
            </a:pPr>
            <a:r>
              <a:rPr sz="1350" b="1" i="0">
                <a:solidFill>
                  <a:srgbClr val="FFFFFF"/>
                </a:solidFill>
                <a:latin typeface="Calibri"/>
              </a:rPr>
              <a:t>Real data</a:t>
            </a:r>
          </a:p>
        </p:txBody>
      </p:sp>
      <p:sp>
        <p:nvSpPr>
          <p:cNvPr id="14" name="Right Arrow 13"/>
          <p:cNvSpPr/>
          <p:nvPr/>
        </p:nvSpPr>
        <p:spPr>
          <a:xfrm>
            <a:off x="2615184" y="5056632"/>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816352" y="4846320"/>
            <a:ext cx="2048256" cy="658368"/>
          </a:xfrm>
          <a:prstGeom prst="roundRect">
            <a:avLst>
              <a:gd name="adj" fmla="val 11111"/>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16352" y="4846320"/>
            <a:ext cx="2048256" cy="658368"/>
          </a:xfrm>
          <a:prstGeom prst="rect">
            <a:avLst/>
          </a:prstGeom>
          <a:noFill/>
        </p:spPr>
        <p:txBody>
          <a:bodyPr wrap="square" lIns="0" tIns="0" rIns="0" bIns="0" anchor="ctr">
            <a:spAutoFit/>
          </a:bodyPr>
          <a:lstStyle/>
          <a:p>
            <a:pPr marL="0" indent="0" algn="ctr">
              <a:spcAft>
                <a:spcPts val="400"/>
              </a:spcAft>
              <a:buNone/>
            </a:pPr>
            <a:r>
              <a:rPr sz="1350" b="1" i="0">
                <a:solidFill>
                  <a:srgbClr val="FFFFFF"/>
                </a:solidFill>
                <a:latin typeface="Calibri"/>
              </a:rPr>
              <a:t>Learn structure</a:t>
            </a:r>
          </a:p>
        </p:txBody>
      </p:sp>
      <p:sp>
        <p:nvSpPr>
          <p:cNvPr id="17" name="Right Arrow 16"/>
          <p:cNvSpPr/>
          <p:nvPr/>
        </p:nvSpPr>
        <p:spPr>
          <a:xfrm>
            <a:off x="4864608" y="5056632"/>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65776" y="4846320"/>
            <a:ext cx="2048256" cy="658368"/>
          </a:xfrm>
          <a:prstGeom prst="roundRect">
            <a:avLst>
              <a:gd name="adj" fmla="val 11111"/>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65776" y="4846320"/>
            <a:ext cx="2048256" cy="658368"/>
          </a:xfrm>
          <a:prstGeom prst="rect">
            <a:avLst/>
          </a:prstGeom>
          <a:noFill/>
        </p:spPr>
        <p:txBody>
          <a:bodyPr wrap="square" lIns="0" tIns="0" rIns="0" bIns="0" anchor="ctr">
            <a:spAutoFit/>
          </a:bodyPr>
          <a:lstStyle/>
          <a:p>
            <a:pPr marL="0" indent="0" algn="ctr">
              <a:spcAft>
                <a:spcPts val="400"/>
              </a:spcAft>
              <a:buNone/>
            </a:pPr>
            <a:r>
              <a:rPr sz="1350" b="1" i="0">
                <a:solidFill>
                  <a:srgbClr val="FFFFFF"/>
                </a:solidFill>
                <a:latin typeface="Calibri"/>
              </a:rPr>
              <a:t>Generate synthetic data</a:t>
            </a:r>
          </a:p>
        </p:txBody>
      </p:sp>
      <p:sp>
        <p:nvSpPr>
          <p:cNvPr id="20" name="Right Arrow 19"/>
          <p:cNvSpPr/>
          <p:nvPr/>
        </p:nvSpPr>
        <p:spPr>
          <a:xfrm>
            <a:off x="7114032" y="5056632"/>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315200" y="4846320"/>
            <a:ext cx="2048256" cy="658368"/>
          </a:xfrm>
          <a:prstGeom prst="roundRect">
            <a:avLst>
              <a:gd name="adj" fmla="val 11111"/>
            </a:avLst>
          </a:prstGeom>
          <a:solidFill>
            <a:srgbClr val="2E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0" y="4846320"/>
            <a:ext cx="2048256" cy="658368"/>
          </a:xfrm>
          <a:prstGeom prst="rect">
            <a:avLst/>
          </a:prstGeom>
          <a:noFill/>
        </p:spPr>
        <p:txBody>
          <a:bodyPr wrap="square" lIns="0" tIns="0" rIns="0" bIns="0" anchor="ctr">
            <a:spAutoFit/>
          </a:bodyPr>
          <a:lstStyle/>
          <a:p>
            <a:pPr marL="0" indent="0" algn="ctr">
              <a:spcAft>
                <a:spcPts val="400"/>
              </a:spcAft>
              <a:buNone/>
            </a:pPr>
            <a:r>
              <a:rPr sz="1350" b="1" i="0">
                <a:solidFill>
                  <a:srgbClr val="FFFFFF"/>
                </a:solidFill>
                <a:latin typeface="Calibri"/>
              </a:rPr>
              <a:t>Validate</a:t>
            </a:r>
          </a:p>
        </p:txBody>
      </p:sp>
      <p:sp>
        <p:nvSpPr>
          <p:cNvPr id="23" name="Right Arrow 22"/>
          <p:cNvSpPr/>
          <p:nvPr/>
        </p:nvSpPr>
        <p:spPr>
          <a:xfrm>
            <a:off x="9363456" y="5056632"/>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564624" y="4846320"/>
            <a:ext cx="2048256" cy="658368"/>
          </a:xfrm>
          <a:prstGeom prst="roundRect">
            <a:avLst>
              <a:gd name="adj" fmla="val 11111"/>
            </a:avLst>
          </a:prstGeom>
          <a:solidFill>
            <a:srgbClr val="0E1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564624" y="4846320"/>
            <a:ext cx="2048256" cy="658368"/>
          </a:xfrm>
          <a:prstGeom prst="rect">
            <a:avLst/>
          </a:prstGeom>
          <a:noFill/>
        </p:spPr>
        <p:txBody>
          <a:bodyPr wrap="square" lIns="0" tIns="0" rIns="0" bIns="0" anchor="ctr">
            <a:spAutoFit/>
          </a:bodyPr>
          <a:lstStyle/>
          <a:p>
            <a:pPr marL="0" indent="0" algn="ctr">
              <a:spcAft>
                <a:spcPts val="400"/>
              </a:spcAft>
              <a:buNone/>
            </a:pPr>
            <a:r>
              <a:rPr sz="1350" b="1" i="0">
                <a:solidFill>
                  <a:srgbClr val="FFFFFF"/>
                </a:solidFill>
                <a:latin typeface="Calibri"/>
              </a:rPr>
              <a:t>Use</a:t>
            </a:r>
          </a:p>
        </p:txBody>
      </p:sp>
      <p:sp>
        <p:nvSpPr>
          <p:cNvPr id="26" name="TextBox 25"/>
          <p:cNvSpPr txBox="1"/>
          <p:nvPr/>
        </p:nvSpPr>
        <p:spPr>
          <a:xfrm>
            <a:off x="566928" y="5715000"/>
            <a:ext cx="11045952" cy="365760"/>
          </a:xfrm>
          <a:prstGeom prst="rect">
            <a:avLst/>
          </a:prstGeom>
          <a:noFill/>
        </p:spPr>
        <p:txBody>
          <a:bodyPr wrap="square" lIns="0" tIns="0" rIns="0" bIns="0" anchor="t">
            <a:spAutoFit/>
          </a:bodyPr>
          <a:lstStyle/>
          <a:p>
            <a:pPr marL="0" indent="0" algn="l">
              <a:spcAft>
                <a:spcPts val="400"/>
              </a:spcAft>
              <a:buNone/>
            </a:pPr>
            <a:r>
              <a:rPr sz="1300" b="1" i="0">
                <a:solidFill>
                  <a:srgbClr val="2E3A8C"/>
                </a:solidFill>
                <a:latin typeface="Calibri"/>
              </a:rPr>
              <a:t>Evaluated on three axes:  </a:t>
            </a:r>
            <a:r>
              <a:rPr sz="1300" b="1" i="0">
                <a:solidFill>
                  <a:srgbClr val="00A896"/>
                </a:solidFill>
                <a:latin typeface="Calibri"/>
              </a:rPr>
              <a:t>Fidelity  +  Utility  +  Privacy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0515600" cy="176972"/>
          </a:xfrm>
          <a:prstGeom prst="rect">
            <a:avLst/>
          </a:prstGeom>
          <a:noFill/>
        </p:spPr>
        <p:txBody>
          <a:bodyPr wrap="square" lIns="0" tIns="0" rIns="0" bIns="0" anchor="t">
            <a:spAutoFit/>
          </a:bodyPr>
          <a:lstStyle/>
          <a:p>
            <a:pPr marL="0" indent="0" algn="l">
              <a:spcAft>
                <a:spcPts val="400"/>
              </a:spcAft>
              <a:buNone/>
            </a:pPr>
            <a:r>
              <a:rPr sz="1150" b="1" i="0">
                <a:solidFill>
                  <a:srgbClr val="0070C0"/>
                </a:solidFill>
                <a:latin typeface="Calibri"/>
              </a:rPr>
              <a:t>DAY 1 · TOPIC 3 · STIXIS EXAMPLE</a:t>
            </a:r>
          </a:p>
        </p:txBody>
      </p:sp>
      <p:sp>
        <p:nvSpPr>
          <p:cNvPr id="3" name="TextBox 2"/>
          <p:cNvSpPr txBox="1"/>
          <p:nvPr/>
        </p:nvSpPr>
        <p:spPr>
          <a:xfrm>
            <a:off x="566928" y="676656"/>
            <a:ext cx="10972800" cy="713232"/>
          </a:xfrm>
          <a:prstGeom prst="rect">
            <a:avLst/>
          </a:prstGeom>
          <a:noFill/>
        </p:spPr>
        <p:txBody>
          <a:bodyPr wrap="square" lIns="0" tIns="0" rIns="0" bIns="0" anchor="t">
            <a:spAutoFit/>
          </a:bodyPr>
          <a:lstStyle/>
          <a:p>
            <a:pPr marL="0" indent="0" algn="l">
              <a:spcAft>
                <a:spcPts val="400"/>
              </a:spcAft>
              <a:buNone/>
            </a:pPr>
            <a:r>
              <a:rPr sz="3000" b="1" i="0">
                <a:solidFill>
                  <a:srgbClr val="0E1330"/>
                </a:solidFill>
                <a:latin typeface="Cambria"/>
              </a:rPr>
              <a:t>Where Synthetic Data Fits in Glixify</a:t>
            </a:r>
          </a:p>
        </p:txBody>
      </p:sp>
      <p:sp>
        <p:nvSpPr>
          <p:cNvPr id="4" name="TextBox 3"/>
          <p:cNvSpPr txBox="1"/>
          <p:nvPr/>
        </p:nvSpPr>
        <p:spPr>
          <a:xfrm>
            <a:off x="566928" y="6327648"/>
            <a:ext cx="10424160" cy="292608"/>
          </a:xfrm>
          <a:prstGeom prst="rect">
            <a:avLst/>
          </a:prstGeom>
          <a:noFill/>
        </p:spPr>
        <p:txBody>
          <a:bodyPr wrap="square" lIns="0" tIns="0" rIns="0" bIns="0" anchor="t">
            <a:spAutoFit/>
          </a:bodyPr>
          <a:lstStyle/>
          <a:p>
            <a:pPr marL="0" indent="0" algn="l">
              <a:spcAft>
                <a:spcPts val="400"/>
              </a:spcAft>
              <a:buNone/>
            </a:pPr>
            <a:r>
              <a:rPr sz="1000" b="0" i="0">
                <a:solidFill>
                  <a:srgbClr val="5A6079"/>
                </a:solidFill>
                <a:latin typeface="Calibri"/>
              </a:rPr>
              <a:t>Illustrative application scenario — metric names only; no user data shown, and no claim about any production system.</a:t>
            </a:r>
          </a:p>
        </p:txBody>
      </p:sp>
      <p:sp>
        <p:nvSpPr>
          <p:cNvPr id="6" name="Rounded Rectangle 5"/>
          <p:cNvSpPr/>
          <p:nvPr/>
        </p:nvSpPr>
        <p:spPr>
          <a:xfrm>
            <a:off x="566928" y="1691640"/>
            <a:ext cx="3520440" cy="1554480"/>
          </a:xfrm>
          <a:prstGeom prst="roundRect">
            <a:avLst>
              <a:gd name="adj" fmla="val 4705"/>
            </a:avLst>
          </a:prstGeom>
          <a:solidFill>
            <a:srgbClr val="EEF1F8"/>
          </a:solidFill>
          <a:ln w="12700">
            <a:solidFill>
              <a:srgbClr val="DCE6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68096" y="1874520"/>
            <a:ext cx="384048" cy="384048"/>
          </a:xfrm>
          <a:prstGeom prst="ellipse">
            <a:avLst/>
          </a:prstGeom>
          <a:solidFill>
            <a:srgbClr val="2E3A8C"/>
          </a:solidFill>
          <a:ln w="12700">
            <a:solidFill>
              <a:srgbClr val="2E3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874520"/>
            <a:ext cx="384048" cy="384048"/>
          </a:xfrm>
          <a:prstGeom prst="rect">
            <a:avLst/>
          </a:prstGeom>
          <a:noFill/>
        </p:spPr>
        <p:txBody>
          <a:bodyPr wrap="square" lIns="0" tIns="0" rIns="0" bIns="0" anchor="ctr">
            <a:spAutoFit/>
          </a:bodyPr>
          <a:lstStyle/>
          <a:p>
            <a:pPr marL="0" indent="0" algn="ctr">
              <a:spcAft>
                <a:spcPts val="400"/>
              </a:spcAft>
              <a:buNone/>
            </a:pPr>
            <a:r>
              <a:rPr sz="1300" b="1" i="0">
                <a:solidFill>
                  <a:srgbClr val="FFFFFF"/>
                </a:solidFill>
                <a:latin typeface="Calibri"/>
              </a:rPr>
              <a:t>1</a:t>
            </a:r>
          </a:p>
        </p:txBody>
      </p:sp>
      <p:sp>
        <p:nvSpPr>
          <p:cNvPr id="9" name="TextBox 8"/>
          <p:cNvSpPr txBox="1"/>
          <p:nvPr/>
        </p:nvSpPr>
        <p:spPr>
          <a:xfrm>
            <a:off x="1298448" y="1874520"/>
            <a:ext cx="2651760" cy="411480"/>
          </a:xfrm>
          <a:prstGeom prst="rect">
            <a:avLst/>
          </a:prstGeom>
          <a:noFill/>
        </p:spPr>
        <p:txBody>
          <a:bodyPr wrap="square" lIns="0" tIns="0" rIns="0" bIns="0" anchor="ctr">
            <a:spAutoFit/>
          </a:bodyPr>
          <a:lstStyle/>
          <a:p>
            <a:pPr marL="0" indent="0" algn="l">
              <a:spcAft>
                <a:spcPts val="400"/>
              </a:spcAft>
              <a:buNone/>
            </a:pPr>
            <a:r>
              <a:rPr sz="1450" b="1" i="0">
                <a:solidFill>
                  <a:srgbClr val="2E3A8C"/>
                </a:solidFill>
                <a:latin typeface="Calibri"/>
              </a:rPr>
              <a:t>Real Glixify data</a:t>
            </a:r>
          </a:p>
        </p:txBody>
      </p:sp>
      <p:sp>
        <p:nvSpPr>
          <p:cNvPr id="10" name="TextBox 9"/>
          <p:cNvSpPr txBox="1"/>
          <p:nvPr/>
        </p:nvSpPr>
        <p:spPr>
          <a:xfrm>
            <a:off x="804672" y="2468880"/>
            <a:ext cx="3108960" cy="731520"/>
          </a:xfrm>
          <a:prstGeom prst="rect">
            <a:avLst/>
          </a:prstGeom>
          <a:noFill/>
        </p:spPr>
        <p:txBody>
          <a:bodyPr wrap="square" lIns="0" tIns="0" rIns="0" bIns="0" anchor="t">
            <a:spAutoFit/>
          </a:bodyPr>
          <a:lstStyle/>
          <a:p>
            <a:pPr marL="0" indent="0" algn="l">
              <a:spcAft>
                <a:spcPts val="400"/>
              </a:spcAft>
              <a:buNone/>
            </a:pPr>
            <a:r>
              <a:rPr sz="1300" b="0" i="0">
                <a:solidFill>
                  <a:srgbClr val="0E1330"/>
                </a:solidFill>
                <a:latin typeface="Calibri"/>
              </a:rPr>
              <a:t>Wearables + CGM + timestamps</a:t>
            </a:r>
          </a:p>
        </p:txBody>
      </p:sp>
      <p:sp>
        <p:nvSpPr>
          <p:cNvPr id="11" name="Right Arrow 10"/>
          <p:cNvSpPr/>
          <p:nvPr/>
        </p:nvSpPr>
        <p:spPr>
          <a:xfrm>
            <a:off x="4105655" y="2350008"/>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25112" y="1691640"/>
            <a:ext cx="3520440" cy="1554480"/>
          </a:xfrm>
          <a:prstGeom prst="roundRect">
            <a:avLst>
              <a:gd name="adj" fmla="val 4705"/>
            </a:avLst>
          </a:prstGeom>
          <a:solidFill>
            <a:srgbClr val="D6F2EC"/>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26280" y="1874520"/>
            <a:ext cx="384048" cy="384048"/>
          </a:xfrm>
          <a:prstGeom prst="ellipse">
            <a:avLst/>
          </a:prstGeom>
          <a:solidFill>
            <a:srgbClr val="00A896"/>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1874520"/>
            <a:ext cx="384048" cy="384048"/>
          </a:xfrm>
          <a:prstGeom prst="rect">
            <a:avLst/>
          </a:prstGeom>
          <a:noFill/>
        </p:spPr>
        <p:txBody>
          <a:bodyPr wrap="square" lIns="0" tIns="0" rIns="0" bIns="0" anchor="ctr">
            <a:spAutoFit/>
          </a:bodyPr>
          <a:lstStyle/>
          <a:p>
            <a:pPr marL="0" indent="0" algn="ctr">
              <a:spcAft>
                <a:spcPts val="400"/>
              </a:spcAft>
              <a:buNone/>
            </a:pPr>
            <a:r>
              <a:rPr sz="1300" b="1" i="0">
                <a:solidFill>
                  <a:srgbClr val="FFFFFF"/>
                </a:solidFill>
                <a:latin typeface="Calibri"/>
              </a:rPr>
              <a:t>2</a:t>
            </a:r>
          </a:p>
        </p:txBody>
      </p:sp>
      <p:sp>
        <p:nvSpPr>
          <p:cNvPr id="15" name="TextBox 14"/>
          <p:cNvSpPr txBox="1"/>
          <p:nvPr/>
        </p:nvSpPr>
        <p:spPr>
          <a:xfrm>
            <a:off x="5056632" y="1874520"/>
            <a:ext cx="2651760" cy="411480"/>
          </a:xfrm>
          <a:prstGeom prst="rect">
            <a:avLst/>
          </a:prstGeom>
          <a:noFill/>
        </p:spPr>
        <p:txBody>
          <a:bodyPr wrap="square" lIns="0" tIns="0" rIns="0" bIns="0" anchor="ctr">
            <a:spAutoFit/>
          </a:bodyPr>
          <a:lstStyle/>
          <a:p>
            <a:pPr marL="0" indent="0" algn="l">
              <a:spcAft>
                <a:spcPts val="400"/>
              </a:spcAft>
              <a:buNone/>
            </a:pPr>
            <a:r>
              <a:rPr sz="1450" b="1" i="0">
                <a:solidFill>
                  <a:srgbClr val="00A896"/>
                </a:solidFill>
                <a:latin typeface="Calibri"/>
              </a:rPr>
              <a:t>Profile the data</a:t>
            </a:r>
          </a:p>
        </p:txBody>
      </p:sp>
      <p:sp>
        <p:nvSpPr>
          <p:cNvPr id="16" name="TextBox 15"/>
          <p:cNvSpPr txBox="1"/>
          <p:nvPr/>
        </p:nvSpPr>
        <p:spPr>
          <a:xfrm>
            <a:off x="4562856" y="2468880"/>
            <a:ext cx="3108960" cy="731520"/>
          </a:xfrm>
          <a:prstGeom prst="rect">
            <a:avLst/>
          </a:prstGeom>
          <a:noFill/>
        </p:spPr>
        <p:txBody>
          <a:bodyPr wrap="square" lIns="0" tIns="0" rIns="0" bIns="0" anchor="t">
            <a:spAutoFit/>
          </a:bodyPr>
          <a:lstStyle/>
          <a:p>
            <a:pPr marL="0" indent="0" algn="l">
              <a:spcAft>
                <a:spcPts val="400"/>
              </a:spcAft>
              <a:buNone/>
            </a:pPr>
            <a:r>
              <a:rPr sz="1300" b="0" i="0">
                <a:solidFill>
                  <a:srgbClr val="0E1330"/>
                </a:solidFill>
                <a:latin typeface="Calibri"/>
              </a:rPr>
              <a:t>Distributions · missing values · relationships · temporal patterns</a:t>
            </a:r>
          </a:p>
        </p:txBody>
      </p:sp>
      <p:sp>
        <p:nvSpPr>
          <p:cNvPr id="17" name="Right Arrow 16"/>
          <p:cNvSpPr/>
          <p:nvPr/>
        </p:nvSpPr>
        <p:spPr>
          <a:xfrm>
            <a:off x="7863840" y="2350008"/>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083296" y="1691640"/>
            <a:ext cx="3520440" cy="1554480"/>
          </a:xfrm>
          <a:prstGeom prst="roundRect">
            <a:avLst>
              <a:gd name="adj" fmla="val 4705"/>
            </a:avLst>
          </a:prstGeom>
          <a:solidFill>
            <a:srgbClr val="FBEAD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84464" y="1874520"/>
            <a:ext cx="384048" cy="384048"/>
          </a:xfrm>
          <a:prstGeom prst="ellipse">
            <a:avLst/>
          </a:prstGeom>
          <a:solidFill>
            <a:srgbClr val="D9822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84464" y="1874520"/>
            <a:ext cx="384048" cy="384048"/>
          </a:xfrm>
          <a:prstGeom prst="rect">
            <a:avLst/>
          </a:prstGeom>
          <a:noFill/>
        </p:spPr>
        <p:txBody>
          <a:bodyPr wrap="square" lIns="0" tIns="0" rIns="0" bIns="0" anchor="ctr">
            <a:spAutoFit/>
          </a:bodyPr>
          <a:lstStyle/>
          <a:p>
            <a:pPr marL="0" indent="0" algn="ctr">
              <a:spcAft>
                <a:spcPts val="400"/>
              </a:spcAft>
              <a:buNone/>
            </a:pPr>
            <a:r>
              <a:rPr sz="1300" b="1" i="0">
                <a:solidFill>
                  <a:srgbClr val="FFFFFF"/>
                </a:solidFill>
                <a:latin typeface="Calibri"/>
              </a:rPr>
              <a:t>3</a:t>
            </a:r>
          </a:p>
        </p:txBody>
      </p:sp>
      <p:sp>
        <p:nvSpPr>
          <p:cNvPr id="21" name="TextBox 20"/>
          <p:cNvSpPr txBox="1"/>
          <p:nvPr/>
        </p:nvSpPr>
        <p:spPr>
          <a:xfrm>
            <a:off x="8814816" y="1874520"/>
            <a:ext cx="2651760" cy="411480"/>
          </a:xfrm>
          <a:prstGeom prst="rect">
            <a:avLst/>
          </a:prstGeom>
          <a:noFill/>
        </p:spPr>
        <p:txBody>
          <a:bodyPr wrap="square" lIns="0" tIns="0" rIns="0" bIns="0" anchor="ctr">
            <a:spAutoFit/>
          </a:bodyPr>
          <a:lstStyle/>
          <a:p>
            <a:pPr marL="0" indent="0" algn="l">
              <a:spcAft>
                <a:spcPts val="400"/>
              </a:spcAft>
              <a:buNone/>
            </a:pPr>
            <a:r>
              <a:rPr sz="1450" b="1" i="0">
                <a:solidFill>
                  <a:srgbClr val="D9822B"/>
                </a:solidFill>
                <a:latin typeface="Calibri"/>
              </a:rPr>
              <a:t>Learn the data structure</a:t>
            </a:r>
          </a:p>
        </p:txBody>
      </p:sp>
      <p:sp>
        <p:nvSpPr>
          <p:cNvPr id="22" name="TextBox 21"/>
          <p:cNvSpPr txBox="1"/>
          <p:nvPr/>
        </p:nvSpPr>
        <p:spPr>
          <a:xfrm>
            <a:off x="8321040" y="2468880"/>
            <a:ext cx="3108960" cy="731520"/>
          </a:xfrm>
          <a:prstGeom prst="rect">
            <a:avLst/>
          </a:prstGeom>
          <a:noFill/>
        </p:spPr>
        <p:txBody>
          <a:bodyPr wrap="square" lIns="0" tIns="0" rIns="0" bIns="0" anchor="t">
            <a:spAutoFit/>
          </a:bodyPr>
          <a:lstStyle/>
          <a:p>
            <a:pPr marL="0" indent="0" algn="l">
              <a:spcAft>
                <a:spcPts val="400"/>
              </a:spcAft>
              <a:buNone/>
            </a:pPr>
            <a:r>
              <a:rPr sz="1300" b="0" i="0">
                <a:solidFill>
                  <a:srgbClr val="0E1330"/>
                </a:solidFill>
                <a:latin typeface="Calibri"/>
              </a:rPr>
              <a:t>Statistical dependencies · conditional relationships · temporal behaviour</a:t>
            </a:r>
          </a:p>
        </p:txBody>
      </p:sp>
      <p:sp>
        <p:nvSpPr>
          <p:cNvPr id="23" name="Rounded Rectangle 22"/>
          <p:cNvSpPr/>
          <p:nvPr/>
        </p:nvSpPr>
        <p:spPr>
          <a:xfrm>
            <a:off x="566928" y="3474720"/>
            <a:ext cx="3520440" cy="1554480"/>
          </a:xfrm>
          <a:prstGeom prst="roundRect">
            <a:avLst>
              <a:gd name="adj" fmla="val 4705"/>
            </a:avLst>
          </a:prstGeom>
          <a:solidFill>
            <a:srgbClr val="EEF1F8"/>
          </a:solidFill>
          <a:ln w="12700">
            <a:solidFill>
              <a:srgbClr val="DCE6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68096" y="3657600"/>
            <a:ext cx="384048" cy="384048"/>
          </a:xfrm>
          <a:prstGeom prst="ellipse">
            <a:avLst/>
          </a:prstGeom>
          <a:solidFill>
            <a:srgbClr val="2E3A8C"/>
          </a:solidFill>
          <a:ln w="12700">
            <a:solidFill>
              <a:srgbClr val="2E3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8096" y="3657600"/>
            <a:ext cx="384048" cy="384048"/>
          </a:xfrm>
          <a:prstGeom prst="rect">
            <a:avLst/>
          </a:prstGeom>
          <a:noFill/>
        </p:spPr>
        <p:txBody>
          <a:bodyPr wrap="square" lIns="0" tIns="0" rIns="0" bIns="0" anchor="ctr">
            <a:spAutoFit/>
          </a:bodyPr>
          <a:lstStyle/>
          <a:p>
            <a:pPr marL="0" indent="0" algn="ctr">
              <a:spcAft>
                <a:spcPts val="400"/>
              </a:spcAft>
              <a:buNone/>
            </a:pPr>
            <a:r>
              <a:rPr sz="1300" b="1" i="0">
                <a:solidFill>
                  <a:srgbClr val="FFFFFF"/>
                </a:solidFill>
                <a:latin typeface="Calibri"/>
              </a:rPr>
              <a:t>4</a:t>
            </a:r>
          </a:p>
        </p:txBody>
      </p:sp>
      <p:sp>
        <p:nvSpPr>
          <p:cNvPr id="26" name="TextBox 25"/>
          <p:cNvSpPr txBox="1"/>
          <p:nvPr/>
        </p:nvSpPr>
        <p:spPr>
          <a:xfrm>
            <a:off x="1298448" y="3657600"/>
            <a:ext cx="2651760" cy="411480"/>
          </a:xfrm>
          <a:prstGeom prst="rect">
            <a:avLst/>
          </a:prstGeom>
          <a:noFill/>
        </p:spPr>
        <p:txBody>
          <a:bodyPr wrap="square" lIns="0" tIns="0" rIns="0" bIns="0" anchor="ctr">
            <a:spAutoFit/>
          </a:bodyPr>
          <a:lstStyle/>
          <a:p>
            <a:pPr marL="0" indent="0" algn="l">
              <a:spcAft>
                <a:spcPts val="400"/>
              </a:spcAft>
              <a:buNone/>
            </a:pPr>
            <a:r>
              <a:rPr sz="1450" b="1" i="0">
                <a:solidFill>
                  <a:srgbClr val="2E3A8C"/>
                </a:solidFill>
                <a:latin typeface="Calibri"/>
              </a:rPr>
              <a:t>Generate synthetic records</a:t>
            </a:r>
          </a:p>
        </p:txBody>
      </p:sp>
      <p:sp>
        <p:nvSpPr>
          <p:cNvPr id="27" name="TextBox 26"/>
          <p:cNvSpPr txBox="1"/>
          <p:nvPr/>
        </p:nvSpPr>
        <p:spPr>
          <a:xfrm>
            <a:off x="804672" y="4251959"/>
            <a:ext cx="3108960" cy="731520"/>
          </a:xfrm>
          <a:prstGeom prst="rect">
            <a:avLst/>
          </a:prstGeom>
          <a:noFill/>
        </p:spPr>
        <p:txBody>
          <a:bodyPr wrap="square" lIns="0" tIns="0" rIns="0" bIns="0" anchor="t">
            <a:spAutoFit/>
          </a:bodyPr>
          <a:lstStyle/>
          <a:p>
            <a:pPr marL="0" indent="0" algn="l">
              <a:spcAft>
                <a:spcPts val="400"/>
              </a:spcAft>
              <a:buNone/>
            </a:pPr>
            <a:r>
              <a:rPr sz="1300" b="0" i="0">
                <a:solidFill>
                  <a:srgbClr val="0E1330"/>
                </a:solidFill>
                <a:latin typeface="Calibri"/>
              </a:rPr>
              <a:t>Synthetic Glixify-style data</a:t>
            </a:r>
          </a:p>
        </p:txBody>
      </p:sp>
      <p:sp>
        <p:nvSpPr>
          <p:cNvPr id="28" name="Right Arrow 27"/>
          <p:cNvSpPr/>
          <p:nvPr/>
        </p:nvSpPr>
        <p:spPr>
          <a:xfrm>
            <a:off x="4105655" y="4133087"/>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325112" y="3474720"/>
            <a:ext cx="3520440" cy="1554480"/>
          </a:xfrm>
          <a:prstGeom prst="roundRect">
            <a:avLst>
              <a:gd name="adj" fmla="val 4705"/>
            </a:avLst>
          </a:prstGeom>
          <a:solidFill>
            <a:srgbClr val="D6F2EC"/>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526280" y="3657600"/>
            <a:ext cx="384048" cy="384048"/>
          </a:xfrm>
          <a:prstGeom prst="ellipse">
            <a:avLst/>
          </a:prstGeom>
          <a:solidFill>
            <a:srgbClr val="00A896"/>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26280" y="3657600"/>
            <a:ext cx="384048" cy="384048"/>
          </a:xfrm>
          <a:prstGeom prst="rect">
            <a:avLst/>
          </a:prstGeom>
          <a:noFill/>
        </p:spPr>
        <p:txBody>
          <a:bodyPr wrap="square" lIns="0" tIns="0" rIns="0" bIns="0" anchor="ctr">
            <a:spAutoFit/>
          </a:bodyPr>
          <a:lstStyle/>
          <a:p>
            <a:pPr marL="0" indent="0" algn="ctr">
              <a:spcAft>
                <a:spcPts val="400"/>
              </a:spcAft>
              <a:buNone/>
            </a:pPr>
            <a:r>
              <a:rPr sz="1300" b="1" i="0">
                <a:solidFill>
                  <a:srgbClr val="FFFFFF"/>
                </a:solidFill>
                <a:latin typeface="Calibri"/>
              </a:rPr>
              <a:t>5</a:t>
            </a:r>
          </a:p>
        </p:txBody>
      </p:sp>
      <p:sp>
        <p:nvSpPr>
          <p:cNvPr id="32" name="TextBox 31"/>
          <p:cNvSpPr txBox="1"/>
          <p:nvPr/>
        </p:nvSpPr>
        <p:spPr>
          <a:xfrm>
            <a:off x="5056632" y="3657600"/>
            <a:ext cx="2651760" cy="411480"/>
          </a:xfrm>
          <a:prstGeom prst="rect">
            <a:avLst/>
          </a:prstGeom>
          <a:noFill/>
        </p:spPr>
        <p:txBody>
          <a:bodyPr wrap="square" lIns="0" tIns="0" rIns="0" bIns="0" anchor="ctr">
            <a:spAutoFit/>
          </a:bodyPr>
          <a:lstStyle/>
          <a:p>
            <a:pPr marL="0" indent="0" algn="l">
              <a:spcAft>
                <a:spcPts val="400"/>
              </a:spcAft>
              <a:buNone/>
            </a:pPr>
            <a:r>
              <a:rPr sz="1450" b="1" i="0">
                <a:solidFill>
                  <a:srgbClr val="00A896"/>
                </a:solidFill>
                <a:latin typeface="Calibri"/>
              </a:rPr>
              <a:t>Compare with real data</a:t>
            </a:r>
          </a:p>
        </p:txBody>
      </p:sp>
      <p:sp>
        <p:nvSpPr>
          <p:cNvPr id="33" name="TextBox 32"/>
          <p:cNvSpPr txBox="1"/>
          <p:nvPr/>
        </p:nvSpPr>
        <p:spPr>
          <a:xfrm>
            <a:off x="4562856" y="4251959"/>
            <a:ext cx="3108960" cy="731520"/>
          </a:xfrm>
          <a:prstGeom prst="rect">
            <a:avLst/>
          </a:prstGeom>
          <a:noFill/>
        </p:spPr>
        <p:txBody>
          <a:bodyPr wrap="square" lIns="0" tIns="0" rIns="0" bIns="0" anchor="t">
            <a:spAutoFit/>
          </a:bodyPr>
          <a:lstStyle/>
          <a:p>
            <a:pPr marL="0" indent="0" algn="l">
              <a:spcAft>
                <a:spcPts val="400"/>
              </a:spcAft>
              <a:buNone/>
            </a:pPr>
            <a:r>
              <a:rPr sz="1300" b="0" i="0">
                <a:solidFill>
                  <a:srgbClr val="0E1330"/>
                </a:solidFill>
                <a:latin typeface="Calibri"/>
              </a:rPr>
              <a:t>Distributions · relationships · temporal characteristics</a:t>
            </a:r>
          </a:p>
        </p:txBody>
      </p:sp>
      <p:sp>
        <p:nvSpPr>
          <p:cNvPr id="34" name="Right Arrow 33"/>
          <p:cNvSpPr/>
          <p:nvPr/>
        </p:nvSpPr>
        <p:spPr>
          <a:xfrm>
            <a:off x="7863840" y="4133087"/>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083296" y="3474720"/>
            <a:ext cx="3520440" cy="1554480"/>
          </a:xfrm>
          <a:prstGeom prst="roundRect">
            <a:avLst>
              <a:gd name="adj" fmla="val 4705"/>
            </a:avLst>
          </a:prstGeom>
          <a:solidFill>
            <a:srgbClr val="FBEAD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284464" y="3657600"/>
            <a:ext cx="384048" cy="384048"/>
          </a:xfrm>
          <a:prstGeom prst="ellipse">
            <a:avLst/>
          </a:prstGeom>
          <a:solidFill>
            <a:srgbClr val="D9822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84464" y="3657600"/>
            <a:ext cx="384048" cy="384048"/>
          </a:xfrm>
          <a:prstGeom prst="rect">
            <a:avLst/>
          </a:prstGeom>
          <a:noFill/>
        </p:spPr>
        <p:txBody>
          <a:bodyPr wrap="square" lIns="0" tIns="0" rIns="0" bIns="0" anchor="ctr">
            <a:spAutoFit/>
          </a:bodyPr>
          <a:lstStyle/>
          <a:p>
            <a:pPr marL="0" indent="0" algn="ctr">
              <a:spcAft>
                <a:spcPts val="400"/>
              </a:spcAft>
              <a:buNone/>
            </a:pPr>
            <a:r>
              <a:rPr sz="1300" b="1" i="0">
                <a:solidFill>
                  <a:srgbClr val="FFFFFF"/>
                </a:solidFill>
                <a:latin typeface="Calibri"/>
              </a:rPr>
              <a:t>6</a:t>
            </a:r>
          </a:p>
        </p:txBody>
      </p:sp>
      <p:sp>
        <p:nvSpPr>
          <p:cNvPr id="38" name="TextBox 37"/>
          <p:cNvSpPr txBox="1"/>
          <p:nvPr/>
        </p:nvSpPr>
        <p:spPr>
          <a:xfrm>
            <a:off x="8814816" y="3657600"/>
            <a:ext cx="2651760" cy="411480"/>
          </a:xfrm>
          <a:prstGeom prst="rect">
            <a:avLst/>
          </a:prstGeom>
          <a:noFill/>
        </p:spPr>
        <p:txBody>
          <a:bodyPr wrap="square" lIns="0" tIns="0" rIns="0" bIns="0" anchor="ctr">
            <a:spAutoFit/>
          </a:bodyPr>
          <a:lstStyle/>
          <a:p>
            <a:pPr marL="0" indent="0" algn="l">
              <a:spcAft>
                <a:spcPts val="400"/>
              </a:spcAft>
              <a:buNone/>
            </a:pPr>
            <a:r>
              <a:rPr sz="1450" b="1" i="0">
                <a:solidFill>
                  <a:srgbClr val="D9822B"/>
                </a:solidFill>
                <a:latin typeface="Calibri"/>
              </a:rPr>
              <a:t>Evaluate</a:t>
            </a:r>
          </a:p>
        </p:txBody>
      </p:sp>
      <p:sp>
        <p:nvSpPr>
          <p:cNvPr id="39" name="TextBox 38"/>
          <p:cNvSpPr txBox="1"/>
          <p:nvPr/>
        </p:nvSpPr>
        <p:spPr>
          <a:xfrm>
            <a:off x="8321040" y="4251959"/>
            <a:ext cx="3108960" cy="731520"/>
          </a:xfrm>
          <a:prstGeom prst="rect">
            <a:avLst/>
          </a:prstGeom>
          <a:noFill/>
        </p:spPr>
        <p:txBody>
          <a:bodyPr wrap="square" lIns="0" tIns="0" rIns="0" bIns="0" anchor="t">
            <a:spAutoFit/>
          </a:bodyPr>
          <a:lstStyle/>
          <a:p>
            <a:pPr marL="0" indent="0" algn="l">
              <a:spcAft>
                <a:spcPts val="400"/>
              </a:spcAft>
              <a:buNone/>
            </a:pPr>
            <a:r>
              <a:rPr sz="1300" b="0" i="0">
                <a:solidFill>
                  <a:srgbClr val="0E1330"/>
                </a:solidFill>
                <a:latin typeface="Calibri"/>
              </a:rPr>
              <a:t>Fidelity  |  Utility  |  Privacy</a:t>
            </a:r>
          </a:p>
        </p:txBody>
      </p:sp>
      <p:sp>
        <p:nvSpPr>
          <p:cNvPr id="40" name="Rounded Rectangle 39"/>
          <p:cNvSpPr/>
          <p:nvPr/>
        </p:nvSpPr>
        <p:spPr>
          <a:xfrm>
            <a:off x="566928" y="5349240"/>
            <a:ext cx="11045952" cy="777240"/>
          </a:xfrm>
          <a:prstGeom prst="roundRect">
            <a:avLst>
              <a:gd name="adj" fmla="val 9411"/>
            </a:avLst>
          </a:prstGeom>
          <a:solidFill>
            <a:srgbClr val="0E1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1247" y="5349240"/>
            <a:ext cx="10497312" cy="777240"/>
          </a:xfrm>
          <a:prstGeom prst="rect">
            <a:avLst/>
          </a:prstGeom>
          <a:noFill/>
        </p:spPr>
        <p:txBody>
          <a:bodyPr wrap="square" lIns="0" tIns="0" rIns="0" bIns="0" anchor="ctr">
            <a:spAutoFit/>
          </a:bodyPr>
          <a:lstStyle/>
          <a:p>
            <a:pPr marL="0" indent="0" algn="l">
              <a:spcAft>
                <a:spcPts val="400"/>
              </a:spcAft>
              <a:buNone/>
            </a:pPr>
            <a:r>
              <a:rPr sz="1600" b="0" i="1">
                <a:solidFill>
                  <a:srgbClr val="FFFFFF"/>
                </a:solidFill>
                <a:latin typeface="Cambria"/>
              </a:rPr>
              <a:t>The synthetic dataset is useful only if it preserves the properties required by the application.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4</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Types of synthetic data — by degree of synthesis</a:t>
            </a:r>
            <a:endParaRPr lang="en-US" sz="3000"/>
          </a:p>
        </p:txBody>
      </p:sp>
      <p:sp>
        <p:nvSpPr>
          <p:cNvPr id="5" name="Shape 3"/>
          <p:cNvSpPr/>
          <p:nvPr/>
        </p:nvSpPr>
        <p:spPr>
          <a:xfrm>
            <a:off x="566928" y="1691640"/>
            <a:ext cx="3520440" cy="2103120"/>
          </a:xfrm>
          <a:prstGeom prst="roundRect">
            <a:avLst>
              <a:gd name="adj" fmla="val 3478"/>
            </a:avLst>
          </a:prstGeom>
          <a:solidFill>
            <a:srgbClr val="EEF1F8"/>
          </a:solidFill>
          <a:ln w="15875">
            <a:solidFill>
              <a:srgbClr val="DCE6FA"/>
            </a:solidFill>
            <a:prstDash val="solid"/>
          </a:ln>
        </p:spPr>
        <p:txBody>
          <a:bodyPr/>
          <a:lstStyle/>
          <a:p>
            <a:endParaRPr/>
          </a:p>
        </p:txBody>
      </p:sp>
      <p:sp>
        <p:nvSpPr>
          <p:cNvPr id="6" name="Text 4"/>
          <p:cNvSpPr txBox="1"/>
          <p:nvPr/>
        </p:nvSpPr>
        <p:spPr>
          <a:xfrm>
            <a:off x="804672" y="1847088"/>
            <a:ext cx="3044952" cy="438912"/>
          </a:xfrm>
          <a:prstGeom prst="rect">
            <a:avLst/>
          </a:prstGeom>
          <a:noFill/>
          <a:ln/>
        </p:spPr>
        <p:txBody>
          <a:bodyPr wrap="square" lIns="0" tIns="0" rIns="0" bIns="0" rtlCol="0" anchor="ctr"/>
          <a:lstStyle/>
          <a:p>
            <a:pPr marL="0" indent="0">
              <a:buNone/>
            </a:pPr>
            <a:r>
              <a:rPr lang="en-US" sz="1700" b="1">
                <a:solidFill>
                  <a:srgbClr val="2E3A8C"/>
                </a:solidFill>
                <a:latin typeface="Calibri" pitchFamily="34" charset="0"/>
                <a:ea typeface="Calibri" pitchFamily="34" charset="-122"/>
                <a:cs typeface="Calibri" pitchFamily="34" charset="-120"/>
              </a:rPr>
              <a:t>Fully synthetic</a:t>
            </a:r>
            <a:endParaRPr lang="en-US" sz="1700"/>
          </a:p>
        </p:txBody>
      </p:sp>
      <p:sp>
        <p:nvSpPr>
          <p:cNvPr id="7" name="Text 5"/>
          <p:cNvSpPr txBox="1"/>
          <p:nvPr/>
        </p:nvSpPr>
        <p:spPr>
          <a:xfrm>
            <a:off x="804672" y="2350008"/>
            <a:ext cx="3044952" cy="129844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Every value in every record is generated. No original record survives in the output. Potentially lower direct disclosure risk than partial synthesis, but privacy still depends on the generation process and evaluation — not automatic [1] [9].</a:t>
            </a:r>
            <a:endParaRPr lang="en-US" sz="1200"/>
          </a:p>
        </p:txBody>
      </p:sp>
      <p:sp>
        <p:nvSpPr>
          <p:cNvPr id="8" name="Shape 6"/>
          <p:cNvSpPr/>
          <p:nvPr/>
        </p:nvSpPr>
        <p:spPr>
          <a:xfrm>
            <a:off x="4334256" y="1691640"/>
            <a:ext cx="3520440" cy="2103120"/>
          </a:xfrm>
          <a:prstGeom prst="roundRect">
            <a:avLst>
              <a:gd name="adj" fmla="val 3478"/>
            </a:avLst>
          </a:prstGeom>
          <a:solidFill>
            <a:srgbClr val="D6F2EC"/>
          </a:solidFill>
          <a:ln w="15875">
            <a:solidFill>
              <a:srgbClr val="00A896"/>
            </a:solidFill>
            <a:prstDash val="solid"/>
          </a:ln>
        </p:spPr>
      </p:sp>
      <p:sp>
        <p:nvSpPr>
          <p:cNvPr id="9" name="Text 7"/>
          <p:cNvSpPr txBox="1"/>
          <p:nvPr/>
        </p:nvSpPr>
        <p:spPr>
          <a:xfrm>
            <a:off x="4572000" y="1847088"/>
            <a:ext cx="3044952" cy="438912"/>
          </a:xfrm>
          <a:prstGeom prst="rect">
            <a:avLst/>
          </a:prstGeom>
          <a:noFill/>
          <a:ln/>
        </p:spPr>
        <p:txBody>
          <a:bodyPr wrap="square" lIns="0" tIns="0" rIns="0" bIns="0" rtlCol="0" anchor="ctr"/>
          <a:lstStyle/>
          <a:p>
            <a:pPr marL="0" indent="0">
              <a:buNone/>
            </a:pPr>
            <a:r>
              <a:rPr lang="en-US" sz="1700" b="1">
                <a:solidFill>
                  <a:srgbClr val="00A896"/>
                </a:solidFill>
                <a:latin typeface="Calibri" pitchFamily="34" charset="0"/>
                <a:ea typeface="Calibri" pitchFamily="34" charset="-122"/>
                <a:cs typeface="Calibri" pitchFamily="34" charset="-120"/>
              </a:rPr>
              <a:t>Partially synthetic</a:t>
            </a:r>
            <a:endParaRPr lang="en-US" sz="1700"/>
          </a:p>
        </p:txBody>
      </p:sp>
      <p:sp>
        <p:nvSpPr>
          <p:cNvPr id="10" name="Text 8"/>
          <p:cNvSpPr txBox="1"/>
          <p:nvPr/>
        </p:nvSpPr>
        <p:spPr>
          <a:xfrm>
            <a:off x="4572000" y="2350008"/>
            <a:ext cx="3044952" cy="129844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Only sensitive or identifying attributes are replaced; the rest of the real record is retained. Better utility, weaker guarantee [1].</a:t>
            </a:r>
            <a:endParaRPr lang="en-US" sz="1200"/>
          </a:p>
        </p:txBody>
      </p:sp>
      <p:sp>
        <p:nvSpPr>
          <p:cNvPr id="11" name="Shape 9"/>
          <p:cNvSpPr/>
          <p:nvPr/>
        </p:nvSpPr>
        <p:spPr>
          <a:xfrm>
            <a:off x="8101584" y="1691640"/>
            <a:ext cx="3520440" cy="2103120"/>
          </a:xfrm>
          <a:prstGeom prst="roundRect">
            <a:avLst>
              <a:gd name="adj" fmla="val 3478"/>
            </a:avLst>
          </a:prstGeom>
          <a:solidFill>
            <a:srgbClr val="FBEADB"/>
          </a:solidFill>
          <a:ln w="15875">
            <a:solidFill>
              <a:srgbClr val="D9822B"/>
            </a:solidFill>
            <a:prstDash val="solid"/>
          </a:ln>
        </p:spPr>
      </p:sp>
      <p:sp>
        <p:nvSpPr>
          <p:cNvPr id="12" name="Text 10"/>
          <p:cNvSpPr txBox="1"/>
          <p:nvPr/>
        </p:nvSpPr>
        <p:spPr>
          <a:xfrm>
            <a:off x="8339328" y="1847088"/>
            <a:ext cx="3044952" cy="438912"/>
          </a:xfrm>
          <a:prstGeom prst="rect">
            <a:avLst/>
          </a:prstGeom>
          <a:noFill/>
          <a:ln/>
        </p:spPr>
        <p:txBody>
          <a:bodyPr wrap="square" lIns="0" tIns="0" rIns="0" bIns="0" rtlCol="0" anchor="ctr"/>
          <a:lstStyle/>
          <a:p>
            <a:pPr marL="0" indent="0">
              <a:buNone/>
            </a:pPr>
            <a:r>
              <a:rPr lang="en-US" sz="1700" b="1">
                <a:solidFill>
                  <a:srgbClr val="D9822B"/>
                </a:solidFill>
                <a:latin typeface="Calibri" pitchFamily="34" charset="0"/>
                <a:ea typeface="Calibri" pitchFamily="34" charset="-122"/>
                <a:cs typeface="Calibri" pitchFamily="34" charset="-120"/>
              </a:rPr>
              <a:t>Hybrid</a:t>
            </a:r>
            <a:endParaRPr lang="en-US" sz="1700"/>
          </a:p>
        </p:txBody>
      </p:sp>
      <p:sp>
        <p:nvSpPr>
          <p:cNvPr id="13" name="Text 11"/>
          <p:cNvSpPr txBox="1"/>
          <p:nvPr/>
        </p:nvSpPr>
        <p:spPr>
          <a:xfrm>
            <a:off x="8339328" y="2350008"/>
            <a:ext cx="3044952" cy="129844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Real and generated records are mixed, typically to augment a minority class while keeping the majority real [11] [28].</a:t>
            </a:r>
            <a:endParaRPr lang="en-US" sz="120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4023360"/>
          <a:ext cx="11064240" cy="1828800"/>
        </p:xfrm>
        <a:graphic>
          <a:graphicData uri="http://schemas.openxmlformats.org/drawingml/2006/table">
            <a:tbl>
              <a:tblPr/>
              <a:tblGrid>
                <a:gridCol w="23774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4846320">
                  <a:extLst>
                    <a:ext uri="{9D8B030D-6E8A-4147-A177-3AD203B41FA5}">
                      <a16:colId xmlns:a16="http://schemas.microsoft.com/office/drawing/2014/main" val="20003"/>
                    </a:ext>
                  </a:extLst>
                </a:gridCol>
              </a:tblGrid>
              <a:tr h="457200">
                <a:tc>
                  <a:txBody>
                    <a:bodyPr/>
                    <a:lstStyle/>
                    <a:p>
                      <a:pPr marL="0" indent="0" algn="l">
                        <a:buNone/>
                      </a:pP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Privacy risk</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Typical utility</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When it is the right call</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extLst>
                  <a:ext uri="{0D108BD9-81ED-4DB2-BD59-A6C34878D82A}">
                    <a16:rowId xmlns:a16="http://schemas.microsoft.com/office/drawing/2014/main" val="10000"/>
                  </a:ext>
                </a:extLst>
              </a:tr>
              <a:tr h="457200">
                <a:tc>
                  <a:txBody>
                    <a:bodyPr/>
                    <a:lstStyle/>
                    <a:p>
                      <a:pPr marL="0" indent="0" algn="l">
                        <a:buNone/>
                      </a:pPr>
                      <a:r>
                        <a:rPr lang="en-US" sz="1150" b="1">
                          <a:solidFill>
                            <a:srgbClr val="2E3A8C"/>
                          </a:solidFill>
                          <a:latin typeface="Calibri" pitchFamily="34" charset="0"/>
                          <a:ea typeface="Calibri" pitchFamily="34" charset="-122"/>
                          <a:cs typeface="Calibri" pitchFamily="34" charset="-120"/>
                        </a:rPr>
                        <a:t>Fully synthetic</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150">
                          <a:solidFill>
                            <a:srgbClr val="0E1330"/>
                          </a:solidFill>
                          <a:latin typeface="Calibri" pitchFamily="34" charset="0"/>
                          <a:ea typeface="Calibri" pitchFamily="34" charset="-122"/>
                          <a:cs typeface="Calibri" pitchFamily="34" charset="-120"/>
                        </a:rPr>
                        <a:t>Lowest</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150">
                          <a:solidFill>
                            <a:srgbClr val="0E1330"/>
                          </a:solidFill>
                          <a:latin typeface="Calibri" pitchFamily="34" charset="0"/>
                          <a:ea typeface="Calibri" pitchFamily="34" charset="-122"/>
                          <a:cs typeface="Calibri" pitchFamily="34" charset="-120"/>
                        </a:rPr>
                        <a:t>Moderate to high</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150">
                          <a:solidFill>
                            <a:srgbClr val="0E1330"/>
                          </a:solidFill>
                          <a:latin typeface="Calibri" pitchFamily="34" charset="0"/>
                          <a:ea typeface="Calibri" pitchFamily="34" charset="-122"/>
                          <a:cs typeface="Calibri" pitchFamily="34" charset="-120"/>
                        </a:rPr>
                        <a:t>External sharing, vendor evaluation, public benchmarks</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457200">
                <a:tc>
                  <a:txBody>
                    <a:bodyPr/>
                    <a:lstStyle/>
                    <a:p>
                      <a:pPr marL="0" indent="0" algn="l">
                        <a:buNone/>
                      </a:pPr>
                      <a:r>
                        <a:rPr lang="en-US" sz="1150" b="1">
                          <a:solidFill>
                            <a:srgbClr val="2E3A8C"/>
                          </a:solidFill>
                          <a:latin typeface="Calibri" pitchFamily="34" charset="0"/>
                          <a:ea typeface="Calibri" pitchFamily="34" charset="-122"/>
                          <a:cs typeface="Calibri" pitchFamily="34" charset="-120"/>
                        </a:rPr>
                        <a:t>Partially synthetic</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50">
                          <a:solidFill>
                            <a:srgbClr val="0E1330"/>
                          </a:solidFill>
                          <a:latin typeface="Calibri" pitchFamily="34" charset="0"/>
                          <a:ea typeface="Calibri" pitchFamily="34" charset="-122"/>
                          <a:cs typeface="Calibri" pitchFamily="34" charset="-120"/>
                        </a:rPr>
                        <a:t>Medium</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50">
                          <a:solidFill>
                            <a:srgbClr val="0E1330"/>
                          </a:solidFill>
                          <a:latin typeface="Calibri" pitchFamily="34" charset="0"/>
                          <a:ea typeface="Calibri" pitchFamily="34" charset="-122"/>
                          <a:cs typeface="Calibri" pitchFamily="34" charset="-120"/>
                        </a:rPr>
                        <a:t>High</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50">
                          <a:solidFill>
                            <a:srgbClr val="0E1330"/>
                          </a:solidFill>
                          <a:latin typeface="Calibri" pitchFamily="34" charset="0"/>
                          <a:ea typeface="Calibri" pitchFamily="34" charset="-122"/>
                          <a:cs typeface="Calibri" pitchFamily="34" charset="-120"/>
                        </a:rPr>
                        <a:t>Internal analytics where only direct identifiers are the problem</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50" b="1">
                          <a:solidFill>
                            <a:srgbClr val="2E3A8C"/>
                          </a:solidFill>
                          <a:latin typeface="Calibri" pitchFamily="34" charset="0"/>
                          <a:ea typeface="Calibri" pitchFamily="34" charset="-122"/>
                          <a:cs typeface="Calibri" pitchFamily="34" charset="-120"/>
                        </a:rPr>
                        <a:t>Hybrid</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150">
                          <a:solidFill>
                            <a:srgbClr val="0E1330"/>
                          </a:solidFill>
                          <a:latin typeface="Calibri" pitchFamily="34" charset="0"/>
                          <a:ea typeface="Calibri" pitchFamily="34" charset="-122"/>
                          <a:cs typeface="Calibri" pitchFamily="34" charset="-120"/>
                        </a:rPr>
                        <a:t>Inherits the real subset</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150">
                          <a:solidFill>
                            <a:srgbClr val="0E1330"/>
                          </a:solidFill>
                          <a:latin typeface="Calibri" pitchFamily="34" charset="0"/>
                          <a:ea typeface="Calibri" pitchFamily="34" charset="-122"/>
                          <a:cs typeface="Calibri" pitchFamily="34" charset="-120"/>
                        </a:rPr>
                        <a:t>Highest</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150">
                          <a:solidFill>
                            <a:srgbClr val="0E1330"/>
                          </a:solidFill>
                          <a:latin typeface="Calibri" pitchFamily="34" charset="0"/>
                          <a:ea typeface="Calibri" pitchFamily="34" charset="-122"/>
                          <a:cs typeface="Calibri" pitchFamily="34" charset="-120"/>
                        </a:rPr>
                        <a:t>Rare-event model training inside a trusted boundary</a:t>
                      </a:r>
                      <a:endParaRPr lang="en-US" sz="115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bl>
          </a:graphicData>
        </a:graphic>
      </p:graphicFrame>
      <p:sp>
        <p:nvSpPr>
          <p:cNvPr id="15" name="Text 12"/>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 [9] [11] [28]</a:t>
            </a:r>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4</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Types of synthetic data — by modality</a:t>
            </a:r>
            <a:endParaRPr lang="en-US" sz="300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64240" cy="3200400"/>
        </p:xfrm>
        <a:graphic>
          <a:graphicData uri="http://schemas.openxmlformats.org/drawingml/2006/table">
            <a:tbl>
              <a:tblPr/>
              <a:tblGrid>
                <a:gridCol w="187452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365760">
                <a:tc>
                  <a:txBody>
                    <a:bodyPr/>
                    <a:lstStyle/>
                    <a:p>
                      <a:pPr marL="0" indent="0" algn="l">
                        <a:buNone/>
                      </a:pPr>
                      <a:r>
                        <a:rPr lang="en-US" sz="1000" b="1">
                          <a:solidFill>
                            <a:srgbClr val="FFFFFF"/>
                          </a:solidFill>
                          <a:latin typeface="Calibri" pitchFamily="34" charset="0"/>
                          <a:ea typeface="Calibri" pitchFamily="34" charset="-122"/>
                          <a:cs typeface="Calibri" pitchFamily="34" charset="-120"/>
                        </a:rPr>
                        <a:t>Modality</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tc>
                  <a:txBody>
                    <a:bodyPr/>
                    <a:lstStyle/>
                    <a:p>
                      <a:pPr marL="0" indent="0" algn="l">
                        <a:buNone/>
                      </a:pPr>
                      <a:r>
                        <a:rPr lang="en-US" sz="1000" b="1">
                          <a:solidFill>
                            <a:srgbClr val="FFFFFF"/>
                          </a:solidFill>
                          <a:latin typeface="Calibri" pitchFamily="34" charset="0"/>
                          <a:ea typeface="Calibri" pitchFamily="34" charset="-122"/>
                          <a:cs typeface="Calibri" pitchFamily="34" charset="-120"/>
                        </a:rPr>
                        <a:t>What makes it hard</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tc>
                  <a:txBody>
                    <a:bodyPr/>
                    <a:lstStyle/>
                    <a:p>
                      <a:pPr marL="0" indent="0" algn="l">
                        <a:buNone/>
                      </a:pPr>
                      <a:r>
                        <a:rPr lang="en-US" sz="1000" b="1">
                          <a:solidFill>
                            <a:srgbClr val="FFFFFF"/>
                          </a:solidFill>
                          <a:latin typeface="Calibri" pitchFamily="34" charset="0"/>
                          <a:ea typeface="Calibri" pitchFamily="34" charset="-122"/>
                          <a:cs typeface="Calibri" pitchFamily="34" charset="-120"/>
                        </a:rPr>
                        <a:t>Workhorse methods</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tc>
                  <a:txBody>
                    <a:bodyPr/>
                    <a:lstStyle/>
                    <a:p>
                      <a:pPr marL="0" indent="0" algn="l">
                        <a:buNone/>
                      </a:pPr>
                      <a:r>
                        <a:rPr lang="en-US" sz="1000" b="1">
                          <a:solidFill>
                            <a:srgbClr val="FFFFFF"/>
                          </a:solidFill>
                          <a:latin typeface="Calibri" pitchFamily="34" charset="0"/>
                          <a:ea typeface="Calibri" pitchFamily="34" charset="-122"/>
                          <a:cs typeface="Calibri" pitchFamily="34" charset="-120"/>
                        </a:rPr>
                        <a:t>Primary quality test</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extLst>
                  <a:ext uri="{0D108BD9-81ED-4DB2-BD59-A6C34878D82A}">
                    <a16:rowId xmlns:a16="http://schemas.microsoft.com/office/drawing/2014/main" val="10000"/>
                  </a:ext>
                </a:extLst>
              </a:tr>
              <a:tr h="566928">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Tabular</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Mixed continuous and categorical columns, multi-modal marginals, severe class imbalance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CTGAN, TVAE, TabDDPM, LLM-based GReaT [11] [12] [13]</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TSTR against a real hold-out [10]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566928">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Text</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Discrete tokens block gradient flow; semantic validity is not checkable by statistics [14] [16]</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Back-translation, EDA, LLM self-instruction [14] [15] [16]</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Human or model-graded task accuracy [16] [17]</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Image / video</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High dimensionality and the sim-to-real domain gap [21] [22]</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Latent diffusion, StyleGAN, graphics renderers [8] [20] [21]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FID plus real-data validation accuracy [21] [23]</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r h="566928">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Time series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Temporal dependence and non-stationarity must survive generation [10]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RCGAN and conditional recurrent generators [10]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TSTR on a forecasting task [10]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Relational / multi-table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Foreign keys and cardinality must hold across generated tables [9]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Synthetic Data Vault recursive modelling [9]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Referential integrity checks plus TSTR [9]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[8] [9] [10] [11] [12] [13] [14] [15] [16] [17] [20] [21] [22] [23]</a:t>
            </a:r>
            <a:endParaRPr lang="en-US" sz="1000"/>
          </a:p>
        </p:txBody>
      </p:sp>
      <p:sp>
        <p:nvSpPr>
          <p:cNvPr id="14" name="Rounded Rectangle 13"/>
          <p:cNvSpPr/>
          <p:nvPr/>
        </p:nvSpPr>
        <p:spPr>
          <a:xfrm>
            <a:off x="566928" y="4956048"/>
            <a:ext cx="6583680" cy="1316736"/>
          </a:xfrm>
          <a:prstGeom prst="roundRect">
            <a:avLst>
              <a:gd name="adj" fmla="val 5555"/>
            </a:avLst>
          </a:prstGeom>
          <a:solidFill>
            <a:srgbClr val="EEF1F8"/>
          </a:solidFill>
          <a:ln w="12700">
            <a:solidFill>
              <a:srgbClr val="DCE6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5047488"/>
            <a:ext cx="6217920" cy="274320"/>
          </a:xfrm>
          <a:prstGeom prst="rect">
            <a:avLst/>
          </a:prstGeom>
          <a:noFill/>
        </p:spPr>
        <p:txBody>
          <a:bodyPr wrap="square" lIns="0" tIns="0" rIns="0" bIns="0" anchor="t">
            <a:spAutoFit/>
          </a:bodyPr>
          <a:lstStyle/>
          <a:p>
            <a:pPr marL="0" indent="0" algn="l">
              <a:spcAft>
                <a:spcPts val="400"/>
              </a:spcAft>
              <a:buNone/>
            </a:pPr>
            <a:r>
              <a:rPr sz="1200" b="1" i="0">
                <a:solidFill>
                  <a:srgbClr val="2E3A8C"/>
                </a:solidFill>
                <a:latin typeface="Calibri"/>
              </a:rPr>
              <a:t>Glixify example — primary modality: time-series / tabular</a:t>
            </a:r>
          </a:p>
        </p:txBody>
      </p:sp>
      <p:sp>
        <p:nvSpPr>
          <p:cNvPr id="16" name="TextBox 15"/>
          <p:cNvSpPr txBox="1"/>
          <p:nvPr/>
        </p:nvSpPr>
        <p:spPr>
          <a:xfrm>
            <a:off x="749808" y="5367528"/>
            <a:ext cx="6217920" cy="859536"/>
          </a:xfrm>
          <a:prstGeom prst="rect">
            <a:avLst/>
          </a:prstGeom>
          <a:noFill/>
        </p:spPr>
        <p:txBody>
          <a:bodyPr wrap="square" lIns="0" tIns="0" rIns="0" bIns="0" anchor="t">
            <a:spAutoFit/>
          </a:bodyPr>
          <a:lstStyle/>
          <a:p>
            <a:pPr marL="0" indent="0" algn="l">
              <a:spcAft>
                <a:spcPts val="200"/>
              </a:spcAft>
              <a:buNone/>
            </a:pPr>
            <a:r>
              <a:rPr sz="1150" b="1" i="0">
                <a:solidFill>
                  <a:srgbClr val="0E1330"/>
                </a:solidFill>
                <a:latin typeface="Calibri"/>
              </a:rPr>
              <a:t>A Glixify-style dataset can contain:</a:t>
            </a:r>
          </a:p>
          <a:p>
            <a:pPr marL="0" indent="0" algn="l">
              <a:spcAft>
                <a:spcPts val="400"/>
              </a:spcAft>
              <a:buNone/>
            </a:pPr>
            <a:r>
              <a:rPr sz="1150" b="0" i="0">
                <a:solidFill>
                  <a:srgbClr val="0E1330"/>
                </a:solidFill>
                <a:latin typeface="Calibri"/>
              </a:rPr>
              <a:t>Numerical measurements · categorical / device attributes · timestamped observations · repeated measurements · missing observations · relationships across variables</a:t>
            </a:r>
          </a:p>
        </p:txBody>
      </p:sp>
      <p:sp>
        <p:nvSpPr>
          <p:cNvPr id="17" name="Rounded Rectangle 16"/>
          <p:cNvSpPr/>
          <p:nvPr/>
        </p:nvSpPr>
        <p:spPr>
          <a:xfrm>
            <a:off x="7333488" y="4956048"/>
            <a:ext cx="4279392" cy="1316736"/>
          </a:xfrm>
          <a:prstGeom prst="roundRect">
            <a:avLst>
              <a:gd name="adj" fmla="val 5555"/>
            </a:avLst>
          </a:prstGeom>
          <a:solidFill>
            <a:srgbClr val="D6F2EC"/>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16367" y="5047488"/>
            <a:ext cx="3913631" cy="274320"/>
          </a:xfrm>
          <a:prstGeom prst="rect">
            <a:avLst/>
          </a:prstGeom>
          <a:noFill/>
        </p:spPr>
        <p:txBody>
          <a:bodyPr wrap="square" lIns="0" tIns="0" rIns="0" bIns="0" anchor="t">
            <a:spAutoFit/>
          </a:bodyPr>
          <a:lstStyle/>
          <a:p>
            <a:pPr marL="0" indent="0" algn="l">
              <a:spcAft>
                <a:spcPts val="400"/>
              </a:spcAft>
              <a:buNone/>
            </a:pPr>
            <a:r>
              <a:rPr sz="1200" b="1" i="0">
                <a:solidFill>
                  <a:srgbClr val="00A896"/>
                </a:solidFill>
                <a:latin typeface="Calibri"/>
              </a:rPr>
              <a:t>Teaching point</a:t>
            </a:r>
          </a:p>
        </p:txBody>
      </p:sp>
      <p:sp>
        <p:nvSpPr>
          <p:cNvPr id="19" name="TextBox 18"/>
          <p:cNvSpPr txBox="1"/>
          <p:nvPr/>
        </p:nvSpPr>
        <p:spPr>
          <a:xfrm>
            <a:off x="7516367" y="5367528"/>
            <a:ext cx="3913631" cy="859536"/>
          </a:xfrm>
          <a:prstGeom prst="rect">
            <a:avLst/>
          </a:prstGeom>
          <a:noFill/>
        </p:spPr>
        <p:txBody>
          <a:bodyPr wrap="square" lIns="0" tIns="0" rIns="0" bIns="0" anchor="t">
            <a:spAutoFit/>
          </a:bodyPr>
          <a:lstStyle/>
          <a:p>
            <a:pPr marL="0" indent="0" algn="l">
              <a:spcAft>
                <a:spcPts val="400"/>
              </a:spcAft>
              <a:buNone/>
            </a:pPr>
            <a:r>
              <a:rPr sz="1250" b="0" i="0">
                <a:solidFill>
                  <a:srgbClr val="0E1330"/>
                </a:solidFill>
                <a:latin typeface="Cambria"/>
              </a:rPr>
              <a:t>A real-world application may combine several data characteristics even when we represent the dataset in a simple table.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0515600" cy="176972"/>
          </a:xfrm>
          <a:prstGeom prst="rect">
            <a:avLst/>
          </a:prstGeom>
          <a:noFill/>
        </p:spPr>
        <p:txBody>
          <a:bodyPr wrap="square" lIns="0" tIns="0" rIns="0" bIns="0" anchor="t">
            <a:spAutoFit/>
          </a:bodyPr>
          <a:lstStyle/>
          <a:p>
            <a:pPr marL="0" indent="0" algn="l">
              <a:spcAft>
                <a:spcPts val="400"/>
              </a:spcAft>
              <a:buNone/>
            </a:pPr>
            <a:r>
              <a:rPr sz="1150" b="1" i="0">
                <a:solidFill>
                  <a:srgbClr val="0070C0"/>
                </a:solidFill>
                <a:latin typeface="Calibri"/>
              </a:rPr>
              <a:t>DAY 1 · TOPIC 4 · TIME SERIES</a:t>
            </a:r>
          </a:p>
        </p:txBody>
      </p:sp>
      <p:sp>
        <p:nvSpPr>
          <p:cNvPr id="3" name="TextBox 2"/>
          <p:cNvSpPr txBox="1"/>
          <p:nvPr/>
        </p:nvSpPr>
        <p:spPr>
          <a:xfrm>
            <a:off x="566928" y="676656"/>
            <a:ext cx="10972800" cy="713232"/>
          </a:xfrm>
          <a:prstGeom prst="rect">
            <a:avLst/>
          </a:prstGeom>
          <a:noFill/>
        </p:spPr>
        <p:txBody>
          <a:bodyPr wrap="square" lIns="0" tIns="0" rIns="0" bIns="0" anchor="t">
            <a:spAutoFit/>
          </a:bodyPr>
          <a:lstStyle/>
          <a:p>
            <a:pPr marL="0" indent="0" algn="l">
              <a:spcAft>
                <a:spcPts val="400"/>
              </a:spcAft>
              <a:buNone/>
            </a:pPr>
            <a:r>
              <a:rPr sz="2600" b="1" i="0">
                <a:solidFill>
                  <a:srgbClr val="0E1330"/>
                </a:solidFill>
                <a:latin typeface="Cambria"/>
              </a:rPr>
              <a:t>From Simple Columns to Time-Series Relationships</a:t>
            </a:r>
          </a:p>
        </p:txBody>
      </p:sp>
      <p:sp>
        <p:nvSpPr>
          <p:cNvPr id="4" name="TextBox 3"/>
          <p:cNvSpPr txBox="1"/>
          <p:nvPr/>
        </p:nvSpPr>
        <p:spPr>
          <a:xfrm>
            <a:off x="566928" y="6327648"/>
            <a:ext cx="10424160" cy="292608"/>
          </a:xfrm>
          <a:prstGeom prst="rect">
            <a:avLst/>
          </a:prstGeom>
          <a:noFill/>
        </p:spPr>
        <p:txBody>
          <a:bodyPr wrap="square" lIns="0" tIns="0" rIns="0" bIns="0" anchor="t">
            <a:spAutoFit/>
          </a:bodyPr>
          <a:lstStyle/>
          <a:p>
            <a:pPr marL="0" indent="0" algn="l">
              <a:spcAft>
                <a:spcPts val="400"/>
              </a:spcAft>
              <a:buNone/>
            </a:pPr>
            <a:r>
              <a:rPr sz="1000" b="0" i="0">
                <a:solidFill>
                  <a:srgbClr val="5A6079"/>
                </a:solidFill>
                <a:latin typeface="Calibri"/>
              </a:rPr>
              <a:t>Illustrative application scenario — metric names only; no user data shown, and no claim about any production system.</a:t>
            </a:r>
          </a:p>
        </p:txBody>
      </p:sp>
      <p:sp>
        <p:nvSpPr>
          <p:cNvPr id="6" name="TextBox 5"/>
          <p:cNvSpPr txBox="1"/>
          <p:nvPr/>
        </p:nvSpPr>
        <p:spPr>
          <a:xfrm>
            <a:off x="566928" y="1298448"/>
            <a:ext cx="10972800" cy="320040"/>
          </a:xfrm>
          <a:prstGeom prst="rect">
            <a:avLst/>
          </a:prstGeom>
          <a:noFill/>
        </p:spPr>
        <p:txBody>
          <a:bodyPr wrap="square" lIns="0" tIns="0" rIns="0" bIns="0" anchor="t">
            <a:spAutoFit/>
          </a:bodyPr>
          <a:lstStyle/>
          <a:p>
            <a:pPr marL="0" indent="0" algn="l">
              <a:spcAft>
                <a:spcPts val="400"/>
              </a:spcAft>
              <a:buNone/>
            </a:pPr>
            <a:r>
              <a:rPr sz="1400" b="0" i="1">
                <a:solidFill>
                  <a:srgbClr val="5A6079"/>
                </a:solidFill>
                <a:latin typeface="Calibri"/>
              </a:rPr>
              <a:t>Glixify also illustrates why synthetic data gets harder as we move from simple tabular data toward time-series data.</a:t>
            </a:r>
          </a:p>
        </p:txBody>
      </p:sp>
      <p:sp>
        <p:nvSpPr>
          <p:cNvPr id="7" name="TextBox 6"/>
          <p:cNvSpPr txBox="1"/>
          <p:nvPr/>
        </p:nvSpPr>
        <p:spPr>
          <a:xfrm>
            <a:off x="566928" y="1828800"/>
            <a:ext cx="5943600" cy="274320"/>
          </a:xfrm>
          <a:prstGeom prst="rect">
            <a:avLst/>
          </a:prstGeom>
          <a:noFill/>
        </p:spPr>
        <p:txBody>
          <a:bodyPr wrap="square" lIns="0" tIns="0" rIns="0" bIns="0" anchor="t">
            <a:spAutoFit/>
          </a:bodyPr>
          <a:lstStyle/>
          <a:p>
            <a:pPr marL="0" indent="0" algn="l">
              <a:spcAft>
                <a:spcPts val="400"/>
              </a:spcAft>
              <a:buNone/>
            </a:pPr>
            <a:r>
              <a:rPr sz="1050" b="1" i="0">
                <a:solidFill>
                  <a:srgbClr val="00A896"/>
                </a:solidFill>
                <a:latin typeface="Calibri"/>
              </a:rPr>
              <a:t>TABULAR VIEW</a:t>
            </a:r>
          </a:p>
        </p:txBody>
      </p:sp>
      <p:graphicFrame>
        <p:nvGraphicFramePr>
          <p:cNvPr id="8" name="Table 7"/>
          <p:cNvGraphicFramePr>
            <a:graphicFrameLocks noGrp="1"/>
          </p:cNvGraphicFramePr>
          <p:nvPr>
            <p:extLst>
              <p:ext uri="{D42A27DB-BD31-4B8C-83A1-F6EECF244321}">
                <p14:modId xmlns:p14="http://schemas.microsoft.com/office/powerpoint/2010/main" val="2242566481"/>
              </p:ext>
            </p:extLst>
          </p:nvPr>
        </p:nvGraphicFramePr>
        <p:xfrm>
          <a:off x="566928" y="2148840"/>
          <a:ext cx="6035040" cy="1828800"/>
        </p:xfrm>
        <a:graphic>
          <a:graphicData uri="http://schemas.openxmlformats.org/drawingml/2006/table">
            <a:tbl>
              <a:tblPr>
                <a:tableStyleId>{5940675A-B579-460E-94D1-54222C63F5DA}</a:tableStyleId>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457200">
                <a:tc>
                  <a:txBody>
                    <a:bodyPr/>
                    <a:lstStyle/>
                    <a:p>
                      <a:pPr algn="ctr"/>
                      <a:r>
                        <a:rPr sz="1300" b="1">
                          <a:solidFill>
                            <a:srgbClr val="FFFFFF"/>
                          </a:solidFill>
                          <a:latin typeface="Calibri"/>
                        </a:rPr>
                        <a:t>Timestamp</a:t>
                      </a:r>
                    </a:p>
                  </a:txBody>
                  <a:tcPr anchor="ctr">
                    <a:solidFill>
                      <a:schemeClr val="accent1">
                        <a:lumMod val="75000"/>
                      </a:schemeClr>
                    </a:solidFill>
                  </a:tcPr>
                </a:tc>
                <a:tc>
                  <a:txBody>
                    <a:bodyPr/>
                    <a:lstStyle/>
                    <a:p>
                      <a:pPr algn="ctr"/>
                      <a:r>
                        <a:rPr sz="1300" b="1">
                          <a:solidFill>
                            <a:srgbClr val="FFFFFF"/>
                          </a:solidFill>
                          <a:latin typeface="Calibri"/>
                        </a:rPr>
                        <a:t>Glucose</a:t>
                      </a:r>
                    </a:p>
                  </a:txBody>
                  <a:tcPr anchor="ctr">
                    <a:solidFill>
                      <a:schemeClr val="accent1">
                        <a:lumMod val="75000"/>
                      </a:schemeClr>
                    </a:solidFill>
                  </a:tcPr>
                </a:tc>
                <a:tc>
                  <a:txBody>
                    <a:bodyPr/>
                    <a:lstStyle/>
                    <a:p>
                      <a:pPr algn="ctr"/>
                      <a:r>
                        <a:rPr sz="1300" b="1">
                          <a:solidFill>
                            <a:srgbClr val="FFFFFF"/>
                          </a:solidFill>
                          <a:latin typeface="Calibri"/>
                        </a:rPr>
                        <a:t>HR</a:t>
                      </a:r>
                    </a:p>
                  </a:txBody>
                  <a:tcPr anchor="ctr">
                    <a:solidFill>
                      <a:schemeClr val="accent1">
                        <a:lumMod val="75000"/>
                      </a:schemeClr>
                    </a:solidFill>
                  </a:tcPr>
                </a:tc>
                <a:tc>
                  <a:txBody>
                    <a:bodyPr/>
                    <a:lstStyle/>
                    <a:p>
                      <a:pPr algn="ctr"/>
                      <a:r>
                        <a:rPr sz="1300" b="1">
                          <a:solidFill>
                            <a:srgbClr val="FFFFFF"/>
                          </a:solidFill>
                          <a:latin typeface="Calibri"/>
                        </a:rPr>
                        <a:t>HRV</a:t>
                      </a:r>
                    </a:p>
                  </a:txBody>
                  <a:tcPr anchor="ctr">
                    <a:solidFill>
                      <a:schemeClr val="accent1">
                        <a:lumMod val="75000"/>
                      </a:schemeClr>
                    </a:solidFill>
                  </a:tcPr>
                </a:tc>
                <a:tc>
                  <a:txBody>
                    <a:bodyPr/>
                    <a:lstStyle/>
                    <a:p>
                      <a:pPr algn="ctr"/>
                      <a:r>
                        <a:rPr sz="1300" b="1">
                          <a:solidFill>
                            <a:srgbClr val="FFFFFF"/>
                          </a:solidFill>
                          <a:latin typeface="Calibri"/>
                        </a:rPr>
                        <a:t>SpO₂</a:t>
                      </a:r>
                    </a:p>
                  </a:txBody>
                  <a:tcPr anchor="ctr">
                    <a:solidFill>
                      <a:schemeClr val="accent1">
                        <a:lumMod val="75000"/>
                      </a:schemeClr>
                    </a:solidFill>
                  </a:tcPr>
                </a:tc>
                <a:tc>
                  <a:txBody>
                    <a:bodyPr/>
                    <a:lstStyle/>
                    <a:p>
                      <a:pPr algn="ctr"/>
                      <a:r>
                        <a:rPr sz="1300" b="1">
                          <a:solidFill>
                            <a:srgbClr val="FFFFFF"/>
                          </a:solidFill>
                          <a:latin typeface="Calibri"/>
                        </a:rPr>
                        <a:t>Activity</a:t>
                      </a:r>
                    </a:p>
                  </a:txBody>
                  <a:tcPr anchor="ctr">
                    <a:solidFill>
                      <a:schemeClr val="accent1">
                        <a:lumMod val="75000"/>
                      </a:schemeClr>
                    </a:solidFill>
                  </a:tcPr>
                </a:tc>
                <a:extLst>
                  <a:ext uri="{0D108BD9-81ED-4DB2-BD59-A6C34878D82A}">
                    <a16:rowId xmlns:a16="http://schemas.microsoft.com/office/drawing/2014/main" val="10000"/>
                  </a:ext>
                </a:extLst>
              </a:tr>
              <a:tr h="457200">
                <a:tc>
                  <a:txBody>
                    <a:bodyPr/>
                    <a:lstStyle/>
                    <a:p>
                      <a:pPr algn="ctr"/>
                      <a:r>
                        <a:rPr sz="1300" b="0">
                          <a:solidFill>
                            <a:srgbClr val="0E1330"/>
                          </a:solidFill>
                          <a:latin typeface="Calibri"/>
                        </a:rPr>
                        <a:t>t₁</a:t>
                      </a:r>
                    </a:p>
                  </a:txBody>
                  <a:tcPr anchor="ctr">
                    <a:solidFill>
                      <a:srgbClr val="EEF1F8"/>
                    </a:solidFill>
                  </a:tcPr>
                </a:tc>
                <a:tc>
                  <a:txBody>
                    <a:bodyPr/>
                    <a:lstStyle/>
                    <a:p>
                      <a:pPr algn="ctr"/>
                      <a:r>
                        <a:rPr sz="1300" b="0">
                          <a:solidFill>
                            <a:srgbClr val="0E1330"/>
                          </a:solidFill>
                          <a:latin typeface="Calibri"/>
                        </a:rPr>
                        <a:t>—</a:t>
                      </a:r>
                    </a:p>
                  </a:txBody>
                  <a:tcPr anchor="ctr">
                    <a:solidFill>
                      <a:srgbClr val="EEF1F8"/>
                    </a:solidFill>
                  </a:tcPr>
                </a:tc>
                <a:tc>
                  <a:txBody>
                    <a:bodyPr/>
                    <a:lstStyle/>
                    <a:p>
                      <a:pPr algn="ctr"/>
                      <a:r>
                        <a:rPr sz="1300" b="0">
                          <a:solidFill>
                            <a:srgbClr val="0E1330"/>
                          </a:solidFill>
                          <a:latin typeface="Calibri"/>
                        </a:rPr>
                        <a:t>—</a:t>
                      </a:r>
                    </a:p>
                  </a:txBody>
                  <a:tcPr anchor="ctr">
                    <a:solidFill>
                      <a:srgbClr val="EEF1F8"/>
                    </a:solidFill>
                  </a:tcPr>
                </a:tc>
                <a:tc>
                  <a:txBody>
                    <a:bodyPr/>
                    <a:lstStyle/>
                    <a:p>
                      <a:pPr algn="ctr"/>
                      <a:r>
                        <a:rPr sz="1300" b="0">
                          <a:solidFill>
                            <a:srgbClr val="0E1330"/>
                          </a:solidFill>
                          <a:latin typeface="Calibri"/>
                        </a:rPr>
                        <a:t>—</a:t>
                      </a:r>
                    </a:p>
                  </a:txBody>
                  <a:tcPr anchor="ctr">
                    <a:solidFill>
                      <a:srgbClr val="EEF1F8"/>
                    </a:solidFill>
                  </a:tcPr>
                </a:tc>
                <a:tc>
                  <a:txBody>
                    <a:bodyPr/>
                    <a:lstStyle/>
                    <a:p>
                      <a:pPr algn="ctr"/>
                      <a:r>
                        <a:rPr sz="1300" b="0">
                          <a:solidFill>
                            <a:srgbClr val="0E1330"/>
                          </a:solidFill>
                          <a:latin typeface="Calibri"/>
                        </a:rPr>
                        <a:t>—</a:t>
                      </a:r>
                    </a:p>
                  </a:txBody>
                  <a:tcPr anchor="ctr">
                    <a:solidFill>
                      <a:srgbClr val="EEF1F8"/>
                    </a:solidFill>
                  </a:tcPr>
                </a:tc>
                <a:tc>
                  <a:txBody>
                    <a:bodyPr/>
                    <a:lstStyle/>
                    <a:p>
                      <a:pPr algn="ctr"/>
                      <a:r>
                        <a:rPr sz="1300" b="0">
                          <a:solidFill>
                            <a:srgbClr val="0E1330"/>
                          </a:solidFill>
                          <a:latin typeface="Calibri"/>
                        </a:rPr>
                        <a:t>—</a:t>
                      </a:r>
                    </a:p>
                  </a:txBody>
                  <a:tcPr anchor="ctr">
                    <a:solidFill>
                      <a:srgbClr val="EEF1F8"/>
                    </a:solidFill>
                  </a:tcPr>
                </a:tc>
                <a:extLst>
                  <a:ext uri="{0D108BD9-81ED-4DB2-BD59-A6C34878D82A}">
                    <a16:rowId xmlns:a16="http://schemas.microsoft.com/office/drawing/2014/main" val="10001"/>
                  </a:ext>
                </a:extLst>
              </a:tr>
              <a:tr h="457200">
                <a:tc>
                  <a:txBody>
                    <a:bodyPr/>
                    <a:lstStyle/>
                    <a:p>
                      <a:pPr algn="ctr"/>
                      <a:r>
                        <a:rPr sz="1300" b="0">
                          <a:solidFill>
                            <a:srgbClr val="0E1330"/>
                          </a:solidFill>
                          <a:latin typeface="Calibri"/>
                        </a:rPr>
                        <a:t>t₂</a:t>
                      </a:r>
                    </a:p>
                  </a:txBody>
                  <a:tcPr anchor="ctr">
                    <a:solidFill>
                      <a:srgbClr val="FFFFFF"/>
                    </a:solidFill>
                  </a:tcPr>
                </a:tc>
                <a:tc>
                  <a:txBody>
                    <a:bodyPr/>
                    <a:lstStyle/>
                    <a:p>
                      <a:pPr algn="ctr"/>
                      <a:r>
                        <a:rPr sz="1300" b="0">
                          <a:solidFill>
                            <a:srgbClr val="0E1330"/>
                          </a:solidFill>
                          <a:latin typeface="Calibri"/>
                        </a:rPr>
                        <a:t>—</a:t>
                      </a:r>
                    </a:p>
                  </a:txBody>
                  <a:tcPr anchor="ctr">
                    <a:solidFill>
                      <a:srgbClr val="FFFFFF"/>
                    </a:solidFill>
                  </a:tcPr>
                </a:tc>
                <a:tc>
                  <a:txBody>
                    <a:bodyPr/>
                    <a:lstStyle/>
                    <a:p>
                      <a:pPr algn="ctr"/>
                      <a:r>
                        <a:rPr sz="1300" b="0">
                          <a:solidFill>
                            <a:srgbClr val="0E1330"/>
                          </a:solidFill>
                          <a:latin typeface="Calibri"/>
                        </a:rPr>
                        <a:t>—</a:t>
                      </a:r>
                    </a:p>
                  </a:txBody>
                  <a:tcPr anchor="ctr">
                    <a:solidFill>
                      <a:srgbClr val="FFFFFF"/>
                    </a:solidFill>
                  </a:tcPr>
                </a:tc>
                <a:tc>
                  <a:txBody>
                    <a:bodyPr/>
                    <a:lstStyle/>
                    <a:p>
                      <a:pPr algn="ctr"/>
                      <a:r>
                        <a:rPr sz="1300" b="0">
                          <a:solidFill>
                            <a:srgbClr val="0E1330"/>
                          </a:solidFill>
                          <a:latin typeface="Calibri"/>
                        </a:rPr>
                        <a:t>—</a:t>
                      </a:r>
                    </a:p>
                  </a:txBody>
                  <a:tcPr anchor="ctr">
                    <a:solidFill>
                      <a:srgbClr val="FFFFFF"/>
                    </a:solidFill>
                  </a:tcPr>
                </a:tc>
                <a:tc>
                  <a:txBody>
                    <a:bodyPr/>
                    <a:lstStyle/>
                    <a:p>
                      <a:pPr algn="ctr"/>
                      <a:r>
                        <a:rPr sz="1300" b="0">
                          <a:solidFill>
                            <a:srgbClr val="0E1330"/>
                          </a:solidFill>
                          <a:latin typeface="Calibri"/>
                        </a:rPr>
                        <a:t>—</a:t>
                      </a:r>
                    </a:p>
                  </a:txBody>
                  <a:tcPr anchor="ctr">
                    <a:solidFill>
                      <a:srgbClr val="FFFFFF"/>
                    </a:solidFill>
                  </a:tcPr>
                </a:tc>
                <a:tc>
                  <a:txBody>
                    <a:bodyPr/>
                    <a:lstStyle/>
                    <a:p>
                      <a:pPr algn="ctr"/>
                      <a:r>
                        <a:rPr sz="1300" b="0">
                          <a:solidFill>
                            <a:srgbClr val="0E1330"/>
                          </a:solidFill>
                          <a:latin typeface="Calibri"/>
                        </a:rPr>
                        <a:t>—</a:t>
                      </a:r>
                    </a:p>
                  </a:txBody>
                  <a:tcPr anchor="ctr">
                    <a:solidFill>
                      <a:srgbClr val="FFFFFF"/>
                    </a:solidFill>
                  </a:tcPr>
                </a:tc>
                <a:extLst>
                  <a:ext uri="{0D108BD9-81ED-4DB2-BD59-A6C34878D82A}">
                    <a16:rowId xmlns:a16="http://schemas.microsoft.com/office/drawing/2014/main" val="10002"/>
                  </a:ext>
                </a:extLst>
              </a:tr>
              <a:tr h="457200">
                <a:tc>
                  <a:txBody>
                    <a:bodyPr/>
                    <a:lstStyle/>
                    <a:p>
                      <a:pPr algn="ctr"/>
                      <a:r>
                        <a:rPr sz="1300" b="0">
                          <a:solidFill>
                            <a:srgbClr val="0E1330"/>
                          </a:solidFill>
                          <a:latin typeface="Calibri"/>
                        </a:rPr>
                        <a:t>t₃</a:t>
                      </a:r>
                    </a:p>
                  </a:txBody>
                  <a:tcPr anchor="ctr">
                    <a:solidFill>
                      <a:srgbClr val="EEF1F8"/>
                    </a:solidFill>
                  </a:tcPr>
                </a:tc>
                <a:tc>
                  <a:txBody>
                    <a:bodyPr/>
                    <a:lstStyle/>
                    <a:p>
                      <a:pPr algn="ctr"/>
                      <a:r>
                        <a:rPr sz="1300" b="0">
                          <a:solidFill>
                            <a:srgbClr val="0E1330"/>
                          </a:solidFill>
                          <a:latin typeface="Calibri"/>
                        </a:rPr>
                        <a:t>—</a:t>
                      </a:r>
                    </a:p>
                  </a:txBody>
                  <a:tcPr anchor="ctr">
                    <a:solidFill>
                      <a:srgbClr val="EEF1F8"/>
                    </a:solidFill>
                  </a:tcPr>
                </a:tc>
                <a:tc>
                  <a:txBody>
                    <a:bodyPr/>
                    <a:lstStyle/>
                    <a:p>
                      <a:pPr algn="ctr"/>
                      <a:r>
                        <a:rPr sz="1300" b="0">
                          <a:solidFill>
                            <a:srgbClr val="0E1330"/>
                          </a:solidFill>
                          <a:latin typeface="Calibri"/>
                        </a:rPr>
                        <a:t>—</a:t>
                      </a:r>
                    </a:p>
                  </a:txBody>
                  <a:tcPr anchor="ctr">
                    <a:solidFill>
                      <a:srgbClr val="EEF1F8"/>
                    </a:solidFill>
                  </a:tcPr>
                </a:tc>
                <a:tc>
                  <a:txBody>
                    <a:bodyPr/>
                    <a:lstStyle/>
                    <a:p>
                      <a:pPr algn="ctr"/>
                      <a:r>
                        <a:rPr sz="1300" b="0">
                          <a:solidFill>
                            <a:srgbClr val="0E1330"/>
                          </a:solidFill>
                          <a:latin typeface="Calibri"/>
                        </a:rPr>
                        <a:t>—</a:t>
                      </a:r>
                    </a:p>
                  </a:txBody>
                  <a:tcPr anchor="ctr">
                    <a:solidFill>
                      <a:srgbClr val="EEF1F8"/>
                    </a:solidFill>
                  </a:tcPr>
                </a:tc>
                <a:tc>
                  <a:txBody>
                    <a:bodyPr/>
                    <a:lstStyle/>
                    <a:p>
                      <a:pPr algn="ctr"/>
                      <a:r>
                        <a:rPr sz="1300" b="0">
                          <a:solidFill>
                            <a:srgbClr val="0E1330"/>
                          </a:solidFill>
                          <a:latin typeface="Calibri"/>
                        </a:rPr>
                        <a:t>—</a:t>
                      </a:r>
                    </a:p>
                  </a:txBody>
                  <a:tcPr anchor="ctr">
                    <a:solidFill>
                      <a:srgbClr val="EEF1F8"/>
                    </a:solidFill>
                  </a:tcPr>
                </a:tc>
                <a:tc>
                  <a:txBody>
                    <a:bodyPr/>
                    <a:lstStyle/>
                    <a:p>
                      <a:pPr algn="ctr"/>
                      <a:r>
                        <a:rPr sz="1300" b="0">
                          <a:solidFill>
                            <a:srgbClr val="0E1330"/>
                          </a:solidFill>
                          <a:latin typeface="Calibri"/>
                        </a:rPr>
                        <a:t>—</a:t>
                      </a:r>
                    </a:p>
                  </a:txBody>
                  <a:tcPr anchor="ctr">
                    <a:solidFill>
                      <a:srgbClr val="EEF1F8"/>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66928" y="4206240"/>
            <a:ext cx="6035040" cy="822960"/>
          </a:xfrm>
          <a:prstGeom prst="rect">
            <a:avLst/>
          </a:prstGeom>
          <a:noFill/>
        </p:spPr>
        <p:txBody>
          <a:bodyPr wrap="square" lIns="0" tIns="0" rIns="0" bIns="0" anchor="t">
            <a:spAutoFit/>
          </a:bodyPr>
          <a:lstStyle/>
          <a:p>
            <a:pPr marL="0" indent="0" algn="l">
              <a:spcAft>
                <a:spcPts val="400"/>
              </a:spcAft>
              <a:buNone/>
            </a:pPr>
            <a:r>
              <a:rPr sz="1500" b="1" i="1">
                <a:solidFill>
                  <a:srgbClr val="2E3A8C"/>
                </a:solidFill>
                <a:latin typeface="Cambria"/>
              </a:rPr>
              <a:t>The values themselves are only part of the problem.</a:t>
            </a:r>
          </a:p>
        </p:txBody>
      </p:sp>
      <p:sp>
        <p:nvSpPr>
          <p:cNvPr id="10" name="Rounded Rectangle 9"/>
          <p:cNvSpPr/>
          <p:nvPr/>
        </p:nvSpPr>
        <p:spPr>
          <a:xfrm>
            <a:off x="6858000" y="1828800"/>
            <a:ext cx="4754880" cy="3200400"/>
          </a:xfrm>
          <a:prstGeom prst="roundRect">
            <a:avLst>
              <a:gd name="adj" fmla="val 2285"/>
            </a:avLst>
          </a:prstGeom>
          <a:solidFill>
            <a:srgbClr val="D6F2EC"/>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95744" y="1984248"/>
            <a:ext cx="4279392" cy="365760"/>
          </a:xfrm>
          <a:prstGeom prst="rect">
            <a:avLst/>
          </a:prstGeom>
          <a:noFill/>
        </p:spPr>
        <p:txBody>
          <a:bodyPr wrap="square" lIns="0" tIns="0" rIns="0" bIns="0" anchor="t">
            <a:spAutoFit/>
          </a:bodyPr>
          <a:lstStyle/>
          <a:p>
            <a:pPr marL="0" indent="0" algn="l">
              <a:spcAft>
                <a:spcPts val="400"/>
              </a:spcAft>
              <a:buNone/>
            </a:pPr>
            <a:r>
              <a:rPr sz="1500" b="1" i="0">
                <a:solidFill>
                  <a:srgbClr val="00A896"/>
                </a:solidFill>
                <a:latin typeface="Calibri"/>
              </a:rPr>
              <a:t>We also need to consider</a:t>
            </a:r>
          </a:p>
        </p:txBody>
      </p:sp>
      <p:sp>
        <p:nvSpPr>
          <p:cNvPr id="12" name="TextBox 11"/>
          <p:cNvSpPr txBox="1"/>
          <p:nvPr/>
        </p:nvSpPr>
        <p:spPr>
          <a:xfrm>
            <a:off x="7095744" y="2441448"/>
            <a:ext cx="4279392" cy="2478024"/>
          </a:xfrm>
          <a:prstGeom prst="rect">
            <a:avLst/>
          </a:prstGeom>
          <a:noFill/>
        </p:spPr>
        <p:txBody>
          <a:bodyPr wrap="square" lIns="0" tIns="0" rIns="0" bIns="0" anchor="t">
            <a:spAutoFit/>
          </a:bodyPr>
          <a:lstStyle/>
          <a:p>
            <a:pPr marL="189864" indent="-189864" algn="l">
              <a:spcAft>
                <a:spcPts val="600"/>
              </a:spcAft>
              <a:buClr>
                <a:srgbClr val="00A896"/>
              </a:buClr>
              <a:buChar char="•"/>
            </a:pPr>
            <a:r>
              <a:rPr sz="1300" b="0" i="0">
                <a:solidFill>
                  <a:srgbClr val="0E1330"/>
                </a:solidFill>
                <a:latin typeface="Calibri"/>
              </a:rPr>
              <a:t>How measurements change over time</a:t>
            </a:r>
          </a:p>
          <a:p>
            <a:pPr marL="189864" indent="-189864" algn="l">
              <a:spcAft>
                <a:spcPts val="600"/>
              </a:spcAft>
              <a:buClr>
                <a:srgbClr val="00A896"/>
              </a:buClr>
              <a:buChar char="•"/>
            </a:pPr>
            <a:r>
              <a:rPr sz="1300" b="0" i="0">
                <a:solidFill>
                  <a:srgbClr val="0E1330"/>
                </a:solidFill>
                <a:latin typeface="Calibri"/>
              </a:rPr>
              <a:t>Dependencies between variables</a:t>
            </a:r>
          </a:p>
          <a:p>
            <a:pPr marL="189864" indent="-189864" algn="l">
              <a:spcAft>
                <a:spcPts val="600"/>
              </a:spcAft>
              <a:buClr>
                <a:srgbClr val="00A896"/>
              </a:buClr>
              <a:buChar char="•"/>
            </a:pPr>
            <a:r>
              <a:rPr sz="1300" b="0" i="0">
                <a:solidFill>
                  <a:srgbClr val="0E1330"/>
                </a:solidFill>
                <a:latin typeface="Calibri"/>
              </a:rPr>
              <a:t>Repeated measurements from the same source</a:t>
            </a:r>
          </a:p>
          <a:p>
            <a:pPr marL="189864" indent="-189864" algn="l">
              <a:spcAft>
                <a:spcPts val="600"/>
              </a:spcAft>
              <a:buClr>
                <a:srgbClr val="00A896"/>
              </a:buClr>
              <a:buChar char="•"/>
            </a:pPr>
            <a:r>
              <a:rPr sz="1300" b="0" i="0">
                <a:solidFill>
                  <a:srgbClr val="0E1330"/>
                </a:solidFill>
                <a:latin typeface="Calibri"/>
              </a:rPr>
              <a:t>Different measurement frequencies</a:t>
            </a:r>
          </a:p>
          <a:p>
            <a:pPr marL="189864" indent="-189864" algn="l">
              <a:spcAft>
                <a:spcPts val="600"/>
              </a:spcAft>
              <a:buClr>
                <a:srgbClr val="00A896"/>
              </a:buClr>
              <a:buChar char="•"/>
            </a:pPr>
            <a:r>
              <a:rPr sz="1300" b="0" i="0">
                <a:solidFill>
                  <a:srgbClr val="0E1330"/>
                </a:solidFill>
                <a:latin typeface="Calibri"/>
              </a:rPr>
              <a:t>Missing observations</a:t>
            </a:r>
          </a:p>
          <a:p>
            <a:pPr marL="189864" indent="-189864" algn="l">
              <a:spcAft>
                <a:spcPts val="600"/>
              </a:spcAft>
              <a:buClr>
                <a:srgbClr val="00A896"/>
              </a:buClr>
              <a:buChar char="•"/>
            </a:pPr>
            <a:r>
              <a:rPr sz="1300" b="0" i="0">
                <a:solidFill>
                  <a:srgbClr val="0E1330"/>
                </a:solidFill>
                <a:latin typeface="Calibri"/>
              </a:rPr>
              <a:t>Plausible combinations of measurements</a:t>
            </a:r>
          </a:p>
        </p:txBody>
      </p:sp>
      <p:sp>
        <p:nvSpPr>
          <p:cNvPr id="13" name="Rounded Rectangle 12"/>
          <p:cNvSpPr/>
          <p:nvPr/>
        </p:nvSpPr>
        <p:spPr>
          <a:xfrm>
            <a:off x="566928" y="5257800"/>
            <a:ext cx="11045952" cy="868680"/>
          </a:xfrm>
          <a:prstGeom prst="roundRect">
            <a:avLst>
              <a:gd name="adj" fmla="val 8421"/>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5469002"/>
            <a:ext cx="10497312" cy="446276"/>
          </a:xfrm>
          <a:prstGeom prst="rect">
            <a:avLst/>
          </a:prstGeom>
          <a:noFill/>
        </p:spPr>
        <p:txBody>
          <a:bodyPr wrap="square" lIns="0" tIns="0" rIns="0" bIns="0" anchor="ctr">
            <a:spAutoFit/>
          </a:bodyPr>
          <a:lstStyle/>
          <a:p>
            <a:pPr marL="0" indent="0" algn="l">
              <a:spcAft>
                <a:spcPts val="300"/>
              </a:spcAft>
              <a:buNone/>
            </a:pPr>
            <a:r>
              <a:rPr sz="1050" b="1" i="0">
                <a:solidFill>
                  <a:schemeClr val="bg1"/>
                </a:solidFill>
                <a:latin typeface="Calibri"/>
              </a:rPr>
              <a:t>KEY MESSAGE</a:t>
            </a:r>
          </a:p>
          <a:p>
            <a:pPr marL="0" indent="0" algn="l">
              <a:spcAft>
                <a:spcPts val="400"/>
              </a:spcAft>
              <a:buNone/>
            </a:pPr>
            <a:r>
              <a:rPr sz="1600" b="0" i="1">
                <a:solidFill>
                  <a:srgbClr val="FFFFFF"/>
                </a:solidFill>
                <a:latin typeface="Cambria"/>
              </a:rPr>
              <a:t>For time-series data, realism includes temporal </a:t>
            </a:r>
            <a:r>
              <a:rPr sz="1600" b="0" i="1" err="1">
                <a:solidFill>
                  <a:srgbClr val="FFFFFF"/>
                </a:solidFill>
                <a:latin typeface="Cambria"/>
              </a:rPr>
              <a:t>behaviour</a:t>
            </a:r>
            <a:r>
              <a:rPr sz="1600" b="0" i="1">
                <a:solidFill>
                  <a:srgbClr val="FFFFFF"/>
                </a:solidFill>
                <a:latin typeface="Cambria"/>
              </a:rPr>
              <a:t> — not just realistic-looking individual values.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5</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Where synthetic data is already in production</a:t>
            </a:r>
            <a:endParaRPr lang="en-US" sz="3000"/>
          </a:p>
        </p:txBody>
      </p:sp>
      <p:graphicFrame>
        <p:nvGraphicFramePr>
          <p:cNvPr id="14" name="Table 0"/>
          <p:cNvGraphicFramePr>
            <a:graphicFrameLocks noGrp="1"/>
          </p:cNvGraphicFramePr>
          <p:nvPr>
            <p:extLst>
              <p:ext uri="{D42A27DB-BD31-4B8C-83A1-F6EECF244321}">
                <p14:modId xmlns:p14="http://schemas.microsoft.com/office/powerpoint/2010/main" val="2495413280"/>
              </p:ext>
            </p:extLst>
          </p:nvPr>
        </p:nvGraphicFramePr>
        <p:xfrm>
          <a:off x="566928" y="1627632"/>
          <a:ext cx="11064238" cy="3108960"/>
        </p:xfrm>
        <a:graphic>
          <a:graphicData uri="http://schemas.openxmlformats.org/drawingml/2006/table">
            <a:tbl>
              <a:tblPr/>
              <a:tblGrid>
                <a:gridCol w="1888434">
                  <a:extLst>
                    <a:ext uri="{9D8B030D-6E8A-4147-A177-3AD203B41FA5}">
                      <a16:colId xmlns:a16="http://schemas.microsoft.com/office/drawing/2014/main" val="20000"/>
                    </a:ext>
                  </a:extLst>
                </a:gridCol>
                <a:gridCol w="3506525">
                  <a:extLst>
                    <a:ext uri="{9D8B030D-6E8A-4147-A177-3AD203B41FA5}">
                      <a16:colId xmlns:a16="http://schemas.microsoft.com/office/drawing/2014/main" val="20001"/>
                    </a:ext>
                  </a:extLst>
                </a:gridCol>
                <a:gridCol w="5669279">
                  <a:extLst>
                    <a:ext uri="{9D8B030D-6E8A-4147-A177-3AD203B41FA5}">
                      <a16:colId xmlns:a16="http://schemas.microsoft.com/office/drawing/2014/main" val="20002"/>
                    </a:ext>
                  </a:extLst>
                </a:gridCol>
              </a:tblGrid>
              <a:tr h="365760">
                <a:tc>
                  <a:txBody>
                    <a:bodyPr/>
                    <a:lstStyle/>
                    <a:p>
                      <a:pPr marL="0" indent="0" algn="l">
                        <a:buNone/>
                      </a:pPr>
                      <a:r>
                        <a:rPr lang="en-US" sz="1000" b="1">
                          <a:solidFill>
                            <a:srgbClr val="FFFFFF"/>
                          </a:solidFill>
                          <a:latin typeface="Calibri" pitchFamily="34" charset="0"/>
                          <a:ea typeface="Calibri" pitchFamily="34" charset="-122"/>
                          <a:cs typeface="Calibri" pitchFamily="34" charset="-120"/>
                        </a:rPr>
                        <a:t>Sector</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000" b="1">
                          <a:solidFill>
                            <a:srgbClr val="FFFFFF"/>
                          </a:solidFill>
                          <a:latin typeface="Calibri" pitchFamily="34" charset="0"/>
                          <a:ea typeface="Calibri" pitchFamily="34" charset="-122"/>
                          <a:cs typeface="Calibri" pitchFamily="34" charset="-120"/>
                        </a:rPr>
                        <a:t>Problem it solves</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000" b="1">
                          <a:solidFill>
                            <a:srgbClr val="FFFFFF"/>
                          </a:solidFill>
                          <a:latin typeface="Calibri" pitchFamily="34" charset="0"/>
                          <a:ea typeface="Calibri" pitchFamily="34" charset="-122"/>
                          <a:cs typeface="Calibri" pitchFamily="34" charset="-120"/>
                        </a:rPr>
                        <a:t>Evidence in the literature</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54864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Healthcare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Sharing patient-level data for research without exposing records; augmenting rare conditions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medGAN generates realistic multi-label patient records from EHRs and is evaluated for disclosure risk [28]; reviews survey dozens of deployed tabular health generators [44]</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54864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Financial services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Fraud and AML model training where positive cases are a fraction of a percent</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Conditional tabular generators are used to rebalance minority classes and to create shareable test data [11] [46]</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Autonomous systems &amp; robotics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Perception training for scenarios that are dangerous or rare to record; closing the reality gap for detection and pose estimation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Simulator datasets such as Playing for Data and SYNTHIA supply pixel-perfect labels at scale [21] [23]; domain randomisation lets simulation-trained networks transfer to real scenes [22]</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r h="54864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Software engineering</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Populating non-production environments with realistic test data</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The Synthetic Data Vault models relational databases and generates referentially consistent test data [9]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Foundation-model training</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Extending or curating pre-training and instruction data</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Self-generated instruction data measurably improves instruction following [16]; curated synthetic 'textbook' data improves small-model performance [17]</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[9] [11] [16] [17] [21] [22] [23] [28] [44] [46]</a:t>
            </a:r>
            <a:endParaRPr lang="en-US" sz="1000"/>
          </a:p>
        </p:txBody>
      </p:sp>
      <p:sp>
        <p:nvSpPr>
          <p:cNvPr id="15" name="Rounded Rectangle 14"/>
          <p:cNvSpPr/>
          <p:nvPr/>
        </p:nvSpPr>
        <p:spPr>
          <a:xfrm>
            <a:off x="566928" y="4864607"/>
            <a:ext cx="6583680" cy="1408176"/>
          </a:xfrm>
          <a:prstGeom prst="roundRect">
            <a:avLst>
              <a:gd name="adj" fmla="val 5194"/>
            </a:avLst>
          </a:prstGeom>
          <a:solidFill>
            <a:srgbClr val="EEF1F8"/>
          </a:solidFill>
          <a:ln w="12700">
            <a:solidFill>
              <a:srgbClr val="DCE6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4956047"/>
            <a:ext cx="6217920" cy="274320"/>
          </a:xfrm>
          <a:prstGeom prst="rect">
            <a:avLst/>
          </a:prstGeom>
          <a:noFill/>
        </p:spPr>
        <p:txBody>
          <a:bodyPr wrap="square" lIns="0" tIns="0" rIns="0" bIns="0" anchor="t">
            <a:spAutoFit/>
          </a:bodyPr>
          <a:lstStyle/>
          <a:p>
            <a:pPr marL="0" indent="0" algn="l">
              <a:spcAft>
                <a:spcPts val="400"/>
              </a:spcAft>
              <a:buNone/>
            </a:pPr>
            <a:r>
              <a:rPr sz="1200" b="1" i="0">
                <a:solidFill>
                  <a:srgbClr val="2E3A8C"/>
                </a:solidFill>
                <a:latin typeface="Calibri"/>
              </a:rPr>
              <a:t>Example: wearable + CGM application — potential synthetic-data use cases</a:t>
            </a:r>
          </a:p>
        </p:txBody>
      </p:sp>
      <p:sp>
        <p:nvSpPr>
          <p:cNvPr id="17" name="TextBox 16"/>
          <p:cNvSpPr txBox="1"/>
          <p:nvPr/>
        </p:nvSpPr>
        <p:spPr>
          <a:xfrm>
            <a:off x="749808" y="5276088"/>
            <a:ext cx="6217920" cy="950976"/>
          </a:xfrm>
          <a:prstGeom prst="rect">
            <a:avLst/>
          </a:prstGeom>
          <a:noFill/>
        </p:spPr>
        <p:txBody>
          <a:bodyPr wrap="square" lIns="0" tIns="0" rIns="0" bIns="0" anchor="t">
            <a:spAutoFit/>
          </a:bodyPr>
          <a:lstStyle/>
          <a:p>
            <a:pPr marL="0" indent="0" algn="l">
              <a:spcAft>
                <a:spcPts val="400"/>
              </a:spcAft>
              <a:buNone/>
            </a:pPr>
            <a:r>
              <a:rPr sz="1150" b="0" i="0">
                <a:solidFill>
                  <a:srgbClr val="0E1330"/>
                </a:solidFill>
                <a:latin typeface="Calibri"/>
              </a:rPr>
              <a:t>Development datasets · application testing · analytics experimentation · scenario generation · scale testing · controlled data sharing</a:t>
            </a:r>
          </a:p>
        </p:txBody>
      </p:sp>
      <p:sp>
        <p:nvSpPr>
          <p:cNvPr id="18" name="Rounded Rectangle 17"/>
          <p:cNvSpPr/>
          <p:nvPr/>
        </p:nvSpPr>
        <p:spPr>
          <a:xfrm>
            <a:off x="7333488" y="4864607"/>
            <a:ext cx="4279392" cy="1408176"/>
          </a:xfrm>
          <a:prstGeom prst="roundRect">
            <a:avLst>
              <a:gd name="adj" fmla="val 5194"/>
            </a:avLst>
          </a:prstGeom>
          <a:solidFill>
            <a:srgbClr val="FBEAD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16367" y="4956047"/>
            <a:ext cx="3913631" cy="274320"/>
          </a:xfrm>
          <a:prstGeom prst="rect">
            <a:avLst/>
          </a:prstGeom>
          <a:noFill/>
        </p:spPr>
        <p:txBody>
          <a:bodyPr wrap="square" lIns="0" tIns="0" rIns="0" bIns="0" anchor="t">
            <a:spAutoFit/>
          </a:bodyPr>
          <a:lstStyle/>
          <a:p>
            <a:pPr marL="0" indent="0" algn="l">
              <a:spcAft>
                <a:spcPts val="400"/>
              </a:spcAft>
              <a:buNone/>
            </a:pPr>
            <a:r>
              <a:rPr sz="1200" b="1" i="0">
                <a:solidFill>
                  <a:srgbClr val="D9822B"/>
                </a:solidFill>
                <a:latin typeface="Calibri"/>
              </a:rPr>
              <a:t>Discussion question</a:t>
            </a:r>
          </a:p>
        </p:txBody>
      </p:sp>
      <p:sp>
        <p:nvSpPr>
          <p:cNvPr id="20" name="TextBox 19"/>
          <p:cNvSpPr txBox="1"/>
          <p:nvPr/>
        </p:nvSpPr>
        <p:spPr>
          <a:xfrm>
            <a:off x="7516367" y="5276088"/>
            <a:ext cx="3913631" cy="950976"/>
          </a:xfrm>
          <a:prstGeom prst="rect">
            <a:avLst/>
          </a:prstGeom>
          <a:noFill/>
        </p:spPr>
        <p:txBody>
          <a:bodyPr wrap="square" lIns="0" tIns="0" rIns="0" bIns="0" anchor="t">
            <a:spAutoFit/>
          </a:bodyPr>
          <a:lstStyle/>
          <a:p>
            <a:pPr marL="0" indent="0" algn="l">
              <a:spcAft>
                <a:spcPts val="400"/>
              </a:spcAft>
              <a:buNone/>
            </a:pPr>
            <a:r>
              <a:rPr sz="1250" b="0" i="0">
                <a:solidFill>
                  <a:srgbClr val="0E1330"/>
                </a:solidFill>
                <a:latin typeface="Cambria"/>
              </a:rPr>
              <a:t>Which properties of the original data would we need to preserve for each use case?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6</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Discriminative vs generative modelling</a:t>
            </a:r>
            <a:endParaRPr lang="en-US" sz="3000"/>
          </a:p>
        </p:txBody>
      </p:sp>
      <p:sp>
        <p:nvSpPr>
          <p:cNvPr id="5" name="Shape 3"/>
          <p:cNvSpPr/>
          <p:nvPr/>
        </p:nvSpPr>
        <p:spPr>
          <a:xfrm>
            <a:off x="566928" y="1664208"/>
            <a:ext cx="5440680" cy="1920240"/>
          </a:xfrm>
          <a:prstGeom prst="roundRect">
            <a:avLst>
              <a:gd name="adj" fmla="val 3810"/>
            </a:avLst>
          </a:prstGeom>
          <a:solidFill>
            <a:srgbClr val="EEF1F8"/>
          </a:solidFill>
          <a:ln w="15875">
            <a:solidFill>
              <a:srgbClr val="DCE6FA"/>
            </a:solidFill>
            <a:prstDash val="solid"/>
          </a:ln>
        </p:spPr>
      </p:sp>
      <p:sp>
        <p:nvSpPr>
          <p:cNvPr id="6" name="Text 4"/>
          <p:cNvSpPr txBox="1"/>
          <p:nvPr/>
        </p:nvSpPr>
        <p:spPr>
          <a:xfrm>
            <a:off x="804672" y="1819656"/>
            <a:ext cx="4965192" cy="438912"/>
          </a:xfrm>
          <a:prstGeom prst="rect">
            <a:avLst/>
          </a:prstGeom>
          <a:noFill/>
          <a:ln/>
        </p:spPr>
        <p:txBody>
          <a:bodyPr wrap="square" lIns="0" tIns="0" rIns="0" bIns="0" rtlCol="0" anchor="ctr"/>
          <a:lstStyle/>
          <a:p>
            <a:pPr marL="0" indent="0">
              <a:buNone/>
            </a:pPr>
            <a:r>
              <a:rPr lang="en-US" sz="1600" b="1">
                <a:solidFill>
                  <a:srgbClr val="2E3A8C"/>
                </a:solidFill>
                <a:latin typeface="Calibri" pitchFamily="34" charset="0"/>
                <a:ea typeface="Calibri" pitchFamily="34" charset="-122"/>
                <a:cs typeface="Calibri" pitchFamily="34" charset="-120"/>
              </a:rPr>
              <a:t>Discriminative:  p(y | x)</a:t>
            </a:r>
            <a:endParaRPr lang="en-US" sz="1600"/>
          </a:p>
        </p:txBody>
      </p:sp>
      <p:sp>
        <p:nvSpPr>
          <p:cNvPr id="7" name="Text 5"/>
          <p:cNvSpPr txBox="1"/>
          <p:nvPr/>
        </p:nvSpPr>
        <p:spPr>
          <a:xfrm>
            <a:off x="804672" y="2322576"/>
            <a:ext cx="4965192" cy="1115568"/>
          </a:xfrm>
          <a:prstGeom prst="rect">
            <a:avLst/>
          </a:prstGeom>
          <a:noFill/>
          <a:ln/>
        </p:spPr>
        <p:txBody>
          <a:bodyPr wrap="square" lIns="0" tIns="0" rIns="0" bIns="0" rtlCol="0" anchor="t"/>
          <a:lstStyle/>
          <a:p>
            <a:pPr marL="0" indent="0">
              <a:lnSpc>
                <a:spcPct val="112000"/>
              </a:lnSpc>
              <a:buNone/>
            </a:pPr>
            <a:r>
              <a:rPr lang="en-US" sz="1250">
                <a:solidFill>
                  <a:srgbClr val="0E1330"/>
                </a:solidFill>
                <a:latin typeface="Calibri" pitchFamily="34" charset="0"/>
                <a:ea typeface="Calibri" pitchFamily="34" charset="-122"/>
                <a:cs typeface="Calibri" pitchFamily="34" charset="-120"/>
              </a:rPr>
              <a:t>Learns a decision boundary. Given an input, returns a label. Cannot produce new inputs, because it never models how x is distributed [7].</a:t>
            </a:r>
            <a:endParaRPr lang="en-US" sz="1250"/>
          </a:p>
        </p:txBody>
      </p:sp>
      <p:sp>
        <p:nvSpPr>
          <p:cNvPr id="8" name="Shape 6"/>
          <p:cNvSpPr/>
          <p:nvPr/>
        </p:nvSpPr>
        <p:spPr>
          <a:xfrm>
            <a:off x="6190488" y="1664208"/>
            <a:ext cx="5440680" cy="1920240"/>
          </a:xfrm>
          <a:prstGeom prst="roundRect">
            <a:avLst>
              <a:gd name="adj" fmla="val 3810"/>
            </a:avLst>
          </a:prstGeom>
          <a:solidFill>
            <a:srgbClr val="D6F2EC"/>
          </a:solidFill>
          <a:ln w="15875">
            <a:solidFill>
              <a:srgbClr val="00A896"/>
            </a:solidFill>
            <a:prstDash val="solid"/>
          </a:ln>
        </p:spPr>
      </p:sp>
      <p:sp>
        <p:nvSpPr>
          <p:cNvPr id="9" name="Text 7"/>
          <p:cNvSpPr txBox="1"/>
          <p:nvPr/>
        </p:nvSpPr>
        <p:spPr>
          <a:xfrm>
            <a:off x="6428232" y="1819656"/>
            <a:ext cx="4965192" cy="438912"/>
          </a:xfrm>
          <a:prstGeom prst="rect">
            <a:avLst/>
          </a:prstGeom>
          <a:noFill/>
          <a:ln/>
        </p:spPr>
        <p:txBody>
          <a:bodyPr wrap="square" lIns="0" tIns="0" rIns="0" bIns="0" rtlCol="0" anchor="ctr"/>
          <a:lstStyle/>
          <a:p>
            <a:pPr marL="0" indent="0">
              <a:buNone/>
            </a:pPr>
            <a:r>
              <a:rPr lang="en-US" sz="1600" b="1">
                <a:solidFill>
                  <a:srgbClr val="00A896"/>
                </a:solidFill>
                <a:latin typeface="Calibri" pitchFamily="34" charset="0"/>
                <a:ea typeface="Calibri" pitchFamily="34" charset="-122"/>
                <a:cs typeface="Calibri" pitchFamily="34" charset="-120"/>
              </a:rPr>
              <a:t>Generative:  p(x)  or  p(x | y)</a:t>
            </a:r>
            <a:endParaRPr lang="en-US" sz="1600"/>
          </a:p>
        </p:txBody>
      </p:sp>
      <p:sp>
        <p:nvSpPr>
          <p:cNvPr id="10" name="Text 8"/>
          <p:cNvSpPr txBox="1"/>
          <p:nvPr/>
        </p:nvSpPr>
        <p:spPr>
          <a:xfrm>
            <a:off x="6428232" y="2322576"/>
            <a:ext cx="4965192" cy="1115568"/>
          </a:xfrm>
          <a:prstGeom prst="rect">
            <a:avLst/>
          </a:prstGeom>
          <a:noFill/>
          <a:ln/>
        </p:spPr>
        <p:txBody>
          <a:bodyPr wrap="square" lIns="0" tIns="0" rIns="0" bIns="0" rtlCol="0" anchor="t"/>
          <a:lstStyle/>
          <a:p>
            <a:pPr marL="0" indent="0">
              <a:lnSpc>
                <a:spcPct val="112000"/>
              </a:lnSpc>
              <a:buNone/>
            </a:pPr>
            <a:r>
              <a:rPr lang="en-US" sz="1250">
                <a:solidFill>
                  <a:srgbClr val="0E1330"/>
                </a:solidFill>
                <a:latin typeface="Calibri" pitchFamily="34" charset="0"/>
                <a:ea typeface="Calibri" pitchFamily="34" charset="-122"/>
                <a:cs typeface="Calibri" pitchFamily="34" charset="-120"/>
              </a:rPr>
              <a:t>Learns the distribution the data came from. Sampling from it yields new data points that never existed — this is the capability synthetic data rests on [7].</a:t>
            </a:r>
            <a:endParaRPr lang="en-US" sz="1250"/>
          </a:p>
        </p:txBody>
      </p:sp>
      <p:sp>
        <p:nvSpPr>
          <p:cNvPr id="11" name="Text 9"/>
          <p:cNvSpPr txBox="1"/>
          <p:nvPr/>
        </p:nvSpPr>
        <p:spPr>
          <a:xfrm>
            <a:off x="566928" y="3840480"/>
            <a:ext cx="11064240" cy="1828800"/>
          </a:xfrm>
          <a:prstGeom prst="rect">
            <a:avLst/>
          </a:prstGeom>
          <a:noFill/>
          <a:ln/>
        </p:spPr>
        <p:txBody>
          <a:bodyPr wrap="square" lIns="0" tIns="0" rIns="0" bIns="0" rtlCol="0" anchor="t"/>
          <a:lstStyle/>
          <a:p>
            <a:pPr marL="342900" indent="-342900">
              <a:lnSpc>
                <a:spcPct val="110000"/>
              </a:lnSpc>
              <a:spcAft>
                <a:spcPts val="900"/>
              </a:spcAft>
              <a:buSzPct val="100000"/>
              <a:buChar char="▪"/>
            </a:pPr>
            <a:r>
              <a:rPr lang="en-US" sz="1350">
                <a:solidFill>
                  <a:srgbClr val="0E1330"/>
                </a:solidFill>
                <a:latin typeface="Calibri" pitchFamily="34" charset="0"/>
                <a:ea typeface="Calibri" pitchFamily="34" charset="-122"/>
                <a:cs typeface="Calibri" pitchFamily="34" charset="-120"/>
              </a:rPr>
              <a:t>Generative models differ mainly in how they represent p(x): exactly, through a bound, through a score function, or only implicitly through a sampler [7].</a:t>
            </a:r>
            <a:endParaRPr lang="en-US" sz="1350"/>
          </a:p>
          <a:p>
            <a:pPr marL="342900" indent="-342900">
              <a:lnSpc>
                <a:spcPct val="110000"/>
              </a:lnSpc>
              <a:spcAft>
                <a:spcPts val="900"/>
              </a:spcAft>
              <a:buSzPct val="100000"/>
              <a:buChar char="▪"/>
            </a:pPr>
            <a:r>
              <a:rPr lang="en-US" sz="1350">
                <a:solidFill>
                  <a:srgbClr val="0E1330"/>
                </a:solidFill>
                <a:latin typeface="Calibri" pitchFamily="34" charset="0"/>
                <a:ea typeface="Calibri" pitchFamily="34" charset="-122"/>
                <a:cs typeface="Calibri" pitchFamily="34" charset="-120"/>
              </a:rPr>
              <a:t>That representational choice determines everything practical — sampling speed, mode coverage, trainability, and whether a likelihood is available for evaluation [7] [27].</a:t>
            </a:r>
            <a:endParaRPr lang="en-US" sz="1350"/>
          </a:p>
          <a:p>
            <a:pPr marL="342900" indent="-342900">
              <a:lnSpc>
                <a:spcPct val="110000"/>
              </a:lnSpc>
              <a:spcAft>
                <a:spcPts val="900"/>
              </a:spcAft>
              <a:buSzPct val="100000"/>
              <a:buChar char="▪"/>
            </a:pPr>
            <a:r>
              <a:rPr lang="en-US" sz="1350">
                <a:solidFill>
                  <a:srgbClr val="0E1330"/>
                </a:solidFill>
                <a:latin typeface="Calibri" pitchFamily="34" charset="0"/>
                <a:ea typeface="Calibri" pitchFamily="34" charset="-122"/>
                <a:cs typeface="Calibri" pitchFamily="34" charset="-120"/>
              </a:rPr>
              <a:t>Transformers made autoregressive generation scale, which is why the same architecture now generates text, code and even tabular rows [19] [34] [13].</a:t>
            </a:r>
            <a:endParaRPr lang="en-US" sz="1350"/>
          </a:p>
        </p:txBody>
      </p:sp>
      <p:sp>
        <p:nvSpPr>
          <p:cNvPr id="12" name="Text 1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[7] [13] [19] [27] [34]</a:t>
            </a:r>
            <a:endParaRPr 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8</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Core architectures at a glance</a:t>
            </a:r>
            <a:endParaRPr lang="en-US" sz="3000"/>
          </a:p>
        </p:txBody>
      </p:sp>
      <p:sp>
        <p:nvSpPr>
          <p:cNvPr id="5" name="Shape 3"/>
          <p:cNvSpPr/>
          <p:nvPr/>
        </p:nvSpPr>
        <p:spPr>
          <a:xfrm>
            <a:off x="566928" y="1691640"/>
            <a:ext cx="3520440" cy="2971800"/>
          </a:xfrm>
          <a:prstGeom prst="roundRect">
            <a:avLst>
              <a:gd name="adj" fmla="val 2462"/>
            </a:avLst>
          </a:prstGeom>
          <a:solidFill>
            <a:srgbClr val="EEF1F8"/>
          </a:solidFill>
          <a:ln w="15875">
            <a:solidFill>
              <a:srgbClr val="DCE6FA"/>
            </a:solidFill>
            <a:prstDash val="solid"/>
          </a:ln>
        </p:spPr>
      </p:sp>
      <p:sp>
        <p:nvSpPr>
          <p:cNvPr id="6" name="Text 4"/>
          <p:cNvSpPr txBox="1"/>
          <p:nvPr/>
        </p:nvSpPr>
        <p:spPr>
          <a:xfrm>
            <a:off x="804672" y="1856232"/>
            <a:ext cx="3044952" cy="457200"/>
          </a:xfrm>
          <a:prstGeom prst="rect">
            <a:avLst/>
          </a:prstGeom>
          <a:noFill/>
          <a:ln/>
        </p:spPr>
        <p:txBody>
          <a:bodyPr wrap="square" lIns="0" tIns="0" rIns="0" bIns="0" rtlCol="0" anchor="ctr"/>
          <a:lstStyle/>
          <a:p>
            <a:pPr marL="0" indent="0">
              <a:buNone/>
            </a:pPr>
            <a:r>
              <a:rPr lang="en-US" sz="2200" b="1">
                <a:solidFill>
                  <a:srgbClr val="2E3A8C"/>
                </a:solidFill>
                <a:latin typeface="Calibri" pitchFamily="34" charset="0"/>
                <a:ea typeface="Calibri" pitchFamily="34" charset="-122"/>
                <a:cs typeface="Calibri" pitchFamily="34" charset="-120"/>
              </a:rPr>
              <a:t>GAN</a:t>
            </a:r>
            <a:endParaRPr lang="en-US" sz="2200"/>
          </a:p>
        </p:txBody>
      </p:sp>
      <p:sp>
        <p:nvSpPr>
          <p:cNvPr id="7" name="Text 5"/>
          <p:cNvSpPr txBox="1"/>
          <p:nvPr/>
        </p:nvSpPr>
        <p:spPr>
          <a:xfrm>
            <a:off x="804672" y="2304288"/>
            <a:ext cx="3044952" cy="310896"/>
          </a:xfrm>
          <a:prstGeom prst="rect">
            <a:avLst/>
          </a:prstGeom>
          <a:noFill/>
          <a:ln/>
        </p:spPr>
        <p:txBody>
          <a:bodyPr wrap="square" lIns="0" tIns="0" rIns="0" bIns="0" rtlCol="0" anchor="ctr"/>
          <a:lstStyle/>
          <a:p>
            <a:pPr marL="0" indent="0">
              <a:buNone/>
            </a:pPr>
            <a:r>
              <a:rPr lang="en-US" sz="1200" i="1">
                <a:solidFill>
                  <a:srgbClr val="5A6079"/>
                </a:solidFill>
                <a:latin typeface="Calibri" pitchFamily="34" charset="0"/>
                <a:ea typeface="Calibri" pitchFamily="34" charset="-122"/>
                <a:cs typeface="Calibri" pitchFamily="34" charset="-120"/>
              </a:rPr>
              <a:t>Two networks in competition</a:t>
            </a:r>
            <a:endParaRPr lang="en-US" sz="1200"/>
          </a:p>
        </p:txBody>
      </p:sp>
      <p:sp>
        <p:nvSpPr>
          <p:cNvPr id="8" name="Text 6"/>
          <p:cNvSpPr txBox="1"/>
          <p:nvPr/>
        </p:nvSpPr>
        <p:spPr>
          <a:xfrm>
            <a:off x="804672" y="2670048"/>
            <a:ext cx="3044952" cy="1847088"/>
          </a:xfrm>
          <a:prstGeom prst="rect">
            <a:avLst/>
          </a:prstGeom>
          <a:noFill/>
          <a:ln/>
        </p:spPr>
        <p:txBody>
          <a:bodyPr wrap="square" lIns="0" tIns="0" rIns="0" bIns="0" rtlCol="0" anchor="t"/>
          <a:lstStyle/>
          <a:p>
            <a:pPr marL="0" indent="0">
              <a:lnSpc>
                <a:spcPct val="115000"/>
              </a:lnSpc>
              <a:buNone/>
            </a:pPr>
            <a:r>
              <a:rPr lang="en-US" sz="1250">
                <a:solidFill>
                  <a:srgbClr val="0E1330"/>
                </a:solidFill>
                <a:latin typeface="Calibri" pitchFamily="34" charset="0"/>
                <a:ea typeface="Calibri" pitchFamily="34" charset="-122"/>
                <a:cs typeface="Calibri" pitchFamily="34" charset="-120"/>
              </a:rPr>
              <a:t>A generator turns noise into samples; a discriminator tries to tell them from real data. Neither has an explicit density — training is a game, not an optimisation [3].</a:t>
            </a:r>
            <a:endParaRPr lang="en-US" sz="1250"/>
          </a:p>
        </p:txBody>
      </p:sp>
      <p:sp>
        <p:nvSpPr>
          <p:cNvPr id="9" name="Shape 7"/>
          <p:cNvSpPr/>
          <p:nvPr/>
        </p:nvSpPr>
        <p:spPr>
          <a:xfrm>
            <a:off x="4334256" y="1691640"/>
            <a:ext cx="3520440" cy="2971800"/>
          </a:xfrm>
          <a:prstGeom prst="roundRect">
            <a:avLst>
              <a:gd name="adj" fmla="val 2462"/>
            </a:avLst>
          </a:prstGeom>
          <a:solidFill>
            <a:srgbClr val="D6F2EC"/>
          </a:solidFill>
          <a:ln w="15875">
            <a:solidFill>
              <a:srgbClr val="00A896"/>
            </a:solidFill>
            <a:prstDash val="solid"/>
          </a:ln>
        </p:spPr>
      </p:sp>
      <p:sp>
        <p:nvSpPr>
          <p:cNvPr id="10" name="Text 8"/>
          <p:cNvSpPr txBox="1"/>
          <p:nvPr/>
        </p:nvSpPr>
        <p:spPr>
          <a:xfrm>
            <a:off x="4572000" y="1856232"/>
            <a:ext cx="3044952" cy="457200"/>
          </a:xfrm>
          <a:prstGeom prst="rect">
            <a:avLst/>
          </a:prstGeom>
          <a:noFill/>
          <a:ln/>
        </p:spPr>
        <p:txBody>
          <a:bodyPr wrap="square" lIns="0" tIns="0" rIns="0" bIns="0" rtlCol="0" anchor="ctr"/>
          <a:lstStyle/>
          <a:p>
            <a:pPr marL="0" indent="0">
              <a:buNone/>
            </a:pPr>
            <a:r>
              <a:rPr lang="en-US" sz="2200" b="1">
                <a:solidFill>
                  <a:srgbClr val="00A896"/>
                </a:solidFill>
                <a:latin typeface="Calibri" pitchFamily="34" charset="0"/>
                <a:ea typeface="Calibri" pitchFamily="34" charset="-122"/>
                <a:cs typeface="Calibri" pitchFamily="34" charset="-120"/>
              </a:rPr>
              <a:t>VAE</a:t>
            </a:r>
            <a:endParaRPr lang="en-US" sz="2200"/>
          </a:p>
        </p:txBody>
      </p:sp>
      <p:sp>
        <p:nvSpPr>
          <p:cNvPr id="11" name="Text 9"/>
          <p:cNvSpPr txBox="1"/>
          <p:nvPr/>
        </p:nvSpPr>
        <p:spPr>
          <a:xfrm>
            <a:off x="4572000" y="2304288"/>
            <a:ext cx="3044952" cy="310896"/>
          </a:xfrm>
          <a:prstGeom prst="rect">
            <a:avLst/>
          </a:prstGeom>
          <a:noFill/>
          <a:ln/>
        </p:spPr>
        <p:txBody>
          <a:bodyPr wrap="square" lIns="0" tIns="0" rIns="0" bIns="0" rtlCol="0" anchor="ctr"/>
          <a:lstStyle/>
          <a:p>
            <a:pPr marL="0" indent="0">
              <a:buNone/>
            </a:pPr>
            <a:r>
              <a:rPr lang="en-US" sz="1200" i="1">
                <a:solidFill>
                  <a:srgbClr val="5A6079"/>
                </a:solidFill>
                <a:latin typeface="Calibri" pitchFamily="34" charset="0"/>
                <a:ea typeface="Calibri" pitchFamily="34" charset="-122"/>
                <a:cs typeface="Calibri" pitchFamily="34" charset="-120"/>
              </a:rPr>
              <a:t>Encode, regularise, decode</a:t>
            </a:r>
            <a:endParaRPr lang="en-US" sz="1200"/>
          </a:p>
        </p:txBody>
      </p:sp>
      <p:sp>
        <p:nvSpPr>
          <p:cNvPr id="12" name="Text 10"/>
          <p:cNvSpPr txBox="1"/>
          <p:nvPr/>
        </p:nvSpPr>
        <p:spPr>
          <a:xfrm>
            <a:off x="4572000" y="2670048"/>
            <a:ext cx="3044952" cy="1847088"/>
          </a:xfrm>
          <a:prstGeom prst="rect">
            <a:avLst/>
          </a:prstGeom>
          <a:noFill/>
          <a:ln/>
        </p:spPr>
        <p:txBody>
          <a:bodyPr wrap="square" lIns="0" tIns="0" rIns="0" bIns="0" rtlCol="0" anchor="t"/>
          <a:lstStyle/>
          <a:p>
            <a:pPr marL="0" indent="0">
              <a:lnSpc>
                <a:spcPct val="115000"/>
              </a:lnSpc>
              <a:buNone/>
            </a:pPr>
            <a:r>
              <a:rPr lang="en-US" sz="1250">
                <a:solidFill>
                  <a:srgbClr val="0E1330"/>
                </a:solidFill>
                <a:latin typeface="Calibri" pitchFamily="34" charset="0"/>
                <a:ea typeface="Calibri" pitchFamily="34" charset="-122"/>
                <a:cs typeface="Calibri" pitchFamily="34" charset="-120"/>
              </a:rPr>
              <a:t>An encoder maps data to a distribution over latent codes, a decoder maps codes back. A KL term keeps the latent space samplable [4].</a:t>
            </a:r>
            <a:endParaRPr lang="en-US" sz="1250"/>
          </a:p>
        </p:txBody>
      </p:sp>
      <p:sp>
        <p:nvSpPr>
          <p:cNvPr id="13" name="Shape 11"/>
          <p:cNvSpPr/>
          <p:nvPr/>
        </p:nvSpPr>
        <p:spPr>
          <a:xfrm>
            <a:off x="8101584" y="1691640"/>
            <a:ext cx="3520440" cy="2971800"/>
          </a:xfrm>
          <a:prstGeom prst="roundRect">
            <a:avLst>
              <a:gd name="adj" fmla="val 2462"/>
            </a:avLst>
          </a:prstGeom>
          <a:solidFill>
            <a:srgbClr val="FBEADB"/>
          </a:solidFill>
          <a:ln w="15875">
            <a:solidFill>
              <a:srgbClr val="D9822B"/>
            </a:solidFill>
            <a:prstDash val="solid"/>
          </a:ln>
        </p:spPr>
      </p:sp>
      <p:sp>
        <p:nvSpPr>
          <p:cNvPr id="14" name="Text 12"/>
          <p:cNvSpPr txBox="1"/>
          <p:nvPr/>
        </p:nvSpPr>
        <p:spPr>
          <a:xfrm>
            <a:off x="8339328" y="1856232"/>
            <a:ext cx="3044952" cy="457200"/>
          </a:xfrm>
          <a:prstGeom prst="rect">
            <a:avLst/>
          </a:prstGeom>
          <a:noFill/>
          <a:ln/>
        </p:spPr>
        <p:txBody>
          <a:bodyPr wrap="square" lIns="0" tIns="0" rIns="0" bIns="0" rtlCol="0" anchor="ctr"/>
          <a:lstStyle/>
          <a:p>
            <a:pPr marL="0" indent="0">
              <a:buNone/>
            </a:pPr>
            <a:r>
              <a:rPr lang="en-US" sz="2200" b="1">
                <a:solidFill>
                  <a:srgbClr val="D9822B"/>
                </a:solidFill>
                <a:latin typeface="Calibri" pitchFamily="34" charset="0"/>
                <a:ea typeface="Calibri" pitchFamily="34" charset="-122"/>
                <a:cs typeface="Calibri" pitchFamily="34" charset="-120"/>
              </a:rPr>
              <a:t>Diffusion</a:t>
            </a:r>
            <a:endParaRPr lang="en-US" sz="2200"/>
          </a:p>
        </p:txBody>
      </p:sp>
      <p:sp>
        <p:nvSpPr>
          <p:cNvPr id="15" name="Text 13"/>
          <p:cNvSpPr txBox="1"/>
          <p:nvPr/>
        </p:nvSpPr>
        <p:spPr>
          <a:xfrm>
            <a:off x="8339328" y="2304288"/>
            <a:ext cx="3044952" cy="310896"/>
          </a:xfrm>
          <a:prstGeom prst="rect">
            <a:avLst/>
          </a:prstGeom>
          <a:noFill/>
          <a:ln/>
        </p:spPr>
        <p:txBody>
          <a:bodyPr wrap="square" lIns="0" tIns="0" rIns="0" bIns="0" rtlCol="0" anchor="ctr"/>
          <a:lstStyle/>
          <a:p>
            <a:pPr marL="0" indent="0">
              <a:buNone/>
            </a:pPr>
            <a:r>
              <a:rPr lang="en-US" sz="1200" i="1">
                <a:solidFill>
                  <a:srgbClr val="5A6079"/>
                </a:solidFill>
                <a:latin typeface="Calibri" pitchFamily="34" charset="0"/>
                <a:ea typeface="Calibri" pitchFamily="34" charset="-122"/>
                <a:cs typeface="Calibri" pitchFamily="34" charset="-120"/>
              </a:rPr>
              <a:t>Destroy, then learn to rebuild</a:t>
            </a:r>
            <a:endParaRPr lang="en-US" sz="1200"/>
          </a:p>
        </p:txBody>
      </p:sp>
      <p:sp>
        <p:nvSpPr>
          <p:cNvPr id="16" name="Text 14"/>
          <p:cNvSpPr txBox="1"/>
          <p:nvPr/>
        </p:nvSpPr>
        <p:spPr>
          <a:xfrm>
            <a:off x="8339328" y="2670048"/>
            <a:ext cx="3044952" cy="1847088"/>
          </a:xfrm>
          <a:prstGeom prst="rect">
            <a:avLst/>
          </a:prstGeom>
          <a:noFill/>
          <a:ln/>
        </p:spPr>
        <p:txBody>
          <a:bodyPr wrap="square" lIns="0" tIns="0" rIns="0" bIns="0" rtlCol="0" anchor="t"/>
          <a:lstStyle/>
          <a:p>
            <a:pPr marL="0" indent="0">
              <a:lnSpc>
                <a:spcPct val="115000"/>
              </a:lnSpc>
              <a:buNone/>
            </a:pPr>
            <a:r>
              <a:rPr lang="en-US" sz="1250">
                <a:solidFill>
                  <a:srgbClr val="0E1330"/>
                </a:solidFill>
                <a:latin typeface="Calibri" pitchFamily="34" charset="0"/>
                <a:ea typeface="Calibri" pitchFamily="34" charset="-122"/>
                <a:cs typeface="Calibri" pitchFamily="34" charset="-120"/>
              </a:rPr>
              <a:t>Noise is added to data over many steps until nothing is left; a network learns to reverse each step, and sampling runs the reversal from pure noise [5] [6].</a:t>
            </a:r>
            <a:endParaRPr lang="en-US" sz="1250"/>
          </a:p>
        </p:txBody>
      </p:sp>
      <p:sp>
        <p:nvSpPr>
          <p:cNvPr id="17" name="Shape 15"/>
          <p:cNvSpPr/>
          <p:nvPr/>
        </p:nvSpPr>
        <p:spPr>
          <a:xfrm>
            <a:off x="566928" y="4800600"/>
            <a:ext cx="11064240" cy="1143000"/>
          </a:xfrm>
          <a:prstGeom prst="roundRect">
            <a:avLst>
              <a:gd name="adj" fmla="val 6400"/>
            </a:avLst>
          </a:prstGeom>
          <a:solidFill>
            <a:schemeClr val="accent1">
              <a:lumMod val="75000"/>
            </a:schemeClr>
          </a:solidFill>
          <a:ln w="15875">
            <a:noFill/>
            <a:prstDash val="solid"/>
          </a:ln>
        </p:spPr>
      </p:sp>
      <p:sp>
        <p:nvSpPr>
          <p:cNvPr id="18" name="Text 16"/>
          <p:cNvSpPr txBox="1"/>
          <p:nvPr/>
        </p:nvSpPr>
        <p:spPr>
          <a:xfrm>
            <a:off x="804672" y="4956048"/>
            <a:ext cx="10588752" cy="438912"/>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One sentence to carry into Day 2</a:t>
            </a:r>
            <a:endParaRPr lang="en-US" sz="1400"/>
          </a:p>
        </p:txBody>
      </p:sp>
      <p:sp>
        <p:nvSpPr>
          <p:cNvPr id="19" name="Text 17"/>
          <p:cNvSpPr txBox="1"/>
          <p:nvPr/>
        </p:nvSpPr>
        <p:spPr>
          <a:xfrm>
            <a:off x="804672" y="5330235"/>
            <a:ext cx="10588752" cy="338328"/>
          </a:xfrm>
          <a:prstGeom prst="rect">
            <a:avLst/>
          </a:prstGeom>
          <a:noFill/>
          <a:ln/>
        </p:spPr>
        <p:txBody>
          <a:bodyPr wrap="square" lIns="0" tIns="0" rIns="0" bIns="0" rtlCol="0" anchor="t"/>
          <a:lstStyle/>
          <a:p>
            <a:pPr marL="0" indent="0">
              <a:lnSpc>
                <a:spcPct val="112000"/>
              </a:lnSpc>
              <a:buNone/>
            </a:pPr>
            <a:r>
              <a:rPr lang="en-US" sz="1300">
                <a:solidFill>
                  <a:srgbClr val="E4E8F4"/>
                </a:solidFill>
                <a:latin typeface="Calibri" pitchFamily="34" charset="0"/>
                <a:ea typeface="Calibri" pitchFamily="34" charset="-122"/>
                <a:cs typeface="Calibri" pitchFamily="34" charset="-120"/>
              </a:rPr>
              <a:t>GANs learn by being caught out, VAEs learn by compressing and reconstructing, diffusion models learn by undoing noise — and those three learning signals explain every </a:t>
            </a:r>
            <a:r>
              <a:rPr lang="en-US" sz="1300" err="1">
                <a:solidFill>
                  <a:srgbClr val="E4E8F4"/>
                </a:solidFill>
                <a:latin typeface="Calibri" pitchFamily="34" charset="0"/>
                <a:ea typeface="Calibri" pitchFamily="34" charset="-122"/>
                <a:cs typeface="Calibri" pitchFamily="34" charset="-120"/>
              </a:rPr>
              <a:t>behavioural</a:t>
            </a:r>
            <a:r>
              <a:rPr lang="en-US" sz="1300">
                <a:solidFill>
                  <a:srgbClr val="E4E8F4"/>
                </a:solidFill>
                <a:latin typeface="Calibri" pitchFamily="34" charset="0"/>
                <a:ea typeface="Calibri" pitchFamily="34" charset="-122"/>
                <a:cs typeface="Calibri" pitchFamily="34" charset="-120"/>
              </a:rPr>
              <a:t> difference between them.</a:t>
            </a:r>
            <a:endParaRPr lang="en-US" sz="1300"/>
          </a:p>
        </p:txBody>
      </p:sp>
      <p:sp>
        <p:nvSpPr>
          <p:cNvPr id="20" name="Text 18"/>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[3] [4] [5] [6]</a:t>
            </a:r>
            <a:endParaRPr lang="en-US"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8</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fourth architecture: autoregressive transformers</a:t>
            </a:r>
            <a:endParaRPr lang="en-US" sz="3000"/>
          </a:p>
        </p:txBody>
      </p:sp>
      <p:sp>
        <p:nvSpPr>
          <p:cNvPr id="5" name="Shape 3"/>
          <p:cNvSpPr/>
          <p:nvPr/>
        </p:nvSpPr>
        <p:spPr>
          <a:xfrm>
            <a:off x="566928" y="1645920"/>
            <a:ext cx="11064240" cy="777240"/>
          </a:xfrm>
          <a:prstGeom prst="roundRect">
            <a:avLst>
              <a:gd name="adj" fmla="val 9412"/>
            </a:avLst>
          </a:prstGeom>
          <a:solidFill>
            <a:srgbClr val="EEF1F8"/>
          </a:solidFill>
          <a:ln w="15875">
            <a:solidFill>
              <a:srgbClr val="DCE6FA"/>
            </a:solidFill>
            <a:prstDash val="solid"/>
          </a:ln>
        </p:spPr>
      </p:sp>
      <p:sp>
        <p:nvSpPr>
          <p:cNvPr id="6" name="Text 4"/>
          <p:cNvSpPr txBox="1"/>
          <p:nvPr/>
        </p:nvSpPr>
        <p:spPr>
          <a:xfrm>
            <a:off x="804672" y="1828800"/>
            <a:ext cx="10588752" cy="448056"/>
          </a:xfrm>
          <a:prstGeom prst="rect">
            <a:avLst/>
          </a:prstGeom>
          <a:noFill/>
          <a:ln/>
        </p:spPr>
        <p:txBody>
          <a:bodyPr wrap="square" lIns="0" tIns="0" rIns="0" bIns="0" rtlCol="0" anchor="t"/>
          <a:lstStyle/>
          <a:p>
            <a:pPr marL="0" indent="0">
              <a:lnSpc>
                <a:spcPct val="112000"/>
              </a:lnSpc>
              <a:buNone/>
            </a:pPr>
            <a:r>
              <a:rPr lang="en-US" sz="1350">
                <a:solidFill>
                  <a:srgbClr val="0E1330"/>
                </a:solidFill>
                <a:latin typeface="Calibri" pitchFamily="34" charset="0"/>
                <a:ea typeface="Calibri" pitchFamily="34" charset="-122"/>
                <a:cs typeface="Calibri" pitchFamily="34" charset="-120"/>
              </a:rPr>
              <a:t>Generate one piece at a time — each word, token or column value is predicted from everything generated so far, using a transformer [19] [34].</a:t>
            </a:r>
            <a:endParaRPr lang="en-US" sz="1350"/>
          </a:p>
        </p:txBody>
      </p:sp>
      <p:sp>
        <p:nvSpPr>
          <p:cNvPr id="7" name="Text 5"/>
          <p:cNvSpPr txBox="1"/>
          <p:nvPr/>
        </p:nvSpPr>
        <p:spPr>
          <a:xfrm>
            <a:off x="566928" y="2743200"/>
            <a:ext cx="11064240" cy="2834640"/>
          </a:xfrm>
          <a:prstGeom prst="rect">
            <a:avLst/>
          </a:prstGeom>
          <a:noFill/>
          <a:ln/>
        </p:spPr>
        <p:txBody>
          <a:bodyPr wrap="square" lIns="0" tIns="0" rIns="0" bIns="0" rtlCol="0" anchor="t"/>
          <a:lstStyle/>
          <a:p>
            <a:pPr marL="342900" indent="-342900">
              <a:lnSpc>
                <a:spcPct val="110000"/>
              </a:lnSpc>
              <a:spcAft>
                <a:spcPts val="900"/>
              </a:spcAft>
              <a:buSzPct val="100000"/>
              <a:buChar char="▪"/>
            </a:pPr>
            <a:r>
              <a:rPr lang="en-US" sz="1350">
                <a:solidFill>
                  <a:srgbClr val="0E1330"/>
                </a:solidFill>
                <a:latin typeface="Calibri" pitchFamily="34" charset="0"/>
                <a:ea typeface="Calibri" pitchFamily="34" charset="-122"/>
                <a:cs typeface="Calibri" pitchFamily="34" charset="-120"/>
              </a:rPr>
              <a:t>Training is straightforward: predict the next piece, score it against the real data, repeat — no adversarial game and no approximations [19].</a:t>
            </a:r>
            <a:endParaRPr lang="en-US" sz="1350"/>
          </a:p>
          <a:p>
            <a:pPr marL="342900" indent="-342900">
              <a:lnSpc>
                <a:spcPct val="110000"/>
              </a:lnSpc>
              <a:spcAft>
                <a:spcPts val="900"/>
              </a:spcAft>
              <a:buSzPct val="100000"/>
              <a:buChar char="▪"/>
            </a:pPr>
            <a:r>
              <a:rPr lang="en-US" sz="1350">
                <a:solidFill>
                  <a:srgbClr val="0E1330"/>
                </a:solidFill>
                <a:latin typeface="Calibri" pitchFamily="34" charset="0"/>
                <a:ea typeface="Calibri" pitchFamily="34" charset="-122"/>
                <a:cs typeface="Calibri" pitchFamily="34" charset="-120"/>
              </a:rPr>
              <a:t>Discrete data is native. Tokens are exactly what the model predicts, which is why this family dominates text and code generation [19] [34].</a:t>
            </a:r>
            <a:endParaRPr lang="en-US" sz="1350"/>
          </a:p>
          <a:p>
            <a:pPr marL="342900" indent="-342900">
              <a:lnSpc>
                <a:spcPct val="110000"/>
              </a:lnSpc>
              <a:spcAft>
                <a:spcPts val="900"/>
              </a:spcAft>
              <a:buSzPct val="100000"/>
              <a:buChar char="▪"/>
            </a:pPr>
            <a:r>
              <a:rPr lang="en-US" sz="1350">
                <a:solidFill>
                  <a:srgbClr val="0E1330"/>
                </a:solidFill>
                <a:latin typeface="Calibri" pitchFamily="34" charset="0"/>
                <a:ea typeface="Calibri" pitchFamily="34" charset="-122"/>
                <a:cs typeface="Calibri" pitchFamily="34" charset="-120"/>
              </a:rPr>
              <a:t>Scaling the same recipe produced in-context learning: a large model can generate labelled examples for a task it was never fine-tuned on [19].</a:t>
            </a:r>
            <a:endParaRPr lang="en-US" sz="1350"/>
          </a:p>
          <a:p>
            <a:pPr marL="342900" indent="-342900">
              <a:lnSpc>
                <a:spcPct val="110000"/>
              </a:lnSpc>
              <a:spcAft>
                <a:spcPts val="900"/>
              </a:spcAft>
              <a:buSzPct val="100000"/>
              <a:buChar char="▪"/>
            </a:pPr>
            <a:r>
              <a:rPr lang="en-US" sz="1350">
                <a:solidFill>
                  <a:srgbClr val="0E1330"/>
                </a:solidFill>
                <a:latin typeface="Calibri" pitchFamily="34" charset="0"/>
                <a:ea typeface="Calibri" pitchFamily="34" charset="-122"/>
                <a:cs typeface="Calibri" pitchFamily="34" charset="-120"/>
              </a:rPr>
              <a:t>The surprise result: serialise a table row into a sentence, fine-tune an LLM on it, and you get a competitive tabular generator that respects column semantics [13].</a:t>
            </a:r>
            <a:endParaRPr lang="en-US" sz="1350"/>
          </a:p>
          <a:p>
            <a:pPr marL="342900" indent="-342900">
              <a:lnSpc>
                <a:spcPct val="110000"/>
              </a:lnSpc>
              <a:spcAft>
                <a:spcPts val="900"/>
              </a:spcAft>
              <a:buSzPct val="100000"/>
              <a:buChar char="▪"/>
            </a:pPr>
            <a:r>
              <a:rPr lang="en-US" sz="1350">
                <a:solidFill>
                  <a:srgbClr val="0E1330"/>
                </a:solidFill>
                <a:latin typeface="Calibri" pitchFamily="34" charset="0"/>
                <a:ea typeface="Calibri" pitchFamily="34" charset="-122"/>
                <a:cs typeface="Calibri" pitchFamily="34" charset="-120"/>
              </a:rPr>
              <a:t>Cost of the approach: generation is sequential and therefore slow, and continuous columns must be discretised or tokenised, which loses precision [13].</a:t>
            </a:r>
            <a:endParaRPr lang="en-US" sz="1350"/>
          </a:p>
        </p:txBody>
      </p:sp>
      <p:sp>
        <p:nvSpPr>
          <p:cNvPr id="8" name="Text 6"/>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[13] [19] [34]</a:t>
            </a:r>
            <a:endParaRPr 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9</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generative trilemma</a:t>
            </a:r>
            <a:endParaRPr lang="en-US" sz="3000"/>
          </a:p>
        </p:txBody>
      </p:sp>
      <p:pic>
        <p:nvPicPr>
          <p:cNvPr id="5" name="Image 0" descr="img/trilemma.png"/>
          <p:cNvPicPr>
            <a:picLocks noChangeAspect="1"/>
          </p:cNvPicPr>
          <p:nvPr/>
        </p:nvPicPr>
        <p:blipFill>
          <a:blip r:embed="rId3"/>
          <a:stretch>
            <a:fillRect/>
          </a:stretch>
        </p:blipFill>
        <p:spPr>
          <a:xfrm>
            <a:off x="566928" y="1645920"/>
            <a:ext cx="5074920" cy="4010824"/>
          </a:xfrm>
          <a:prstGeom prst="rect">
            <a:avLst/>
          </a:prstGeom>
        </p:spPr>
      </p:pic>
      <p:sp>
        <p:nvSpPr>
          <p:cNvPr id="6" name="Shape 3"/>
          <p:cNvSpPr/>
          <p:nvPr/>
        </p:nvSpPr>
        <p:spPr>
          <a:xfrm>
            <a:off x="5852160" y="1691640"/>
            <a:ext cx="5779008" cy="1737360"/>
          </a:xfrm>
          <a:prstGeom prst="roundRect">
            <a:avLst>
              <a:gd name="adj" fmla="val 4211"/>
            </a:avLst>
          </a:prstGeom>
          <a:solidFill>
            <a:srgbClr val="EEF1F8"/>
          </a:solidFill>
          <a:ln w="15875">
            <a:solidFill>
              <a:srgbClr val="DCE6FA"/>
            </a:solidFill>
            <a:prstDash val="solid"/>
          </a:ln>
        </p:spPr>
      </p:sp>
      <p:sp>
        <p:nvSpPr>
          <p:cNvPr id="7" name="Text 4"/>
          <p:cNvSpPr txBox="1"/>
          <p:nvPr/>
        </p:nvSpPr>
        <p:spPr>
          <a:xfrm>
            <a:off x="6089904" y="1847088"/>
            <a:ext cx="5303520" cy="438912"/>
          </a:xfrm>
          <a:prstGeom prst="rect">
            <a:avLst/>
          </a:prstGeom>
          <a:noFill/>
          <a:ln/>
        </p:spPr>
        <p:txBody>
          <a:bodyPr wrap="square" lIns="0" tIns="0" rIns="0" bIns="0" rtlCol="0" anchor="ctr"/>
          <a:lstStyle/>
          <a:p>
            <a:pPr marL="0" indent="0">
              <a:buNone/>
            </a:pPr>
            <a:r>
              <a:rPr lang="en-US" sz="1500" b="1">
                <a:solidFill>
                  <a:srgbClr val="2E3A8C"/>
                </a:solidFill>
                <a:latin typeface="Calibri" pitchFamily="34" charset="0"/>
                <a:ea typeface="Calibri" pitchFamily="34" charset="-122"/>
                <a:cs typeface="Calibri" pitchFamily="34" charset="-120"/>
              </a:rPr>
              <a:t>What the trilemma says</a:t>
            </a:r>
            <a:endParaRPr lang="en-US" sz="1500"/>
          </a:p>
        </p:txBody>
      </p:sp>
      <p:sp>
        <p:nvSpPr>
          <p:cNvPr id="8" name="Text 5"/>
          <p:cNvSpPr txBox="1"/>
          <p:nvPr/>
        </p:nvSpPr>
        <p:spPr>
          <a:xfrm>
            <a:off x="6089904" y="2350008"/>
            <a:ext cx="5303520" cy="932688"/>
          </a:xfrm>
          <a:prstGeom prst="rect">
            <a:avLst/>
          </a:prstGeom>
          <a:noFill/>
          <a:ln/>
        </p:spPr>
        <p:txBody>
          <a:bodyPr wrap="square" lIns="0" tIns="0" rIns="0" bIns="0" rtlCol="0" anchor="t"/>
          <a:lstStyle/>
          <a:p>
            <a:pPr marL="0" indent="0">
              <a:lnSpc>
                <a:spcPct val="112000"/>
              </a:lnSpc>
              <a:buNone/>
            </a:pPr>
            <a:r>
              <a:rPr lang="en-US" sz="1250">
                <a:solidFill>
                  <a:srgbClr val="0E1330"/>
                </a:solidFill>
                <a:latin typeface="Calibri" pitchFamily="34" charset="0"/>
                <a:ea typeface="Calibri" pitchFamily="34" charset="-122"/>
                <a:cs typeface="Calibri" pitchFamily="34" charset="-120"/>
              </a:rPr>
              <a:t>Pick two of three: sample quality, sampling speed, and coverage of the data's variety. GANs give up coverage, VAEs give up sharpness, diffusion gives up speed [3] [5] [33].</a:t>
            </a:r>
            <a:endParaRPr lang="en-US" sz="1250"/>
          </a:p>
        </p:txBody>
      </p:sp>
      <p:sp>
        <p:nvSpPr>
          <p:cNvPr id="9" name="Shape 6"/>
          <p:cNvSpPr/>
          <p:nvPr/>
        </p:nvSpPr>
        <p:spPr>
          <a:xfrm>
            <a:off x="5852160" y="3657600"/>
            <a:ext cx="5779008" cy="1143000"/>
          </a:xfrm>
          <a:prstGeom prst="roundRect">
            <a:avLst>
              <a:gd name="adj" fmla="val 6400"/>
            </a:avLst>
          </a:prstGeom>
          <a:solidFill>
            <a:srgbClr val="D6F2EC"/>
          </a:solidFill>
          <a:ln w="15875">
            <a:solidFill>
              <a:srgbClr val="00A896"/>
            </a:solidFill>
            <a:prstDash val="solid"/>
          </a:ln>
        </p:spPr>
      </p:sp>
      <p:sp>
        <p:nvSpPr>
          <p:cNvPr id="10" name="Text 7"/>
          <p:cNvSpPr txBox="1"/>
          <p:nvPr/>
        </p:nvSpPr>
        <p:spPr>
          <a:xfrm>
            <a:off x="6089904" y="3813048"/>
            <a:ext cx="5303520" cy="438912"/>
          </a:xfrm>
          <a:prstGeom prst="rect">
            <a:avLst/>
          </a:prstGeom>
          <a:noFill/>
          <a:ln/>
        </p:spPr>
        <p:txBody>
          <a:bodyPr wrap="square" lIns="0" tIns="0" rIns="0" bIns="0" rtlCol="0" anchor="ctr"/>
          <a:lstStyle/>
          <a:p>
            <a:pPr marL="0" indent="0">
              <a:buNone/>
            </a:pPr>
            <a:r>
              <a:rPr lang="en-US" sz="1400" b="1">
                <a:solidFill>
                  <a:srgbClr val="00A896"/>
                </a:solidFill>
                <a:latin typeface="Calibri" pitchFamily="34" charset="0"/>
                <a:ea typeface="Calibri" pitchFamily="34" charset="-122"/>
                <a:cs typeface="Calibri" pitchFamily="34" charset="-120"/>
              </a:rPr>
              <a:t>Why it matters for synthetic data</a:t>
            </a:r>
            <a:endParaRPr lang="en-US" sz="1400"/>
          </a:p>
        </p:txBody>
      </p:sp>
      <p:sp>
        <p:nvSpPr>
          <p:cNvPr id="11" name="Text 8"/>
          <p:cNvSpPr txBox="1"/>
          <p:nvPr/>
        </p:nvSpPr>
        <p:spPr>
          <a:xfrm>
            <a:off x="6089904" y="4315968"/>
            <a:ext cx="5303520" cy="33832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Coverage is not optional here. A generator that misses modes silently deletes subpopulations from your dataset [27].</a:t>
            </a:r>
            <a:endParaRPr lang="en-US" sz="1150"/>
          </a:p>
        </p:txBody>
      </p:sp>
      <p:sp>
        <p:nvSpPr>
          <p:cNvPr id="12" name="Shape 9"/>
          <p:cNvSpPr/>
          <p:nvPr/>
        </p:nvSpPr>
        <p:spPr>
          <a:xfrm>
            <a:off x="5852160" y="4956048"/>
            <a:ext cx="5779008" cy="1143000"/>
          </a:xfrm>
          <a:prstGeom prst="roundRect">
            <a:avLst>
              <a:gd name="adj" fmla="val 6400"/>
            </a:avLst>
          </a:prstGeom>
          <a:solidFill>
            <a:srgbClr val="FBEADB"/>
          </a:solidFill>
          <a:ln w="15875">
            <a:solidFill>
              <a:srgbClr val="D9822B"/>
            </a:solidFill>
            <a:prstDash val="solid"/>
          </a:ln>
        </p:spPr>
      </p:sp>
      <p:sp>
        <p:nvSpPr>
          <p:cNvPr id="13" name="Text 10"/>
          <p:cNvSpPr txBox="1"/>
          <p:nvPr/>
        </p:nvSpPr>
        <p:spPr>
          <a:xfrm>
            <a:off x="6089904" y="5111496"/>
            <a:ext cx="5303520" cy="438912"/>
          </a:xfrm>
          <a:prstGeom prst="rect">
            <a:avLst/>
          </a:prstGeom>
          <a:noFill/>
          <a:ln/>
        </p:spPr>
        <p:txBody>
          <a:bodyPr wrap="square" lIns="0" tIns="0" rIns="0" bIns="0" rtlCol="0" anchor="ctr"/>
          <a:lstStyle/>
          <a:p>
            <a:pPr marL="0" indent="0">
              <a:buNone/>
            </a:pPr>
            <a:r>
              <a:rPr lang="en-US" sz="1400" b="1">
                <a:solidFill>
                  <a:srgbClr val="D9822B"/>
                </a:solidFill>
                <a:latin typeface="Calibri" pitchFamily="34" charset="0"/>
                <a:ea typeface="Calibri" pitchFamily="34" charset="-122"/>
                <a:cs typeface="Calibri" pitchFamily="34" charset="-120"/>
              </a:rPr>
              <a:t>A starting point, not a rule</a:t>
            </a:r>
            <a:endParaRPr lang="en-US" sz="1400"/>
          </a:p>
        </p:txBody>
      </p:sp>
      <p:sp>
        <p:nvSpPr>
          <p:cNvPr id="14" name="Text 11"/>
          <p:cNvSpPr txBox="1"/>
          <p:nvPr/>
        </p:nvSpPr>
        <p:spPr>
          <a:xfrm>
            <a:off x="6089904" y="5614416"/>
            <a:ext cx="5303520" cy="33832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CTGAN and diffusion-based approaches are useful starting points for tabular work; the right choice depends on data characteristics, compute budget and privacy needs [12].</a:t>
            </a:r>
            <a:endParaRPr lang="en-US" sz="1150"/>
          </a:p>
        </p:txBody>
      </p:sp>
      <p:sp>
        <p:nvSpPr>
          <p:cNvPr id="15" name="Text 12"/>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[3] [5] [12] [27] [33]</a:t>
            </a:r>
            <a:endParaRPr 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 · TOPIC 9</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Choosing an approach: a decision path</a:t>
            </a:r>
            <a:endParaRPr lang="en-US" sz="3000"/>
          </a:p>
        </p:txBody>
      </p:sp>
      <p:pic>
        <p:nvPicPr>
          <p:cNvPr id="5" name="Image 0" descr="img/decision.png"/>
          <p:cNvPicPr>
            <a:picLocks noChangeAspect="1"/>
          </p:cNvPicPr>
          <p:nvPr/>
        </p:nvPicPr>
        <p:blipFill>
          <a:blip r:embed="rId3"/>
          <a:stretch>
            <a:fillRect/>
          </a:stretch>
        </p:blipFill>
        <p:spPr>
          <a:xfrm>
            <a:off x="2215532" y="1536192"/>
            <a:ext cx="7767031" cy="3931920"/>
          </a:xfrm>
          <a:prstGeom prst="rect">
            <a:avLst/>
          </a:prstGeom>
        </p:spPr>
      </p:pic>
      <p:sp>
        <p:nvSpPr>
          <p:cNvPr id="6" name="Text 3"/>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This chart is the deliverable of Day 1. By the end of Day 3 you should be able to defend every branch of it with a metric.</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[8] [11] [12] [14] [15] [16] [17] [20] [21] [22] [25] [26]</a:t>
            </a:r>
            <a:endParaRPr lang="en-US"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0515600" cy="176972"/>
          </a:xfrm>
          <a:prstGeom prst="rect">
            <a:avLst/>
          </a:prstGeom>
          <a:noFill/>
        </p:spPr>
        <p:txBody>
          <a:bodyPr wrap="square" lIns="0" tIns="0" rIns="0" bIns="0" anchor="t">
            <a:spAutoFit/>
          </a:bodyPr>
          <a:lstStyle/>
          <a:p>
            <a:pPr marL="0" indent="0" algn="l">
              <a:spcAft>
                <a:spcPts val="400"/>
              </a:spcAft>
              <a:buNone/>
            </a:pPr>
            <a:r>
              <a:rPr sz="1150" b="1" i="0">
                <a:solidFill>
                  <a:srgbClr val="0070C0"/>
                </a:solidFill>
                <a:latin typeface="Calibri"/>
              </a:rPr>
              <a:t>DAY 1 · LAB SCENARIO</a:t>
            </a:r>
          </a:p>
        </p:txBody>
      </p:sp>
      <p:sp>
        <p:nvSpPr>
          <p:cNvPr id="3" name="TextBox 2"/>
          <p:cNvSpPr txBox="1"/>
          <p:nvPr/>
        </p:nvSpPr>
        <p:spPr>
          <a:xfrm>
            <a:off x="566928" y="676656"/>
            <a:ext cx="10972800" cy="713232"/>
          </a:xfrm>
          <a:prstGeom prst="rect">
            <a:avLst/>
          </a:prstGeom>
          <a:noFill/>
        </p:spPr>
        <p:txBody>
          <a:bodyPr wrap="square" lIns="0" tIns="0" rIns="0" bIns="0" anchor="t">
            <a:spAutoFit/>
          </a:bodyPr>
          <a:lstStyle/>
          <a:p>
            <a:pPr marL="0" indent="0" algn="l">
              <a:spcAft>
                <a:spcPts val="400"/>
              </a:spcAft>
              <a:buNone/>
            </a:pPr>
            <a:r>
              <a:rPr sz="3000" b="1" i="0">
                <a:solidFill>
                  <a:srgbClr val="0E1330"/>
                </a:solidFill>
                <a:latin typeface="Cambria"/>
              </a:rPr>
              <a:t>Day 1 Lab: From Real Data to a Synthetic Copy</a:t>
            </a:r>
          </a:p>
        </p:txBody>
      </p:sp>
      <p:sp>
        <p:nvSpPr>
          <p:cNvPr id="4" name="TextBox 3"/>
          <p:cNvSpPr txBox="1"/>
          <p:nvPr/>
        </p:nvSpPr>
        <p:spPr>
          <a:xfrm>
            <a:off x="566928" y="6327648"/>
            <a:ext cx="10424160" cy="292608"/>
          </a:xfrm>
          <a:prstGeom prst="rect">
            <a:avLst/>
          </a:prstGeom>
          <a:noFill/>
        </p:spPr>
        <p:txBody>
          <a:bodyPr wrap="square" lIns="0" tIns="0" rIns="0" bIns="0" anchor="t">
            <a:spAutoFit/>
          </a:bodyPr>
          <a:lstStyle/>
          <a:p>
            <a:pPr marL="0" indent="0" algn="l">
              <a:spcAft>
                <a:spcPts val="400"/>
              </a:spcAft>
              <a:buNone/>
            </a:pPr>
            <a:r>
              <a:rPr sz="1000" b="0" i="0">
                <a:solidFill>
                  <a:srgbClr val="5A6079"/>
                </a:solidFill>
                <a:latin typeface="Calibri"/>
              </a:rPr>
              <a:t>The classroom dataset is a simplified teaching dataset — a Glixify-inspired scenario, not a Glixify production dataset.</a:t>
            </a:r>
          </a:p>
        </p:txBody>
      </p:sp>
      <p:sp>
        <p:nvSpPr>
          <p:cNvPr id="6" name="Rounded Rectangle 5"/>
          <p:cNvSpPr/>
          <p:nvPr/>
        </p:nvSpPr>
        <p:spPr>
          <a:xfrm>
            <a:off x="566928" y="1600200"/>
            <a:ext cx="11045952" cy="868680"/>
          </a:xfrm>
          <a:prstGeom prst="roundRect">
            <a:avLst>
              <a:gd name="adj" fmla="val 8421"/>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821661"/>
            <a:ext cx="10515600" cy="425758"/>
          </a:xfrm>
          <a:prstGeom prst="rect">
            <a:avLst/>
          </a:prstGeom>
          <a:noFill/>
        </p:spPr>
        <p:txBody>
          <a:bodyPr wrap="square" lIns="0" tIns="0" rIns="0" bIns="0" anchor="ctr">
            <a:spAutoFit/>
          </a:bodyPr>
          <a:lstStyle/>
          <a:p>
            <a:pPr marL="0" indent="0" algn="l">
              <a:spcAft>
                <a:spcPts val="200"/>
              </a:spcAft>
              <a:buNone/>
            </a:pPr>
            <a:r>
              <a:rPr sz="1050" b="1" i="0">
                <a:solidFill>
                  <a:schemeClr val="bg1"/>
                </a:solidFill>
                <a:latin typeface="Calibri"/>
              </a:rPr>
              <a:t>SCENARIO</a:t>
            </a:r>
          </a:p>
          <a:p>
            <a:pPr marL="0" indent="0" algn="l">
              <a:spcAft>
                <a:spcPts val="400"/>
              </a:spcAft>
              <a:buNone/>
            </a:pPr>
            <a:r>
              <a:rPr sz="1550" b="0" i="0">
                <a:solidFill>
                  <a:srgbClr val="FFFFFF"/>
                </a:solidFill>
                <a:latin typeface="Cambria"/>
              </a:rPr>
              <a:t>You are working with a simplified dataset inspired by a wearable + CGM application such as </a:t>
            </a:r>
            <a:r>
              <a:rPr sz="1550" b="0" i="0" err="1">
                <a:solidFill>
                  <a:srgbClr val="FFFFFF"/>
                </a:solidFill>
                <a:latin typeface="Cambria"/>
              </a:rPr>
              <a:t>Glixify</a:t>
            </a:r>
            <a:r>
              <a:rPr sz="1550" b="0" i="0">
                <a:solidFill>
                  <a:srgbClr val="FFFFFF"/>
                </a:solidFill>
                <a:latin typeface="Cambria"/>
              </a:rPr>
              <a:t>.</a:t>
            </a:r>
          </a:p>
        </p:txBody>
      </p:sp>
      <p:sp>
        <p:nvSpPr>
          <p:cNvPr id="8" name="Rounded Rectangle 7"/>
          <p:cNvSpPr/>
          <p:nvPr/>
        </p:nvSpPr>
        <p:spPr>
          <a:xfrm>
            <a:off x="566928" y="2697480"/>
            <a:ext cx="6766560" cy="2514600"/>
          </a:xfrm>
          <a:prstGeom prst="roundRect">
            <a:avLst>
              <a:gd name="adj" fmla="val 2909"/>
            </a:avLst>
          </a:prstGeom>
          <a:solidFill>
            <a:srgbClr val="EEF1F8"/>
          </a:solidFill>
          <a:ln w="12700">
            <a:solidFill>
              <a:srgbClr val="DCE6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2852928"/>
            <a:ext cx="6291072" cy="365760"/>
          </a:xfrm>
          <a:prstGeom prst="rect">
            <a:avLst/>
          </a:prstGeom>
          <a:noFill/>
        </p:spPr>
        <p:txBody>
          <a:bodyPr wrap="square" lIns="0" tIns="0" rIns="0" bIns="0" anchor="t">
            <a:spAutoFit/>
          </a:bodyPr>
          <a:lstStyle/>
          <a:p>
            <a:pPr marL="0" indent="0" algn="l">
              <a:spcAft>
                <a:spcPts val="400"/>
              </a:spcAft>
              <a:buNone/>
            </a:pPr>
            <a:r>
              <a:rPr sz="1450" b="1" i="0">
                <a:solidFill>
                  <a:srgbClr val="2E3A8C"/>
                </a:solidFill>
                <a:latin typeface="Calibri"/>
              </a:rPr>
              <a:t>Your goal: before generating synthetic data, understand…</a:t>
            </a:r>
          </a:p>
        </p:txBody>
      </p:sp>
      <p:sp>
        <p:nvSpPr>
          <p:cNvPr id="10" name="TextBox 9"/>
          <p:cNvSpPr txBox="1"/>
          <p:nvPr/>
        </p:nvSpPr>
        <p:spPr>
          <a:xfrm>
            <a:off x="822960" y="3383280"/>
            <a:ext cx="3246120" cy="1737360"/>
          </a:xfrm>
          <a:prstGeom prst="rect">
            <a:avLst/>
          </a:prstGeom>
          <a:noFill/>
        </p:spPr>
        <p:txBody>
          <a:bodyPr wrap="square" lIns="0" tIns="0" rIns="0" bIns="0" anchor="t">
            <a:spAutoFit/>
          </a:bodyPr>
          <a:lstStyle/>
          <a:p>
            <a:pPr marL="204469" indent="-204469" algn="l">
              <a:spcAft>
                <a:spcPts val="600"/>
              </a:spcAft>
              <a:buClr>
                <a:srgbClr val="2E3A8C"/>
              </a:buClr>
              <a:buChar char="•"/>
            </a:pPr>
            <a:r>
              <a:rPr sz="1400" b="0" i="0">
                <a:solidFill>
                  <a:srgbClr val="0E1330"/>
                </a:solidFill>
                <a:latin typeface="Calibri"/>
              </a:rPr>
              <a:t>What variables exist?</a:t>
            </a:r>
          </a:p>
          <a:p>
            <a:pPr marL="204469" indent="-204469" algn="l">
              <a:spcAft>
                <a:spcPts val="600"/>
              </a:spcAft>
              <a:buClr>
                <a:srgbClr val="2E3A8C"/>
              </a:buClr>
              <a:buChar char="•"/>
            </a:pPr>
            <a:r>
              <a:rPr sz="1400" b="0" i="0">
                <a:solidFill>
                  <a:srgbClr val="0E1330"/>
                </a:solidFill>
                <a:latin typeface="Calibri"/>
              </a:rPr>
              <a:t>Which are numerical? Which are categorical?</a:t>
            </a:r>
          </a:p>
          <a:p>
            <a:pPr marL="204469" indent="-204469" algn="l">
              <a:spcAft>
                <a:spcPts val="600"/>
              </a:spcAft>
              <a:buClr>
                <a:srgbClr val="2E3A8C"/>
              </a:buClr>
              <a:buChar char="•"/>
            </a:pPr>
            <a:r>
              <a:rPr sz="1400" b="0" i="0">
                <a:solidFill>
                  <a:srgbClr val="0E1330"/>
                </a:solidFill>
                <a:latin typeface="Calibri"/>
              </a:rPr>
              <a:t>Are there missing values?</a:t>
            </a:r>
          </a:p>
        </p:txBody>
      </p:sp>
      <p:sp>
        <p:nvSpPr>
          <p:cNvPr id="11" name="TextBox 10"/>
          <p:cNvSpPr txBox="1"/>
          <p:nvPr/>
        </p:nvSpPr>
        <p:spPr>
          <a:xfrm>
            <a:off x="4069080" y="3383280"/>
            <a:ext cx="3154680" cy="1737360"/>
          </a:xfrm>
          <a:prstGeom prst="rect">
            <a:avLst/>
          </a:prstGeom>
          <a:noFill/>
        </p:spPr>
        <p:txBody>
          <a:bodyPr wrap="square" lIns="0" tIns="0" rIns="0" bIns="0" anchor="t">
            <a:spAutoFit/>
          </a:bodyPr>
          <a:lstStyle/>
          <a:p>
            <a:pPr marL="204469" indent="-204469" algn="l">
              <a:spcAft>
                <a:spcPts val="600"/>
              </a:spcAft>
              <a:buClr>
                <a:srgbClr val="2E3A8C"/>
              </a:buClr>
              <a:buChar char="•"/>
            </a:pPr>
            <a:r>
              <a:rPr sz="1400" b="0" i="0">
                <a:solidFill>
                  <a:srgbClr val="0E1330"/>
                </a:solidFill>
                <a:latin typeface="Calibri"/>
              </a:rPr>
              <a:t>Which relationships appear important?</a:t>
            </a:r>
          </a:p>
          <a:p>
            <a:pPr marL="204469" indent="-204469" algn="l">
              <a:spcAft>
                <a:spcPts val="600"/>
              </a:spcAft>
              <a:buClr>
                <a:srgbClr val="2E3A8C"/>
              </a:buClr>
              <a:buChar char="•"/>
            </a:pPr>
            <a:r>
              <a:rPr sz="1400" b="0" i="0">
                <a:solidFill>
                  <a:srgbClr val="0E1330"/>
                </a:solidFill>
                <a:latin typeface="Calibri"/>
              </a:rPr>
              <a:t>Are there temporal patterns?</a:t>
            </a:r>
          </a:p>
          <a:p>
            <a:pPr marL="204469" indent="-204469" algn="l">
              <a:spcAft>
                <a:spcPts val="600"/>
              </a:spcAft>
              <a:buClr>
                <a:srgbClr val="2E3A8C"/>
              </a:buClr>
              <a:buChar char="•"/>
            </a:pPr>
            <a:r>
              <a:rPr sz="1400" b="0" i="0">
                <a:solidFill>
                  <a:srgbClr val="0E1330"/>
                </a:solidFill>
                <a:latin typeface="Calibri"/>
              </a:rPr>
              <a:t>What should a synthetic version preserve?</a:t>
            </a:r>
          </a:p>
        </p:txBody>
      </p:sp>
      <p:sp>
        <p:nvSpPr>
          <p:cNvPr id="12" name="Rounded Rectangle 11"/>
          <p:cNvSpPr/>
          <p:nvPr/>
        </p:nvSpPr>
        <p:spPr>
          <a:xfrm>
            <a:off x="7543800" y="2697480"/>
            <a:ext cx="4069080" cy="2514600"/>
          </a:xfrm>
          <a:prstGeom prst="roundRect">
            <a:avLst>
              <a:gd name="adj" fmla="val 2909"/>
            </a:avLst>
          </a:prstGeom>
          <a:solidFill>
            <a:srgbClr val="D6F2EC"/>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81544" y="2852928"/>
            <a:ext cx="3593592" cy="365760"/>
          </a:xfrm>
          <a:prstGeom prst="rect">
            <a:avLst/>
          </a:prstGeom>
          <a:noFill/>
        </p:spPr>
        <p:txBody>
          <a:bodyPr wrap="square" lIns="0" tIns="0" rIns="0" bIns="0" anchor="t">
            <a:spAutoFit/>
          </a:bodyPr>
          <a:lstStyle/>
          <a:p>
            <a:pPr marL="0" indent="0" algn="l">
              <a:spcAft>
                <a:spcPts val="400"/>
              </a:spcAft>
              <a:buNone/>
            </a:pPr>
            <a:r>
              <a:rPr sz="1500" b="1" i="0">
                <a:solidFill>
                  <a:srgbClr val="00A896"/>
                </a:solidFill>
                <a:latin typeface="Calibri"/>
              </a:rPr>
              <a:t>Application context</a:t>
            </a:r>
          </a:p>
        </p:txBody>
      </p:sp>
      <p:sp>
        <p:nvSpPr>
          <p:cNvPr id="14" name="TextBox 13"/>
          <p:cNvSpPr txBox="1"/>
          <p:nvPr/>
        </p:nvSpPr>
        <p:spPr>
          <a:xfrm>
            <a:off x="7781544" y="3310128"/>
            <a:ext cx="3593592" cy="1792224"/>
          </a:xfrm>
          <a:prstGeom prst="rect">
            <a:avLst/>
          </a:prstGeom>
          <a:noFill/>
        </p:spPr>
        <p:txBody>
          <a:bodyPr wrap="square" lIns="0" tIns="0" rIns="0" bIns="0" anchor="t">
            <a:spAutoFit/>
          </a:bodyPr>
          <a:lstStyle/>
          <a:p>
            <a:pPr marL="0" indent="0" algn="l">
              <a:spcAft>
                <a:spcPts val="400"/>
              </a:spcAft>
              <a:buNone/>
            </a:pPr>
            <a:r>
              <a:rPr sz="1300" b="0" i="0">
                <a:solidFill>
                  <a:srgbClr val="0E1330"/>
                </a:solidFill>
                <a:latin typeface="Calibri"/>
              </a:rPr>
              <a:t>Use the Glixify-style wearable + CGM scenario to think about which properties matter for a real application.</a:t>
            </a:r>
          </a:p>
        </p:txBody>
      </p:sp>
      <p:sp>
        <p:nvSpPr>
          <p:cNvPr id="15" name="Rounded Rectangle 14"/>
          <p:cNvSpPr/>
          <p:nvPr/>
        </p:nvSpPr>
        <p:spPr>
          <a:xfrm>
            <a:off x="566928" y="5440680"/>
            <a:ext cx="11045952" cy="685800"/>
          </a:xfrm>
          <a:prstGeom prst="roundRect">
            <a:avLst>
              <a:gd name="adj" fmla="val 10666"/>
            </a:avLst>
          </a:prstGeom>
          <a:solidFill>
            <a:srgbClr val="FBEAD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5440680"/>
            <a:ext cx="10515600" cy="685800"/>
          </a:xfrm>
          <a:prstGeom prst="rect">
            <a:avLst/>
          </a:prstGeom>
          <a:noFill/>
        </p:spPr>
        <p:txBody>
          <a:bodyPr wrap="square" lIns="0" tIns="0" rIns="0" bIns="0" anchor="ctr">
            <a:spAutoFit/>
          </a:bodyPr>
          <a:lstStyle/>
          <a:p>
            <a:pPr marL="0" indent="0" algn="l">
              <a:spcAft>
                <a:spcPts val="400"/>
              </a:spcAft>
              <a:buNone/>
            </a:pPr>
            <a:r>
              <a:rPr sz="1200" b="1" i="0">
                <a:solidFill>
                  <a:srgbClr val="D9822B"/>
                </a:solidFill>
                <a:latin typeface="Calibri"/>
              </a:rPr>
              <a:t>Important:  </a:t>
            </a:r>
            <a:r>
              <a:rPr sz="1200" b="0" i="0">
                <a:solidFill>
                  <a:srgbClr val="0E1330"/>
                </a:solidFill>
                <a:latin typeface="Calibri"/>
              </a:rPr>
              <a:t>the classroom dataset is intentionally simplified. It represents the type of data an application such as Glixify may work with; it is not intended to reproduce a complete production Glixify dataset.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0515600" cy="176972"/>
          </a:xfrm>
          <a:prstGeom prst="rect">
            <a:avLst/>
          </a:prstGeom>
          <a:noFill/>
        </p:spPr>
        <p:txBody>
          <a:bodyPr wrap="square" lIns="0" tIns="0" rIns="0" bIns="0" anchor="t">
            <a:spAutoFit/>
          </a:bodyPr>
          <a:lstStyle/>
          <a:p>
            <a:pPr marL="0" indent="0" algn="l">
              <a:spcAft>
                <a:spcPts val="400"/>
              </a:spcAft>
              <a:buNone/>
            </a:pPr>
            <a:r>
              <a:rPr sz="1150" b="1" i="0">
                <a:solidFill>
                  <a:srgbClr val="0070C0"/>
                </a:solidFill>
                <a:latin typeface="Calibri"/>
              </a:rPr>
              <a:t>DAY 1 · LAB SCENARIO</a:t>
            </a:r>
          </a:p>
        </p:txBody>
      </p:sp>
      <p:sp>
        <p:nvSpPr>
          <p:cNvPr id="3" name="TextBox 2"/>
          <p:cNvSpPr txBox="1"/>
          <p:nvPr/>
        </p:nvSpPr>
        <p:spPr>
          <a:xfrm>
            <a:off x="566928" y="676656"/>
            <a:ext cx="10972800" cy="713232"/>
          </a:xfrm>
          <a:prstGeom prst="rect">
            <a:avLst/>
          </a:prstGeom>
          <a:noFill/>
        </p:spPr>
        <p:txBody>
          <a:bodyPr wrap="square" lIns="0" tIns="0" rIns="0" bIns="0" anchor="t">
            <a:spAutoFit/>
          </a:bodyPr>
          <a:lstStyle/>
          <a:p>
            <a:pPr marL="0" indent="0" algn="l">
              <a:spcAft>
                <a:spcPts val="400"/>
              </a:spcAft>
              <a:buNone/>
            </a:pPr>
            <a:r>
              <a:rPr sz="3000" b="1" i="0">
                <a:solidFill>
                  <a:srgbClr val="0E1330"/>
                </a:solidFill>
                <a:latin typeface="Cambria"/>
              </a:rPr>
              <a:t>Day 1 Lab: The Simplified Teaching Dataset</a:t>
            </a:r>
          </a:p>
        </p:txBody>
      </p:sp>
      <p:sp>
        <p:nvSpPr>
          <p:cNvPr id="4" name="TextBox 3"/>
          <p:cNvSpPr txBox="1"/>
          <p:nvPr/>
        </p:nvSpPr>
        <p:spPr>
          <a:xfrm>
            <a:off x="566928" y="6327648"/>
            <a:ext cx="10424160" cy="292608"/>
          </a:xfrm>
          <a:prstGeom prst="rect">
            <a:avLst/>
          </a:prstGeom>
          <a:noFill/>
        </p:spPr>
        <p:txBody>
          <a:bodyPr wrap="square" lIns="0" tIns="0" rIns="0" bIns="0" anchor="t">
            <a:spAutoFit/>
          </a:bodyPr>
          <a:lstStyle/>
          <a:p>
            <a:pPr marL="0" indent="0" algn="l">
              <a:spcAft>
                <a:spcPts val="400"/>
              </a:spcAft>
              <a:buNone/>
            </a:pPr>
            <a:r>
              <a:rPr sz="1000" b="0" i="0">
                <a:solidFill>
                  <a:srgbClr val="5A6079"/>
                </a:solidFill>
                <a:latin typeface="Calibri"/>
              </a:rPr>
              <a:t>Field names describe the structure of the teaching dataset; the values come from the dataset supplied for the lab.</a:t>
            </a:r>
          </a:p>
        </p:txBody>
      </p:sp>
      <p:graphicFrame>
        <p:nvGraphicFramePr>
          <p:cNvPr id="6" name="Table 5"/>
          <p:cNvGraphicFramePr>
            <a:graphicFrameLocks noGrp="1"/>
          </p:cNvGraphicFramePr>
          <p:nvPr>
            <p:extLst>
              <p:ext uri="{D42A27DB-BD31-4B8C-83A1-F6EECF244321}">
                <p14:modId xmlns:p14="http://schemas.microsoft.com/office/powerpoint/2010/main" val="3618249490"/>
              </p:ext>
            </p:extLst>
          </p:nvPr>
        </p:nvGraphicFramePr>
        <p:xfrm>
          <a:off x="566928" y="1600200"/>
          <a:ext cx="6949440" cy="4023360"/>
        </p:xfrm>
        <a:graphic>
          <a:graphicData uri="http://schemas.openxmlformats.org/drawingml/2006/table">
            <a:tbl>
              <a:tblPr>
                <a:tableStyleId>{5940675A-B579-460E-94D1-54222C63F5DA}</a:tableStyleId>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65760">
                <a:tc>
                  <a:txBody>
                    <a:bodyPr/>
                    <a:lstStyle/>
                    <a:p>
                      <a:r>
                        <a:rPr sz="1200" b="1">
                          <a:solidFill>
                            <a:srgbClr val="FFFFFF"/>
                          </a:solidFill>
                          <a:latin typeface="Calibri"/>
                        </a:rPr>
                        <a:t>Column</a:t>
                      </a:r>
                    </a:p>
                  </a:txBody>
                  <a:tcPr marL="109728" anchor="ctr">
                    <a:solidFill>
                      <a:schemeClr val="accent1">
                        <a:lumMod val="75000"/>
                      </a:schemeClr>
                    </a:solidFill>
                  </a:tcPr>
                </a:tc>
                <a:tc>
                  <a:txBody>
                    <a:bodyPr/>
                    <a:lstStyle/>
                    <a:p>
                      <a:r>
                        <a:rPr sz="1200" b="1">
                          <a:solidFill>
                            <a:srgbClr val="FFFFFF"/>
                          </a:solidFill>
                          <a:latin typeface="Calibri"/>
                        </a:rPr>
                        <a:t>Type</a:t>
                      </a:r>
                    </a:p>
                  </a:txBody>
                  <a:tcPr marL="109728" anchor="ctr">
                    <a:solidFill>
                      <a:schemeClr val="accent1">
                        <a:lumMod val="75000"/>
                      </a:schemeClr>
                    </a:solidFill>
                  </a:tcPr>
                </a:tc>
                <a:tc>
                  <a:txBody>
                    <a:bodyPr/>
                    <a:lstStyle/>
                    <a:p>
                      <a:r>
                        <a:rPr sz="1200" b="1">
                          <a:solidFill>
                            <a:srgbClr val="FFFFFF"/>
                          </a:solidFill>
                          <a:latin typeface="Calibri"/>
                        </a:rPr>
                        <a:t>Example purpose</a:t>
                      </a:r>
                    </a:p>
                  </a:txBody>
                  <a:tcPr marL="109728" anchor="ctr">
                    <a:solidFill>
                      <a:schemeClr val="accent1">
                        <a:lumMod val="75000"/>
                      </a:schemeClr>
                    </a:solidFill>
                  </a:tcPr>
                </a:tc>
                <a:extLst>
                  <a:ext uri="{0D108BD9-81ED-4DB2-BD59-A6C34878D82A}">
                    <a16:rowId xmlns:a16="http://schemas.microsoft.com/office/drawing/2014/main" val="10000"/>
                  </a:ext>
                </a:extLst>
              </a:tr>
              <a:tr h="365760">
                <a:tc>
                  <a:txBody>
                    <a:bodyPr/>
                    <a:lstStyle/>
                    <a:p>
                      <a:r>
                        <a:rPr sz="1200" b="0">
                          <a:solidFill>
                            <a:srgbClr val="0E1330"/>
                          </a:solidFill>
                          <a:latin typeface="Consolas"/>
                        </a:rPr>
                        <a:t>timestamp</a:t>
                      </a:r>
                    </a:p>
                  </a:txBody>
                  <a:tcPr marL="109728" anchor="ctr">
                    <a:solidFill>
                      <a:srgbClr val="EEF1F8"/>
                    </a:solidFill>
                  </a:tcPr>
                </a:tc>
                <a:tc>
                  <a:txBody>
                    <a:bodyPr/>
                    <a:lstStyle/>
                    <a:p>
                      <a:r>
                        <a:rPr sz="1200" b="0">
                          <a:solidFill>
                            <a:srgbClr val="0E1330"/>
                          </a:solidFill>
                          <a:latin typeface="Calibri"/>
                        </a:rPr>
                        <a:t>datetime</a:t>
                      </a:r>
                    </a:p>
                  </a:txBody>
                  <a:tcPr marL="109728" anchor="ctr">
                    <a:solidFill>
                      <a:srgbClr val="EEF1F8"/>
                    </a:solidFill>
                  </a:tcPr>
                </a:tc>
                <a:tc>
                  <a:txBody>
                    <a:bodyPr/>
                    <a:lstStyle/>
                    <a:p>
                      <a:r>
                        <a:rPr sz="1200" b="0">
                          <a:solidFill>
                            <a:srgbClr val="0E1330"/>
                          </a:solidFill>
                          <a:latin typeface="Calibri"/>
                        </a:rPr>
                        <a:t>Observation time</a:t>
                      </a:r>
                    </a:p>
                  </a:txBody>
                  <a:tcPr marL="109728" anchor="ctr">
                    <a:solidFill>
                      <a:srgbClr val="EEF1F8"/>
                    </a:solidFill>
                  </a:tcPr>
                </a:tc>
                <a:extLst>
                  <a:ext uri="{0D108BD9-81ED-4DB2-BD59-A6C34878D82A}">
                    <a16:rowId xmlns:a16="http://schemas.microsoft.com/office/drawing/2014/main" val="10001"/>
                  </a:ext>
                </a:extLst>
              </a:tr>
              <a:tr h="365760">
                <a:tc>
                  <a:txBody>
                    <a:bodyPr/>
                    <a:lstStyle/>
                    <a:p>
                      <a:r>
                        <a:rPr sz="1200" b="0">
                          <a:solidFill>
                            <a:srgbClr val="0E1330"/>
                          </a:solidFill>
                          <a:latin typeface="Consolas"/>
                        </a:rPr>
                        <a:t>glucose</a:t>
                      </a:r>
                    </a:p>
                  </a:txBody>
                  <a:tcPr marL="109728" anchor="ctr">
                    <a:solidFill>
                      <a:srgbClr val="FFFFFF"/>
                    </a:solidFill>
                  </a:tcPr>
                </a:tc>
                <a:tc>
                  <a:txBody>
                    <a:bodyPr/>
                    <a:lstStyle/>
                    <a:p>
                      <a:r>
                        <a:rPr sz="1200" b="0">
                          <a:solidFill>
                            <a:srgbClr val="0E1330"/>
                          </a:solidFill>
                          <a:latin typeface="Calibri"/>
                        </a:rPr>
                        <a:t>numerical</a:t>
                      </a:r>
                    </a:p>
                  </a:txBody>
                  <a:tcPr marL="109728" anchor="ctr">
                    <a:solidFill>
                      <a:srgbClr val="FFFFFF"/>
                    </a:solidFill>
                  </a:tcPr>
                </a:tc>
                <a:tc>
                  <a:txBody>
                    <a:bodyPr/>
                    <a:lstStyle/>
                    <a:p>
                      <a:r>
                        <a:rPr sz="1200" b="0">
                          <a:solidFill>
                            <a:srgbClr val="0E1330"/>
                          </a:solidFill>
                          <a:latin typeface="Calibri"/>
                        </a:rPr>
                        <a:t>CGM measurement</a:t>
                      </a:r>
                    </a:p>
                  </a:txBody>
                  <a:tcPr marL="109728" anchor="ctr">
                    <a:solidFill>
                      <a:srgbClr val="FFFFFF"/>
                    </a:solidFill>
                  </a:tcPr>
                </a:tc>
                <a:extLst>
                  <a:ext uri="{0D108BD9-81ED-4DB2-BD59-A6C34878D82A}">
                    <a16:rowId xmlns:a16="http://schemas.microsoft.com/office/drawing/2014/main" val="10002"/>
                  </a:ext>
                </a:extLst>
              </a:tr>
              <a:tr h="365760">
                <a:tc>
                  <a:txBody>
                    <a:bodyPr/>
                    <a:lstStyle/>
                    <a:p>
                      <a:r>
                        <a:rPr sz="1200" b="0">
                          <a:solidFill>
                            <a:srgbClr val="0E1330"/>
                          </a:solidFill>
                          <a:latin typeface="Consolas"/>
                        </a:rPr>
                        <a:t>heart_rate</a:t>
                      </a:r>
                    </a:p>
                  </a:txBody>
                  <a:tcPr marL="109728" anchor="ctr">
                    <a:solidFill>
                      <a:srgbClr val="EEF1F8"/>
                    </a:solidFill>
                  </a:tcPr>
                </a:tc>
                <a:tc>
                  <a:txBody>
                    <a:bodyPr/>
                    <a:lstStyle/>
                    <a:p>
                      <a:r>
                        <a:rPr sz="1200" b="0">
                          <a:solidFill>
                            <a:srgbClr val="0E1330"/>
                          </a:solidFill>
                          <a:latin typeface="Calibri"/>
                        </a:rPr>
                        <a:t>numerical</a:t>
                      </a:r>
                    </a:p>
                  </a:txBody>
                  <a:tcPr marL="109728" anchor="ctr">
                    <a:solidFill>
                      <a:srgbClr val="EEF1F8"/>
                    </a:solidFill>
                  </a:tcPr>
                </a:tc>
                <a:tc>
                  <a:txBody>
                    <a:bodyPr/>
                    <a:lstStyle/>
                    <a:p>
                      <a:r>
                        <a:rPr sz="1200" b="0">
                          <a:solidFill>
                            <a:srgbClr val="0E1330"/>
                          </a:solidFill>
                          <a:latin typeface="Calibri"/>
                        </a:rPr>
                        <a:t>Heart rate</a:t>
                      </a:r>
                    </a:p>
                  </a:txBody>
                  <a:tcPr marL="109728" anchor="ctr">
                    <a:solidFill>
                      <a:srgbClr val="EEF1F8"/>
                    </a:solidFill>
                  </a:tcPr>
                </a:tc>
                <a:extLst>
                  <a:ext uri="{0D108BD9-81ED-4DB2-BD59-A6C34878D82A}">
                    <a16:rowId xmlns:a16="http://schemas.microsoft.com/office/drawing/2014/main" val="10003"/>
                  </a:ext>
                </a:extLst>
              </a:tr>
              <a:tr h="365760">
                <a:tc>
                  <a:txBody>
                    <a:bodyPr/>
                    <a:lstStyle/>
                    <a:p>
                      <a:r>
                        <a:rPr sz="1200" b="0">
                          <a:solidFill>
                            <a:srgbClr val="0E1330"/>
                          </a:solidFill>
                          <a:latin typeface="Consolas"/>
                        </a:rPr>
                        <a:t>hrv</a:t>
                      </a:r>
                    </a:p>
                  </a:txBody>
                  <a:tcPr marL="109728" anchor="ctr">
                    <a:solidFill>
                      <a:srgbClr val="FFFFFF"/>
                    </a:solidFill>
                  </a:tcPr>
                </a:tc>
                <a:tc>
                  <a:txBody>
                    <a:bodyPr/>
                    <a:lstStyle/>
                    <a:p>
                      <a:r>
                        <a:rPr sz="1200" b="0">
                          <a:solidFill>
                            <a:srgbClr val="0E1330"/>
                          </a:solidFill>
                          <a:latin typeface="Calibri"/>
                        </a:rPr>
                        <a:t>numerical</a:t>
                      </a:r>
                    </a:p>
                  </a:txBody>
                  <a:tcPr marL="109728" anchor="ctr">
                    <a:solidFill>
                      <a:srgbClr val="FFFFFF"/>
                    </a:solidFill>
                  </a:tcPr>
                </a:tc>
                <a:tc>
                  <a:txBody>
                    <a:bodyPr/>
                    <a:lstStyle/>
                    <a:p>
                      <a:r>
                        <a:rPr sz="1200" b="0">
                          <a:solidFill>
                            <a:srgbClr val="0E1330"/>
                          </a:solidFill>
                          <a:latin typeface="Calibri"/>
                        </a:rPr>
                        <a:t>Heart-rate variability</a:t>
                      </a:r>
                    </a:p>
                  </a:txBody>
                  <a:tcPr marL="109728" anchor="ctr">
                    <a:solidFill>
                      <a:srgbClr val="FFFFFF"/>
                    </a:solidFill>
                  </a:tcPr>
                </a:tc>
                <a:extLst>
                  <a:ext uri="{0D108BD9-81ED-4DB2-BD59-A6C34878D82A}">
                    <a16:rowId xmlns:a16="http://schemas.microsoft.com/office/drawing/2014/main" val="10004"/>
                  </a:ext>
                </a:extLst>
              </a:tr>
              <a:tr h="365760">
                <a:tc>
                  <a:txBody>
                    <a:bodyPr/>
                    <a:lstStyle/>
                    <a:p>
                      <a:r>
                        <a:rPr sz="1200" b="0">
                          <a:solidFill>
                            <a:srgbClr val="0E1330"/>
                          </a:solidFill>
                          <a:latin typeface="Consolas"/>
                        </a:rPr>
                        <a:t>spo2</a:t>
                      </a:r>
                    </a:p>
                  </a:txBody>
                  <a:tcPr marL="109728" anchor="ctr">
                    <a:solidFill>
                      <a:srgbClr val="EEF1F8"/>
                    </a:solidFill>
                  </a:tcPr>
                </a:tc>
                <a:tc>
                  <a:txBody>
                    <a:bodyPr/>
                    <a:lstStyle/>
                    <a:p>
                      <a:r>
                        <a:rPr sz="1200" b="0">
                          <a:solidFill>
                            <a:srgbClr val="0E1330"/>
                          </a:solidFill>
                          <a:latin typeface="Calibri"/>
                        </a:rPr>
                        <a:t>numerical</a:t>
                      </a:r>
                    </a:p>
                  </a:txBody>
                  <a:tcPr marL="109728" anchor="ctr">
                    <a:solidFill>
                      <a:srgbClr val="EEF1F8"/>
                    </a:solidFill>
                  </a:tcPr>
                </a:tc>
                <a:tc>
                  <a:txBody>
                    <a:bodyPr/>
                    <a:lstStyle/>
                    <a:p>
                      <a:r>
                        <a:rPr sz="1200" b="0">
                          <a:solidFill>
                            <a:srgbClr val="0E1330"/>
                          </a:solidFill>
                          <a:latin typeface="Calibri"/>
                        </a:rPr>
                        <a:t>Oxygen saturation</a:t>
                      </a:r>
                    </a:p>
                  </a:txBody>
                  <a:tcPr marL="109728" anchor="ctr">
                    <a:solidFill>
                      <a:srgbClr val="EEF1F8"/>
                    </a:solidFill>
                  </a:tcPr>
                </a:tc>
                <a:extLst>
                  <a:ext uri="{0D108BD9-81ED-4DB2-BD59-A6C34878D82A}">
                    <a16:rowId xmlns:a16="http://schemas.microsoft.com/office/drawing/2014/main" val="10005"/>
                  </a:ext>
                </a:extLst>
              </a:tr>
              <a:tr h="365760">
                <a:tc>
                  <a:txBody>
                    <a:bodyPr/>
                    <a:lstStyle/>
                    <a:p>
                      <a:r>
                        <a:rPr sz="1200" b="0">
                          <a:solidFill>
                            <a:srgbClr val="0E1330"/>
                          </a:solidFill>
                          <a:latin typeface="Consolas"/>
                        </a:rPr>
                        <a:t>sleep_duration</a:t>
                      </a:r>
                    </a:p>
                  </a:txBody>
                  <a:tcPr marL="109728" anchor="ctr">
                    <a:solidFill>
                      <a:srgbClr val="FFFFFF"/>
                    </a:solidFill>
                  </a:tcPr>
                </a:tc>
                <a:tc>
                  <a:txBody>
                    <a:bodyPr/>
                    <a:lstStyle/>
                    <a:p>
                      <a:r>
                        <a:rPr sz="1200" b="0">
                          <a:solidFill>
                            <a:srgbClr val="0E1330"/>
                          </a:solidFill>
                          <a:latin typeface="Calibri"/>
                        </a:rPr>
                        <a:t>numerical</a:t>
                      </a:r>
                    </a:p>
                  </a:txBody>
                  <a:tcPr marL="109728" anchor="ctr">
                    <a:solidFill>
                      <a:srgbClr val="FFFFFF"/>
                    </a:solidFill>
                  </a:tcPr>
                </a:tc>
                <a:tc>
                  <a:txBody>
                    <a:bodyPr/>
                    <a:lstStyle/>
                    <a:p>
                      <a:r>
                        <a:rPr sz="1200" b="0">
                          <a:solidFill>
                            <a:srgbClr val="0E1330"/>
                          </a:solidFill>
                          <a:latin typeface="Calibri"/>
                        </a:rPr>
                        <a:t>Sleep-related measure</a:t>
                      </a:r>
                    </a:p>
                  </a:txBody>
                  <a:tcPr marL="109728" anchor="ctr">
                    <a:solidFill>
                      <a:srgbClr val="FFFFFF"/>
                    </a:solidFill>
                  </a:tcPr>
                </a:tc>
                <a:extLst>
                  <a:ext uri="{0D108BD9-81ED-4DB2-BD59-A6C34878D82A}">
                    <a16:rowId xmlns:a16="http://schemas.microsoft.com/office/drawing/2014/main" val="10006"/>
                  </a:ext>
                </a:extLst>
              </a:tr>
              <a:tr h="365760">
                <a:tc>
                  <a:txBody>
                    <a:bodyPr/>
                    <a:lstStyle/>
                    <a:p>
                      <a:r>
                        <a:rPr sz="1200" b="0">
                          <a:solidFill>
                            <a:srgbClr val="0E1330"/>
                          </a:solidFill>
                          <a:latin typeface="Consolas"/>
                        </a:rPr>
                        <a:t>activity_level</a:t>
                      </a:r>
                    </a:p>
                  </a:txBody>
                  <a:tcPr marL="109728" anchor="ctr">
                    <a:solidFill>
                      <a:srgbClr val="EEF1F8"/>
                    </a:solidFill>
                  </a:tcPr>
                </a:tc>
                <a:tc>
                  <a:txBody>
                    <a:bodyPr/>
                    <a:lstStyle/>
                    <a:p>
                      <a:r>
                        <a:rPr sz="1200" b="0">
                          <a:solidFill>
                            <a:srgbClr val="0E1330"/>
                          </a:solidFill>
                          <a:latin typeface="Calibri"/>
                        </a:rPr>
                        <a:t>categorical</a:t>
                      </a:r>
                    </a:p>
                  </a:txBody>
                  <a:tcPr marL="109728" anchor="ctr">
                    <a:solidFill>
                      <a:srgbClr val="EEF1F8"/>
                    </a:solidFill>
                  </a:tcPr>
                </a:tc>
                <a:tc>
                  <a:txBody>
                    <a:bodyPr/>
                    <a:lstStyle/>
                    <a:p>
                      <a:r>
                        <a:rPr sz="1200" b="0">
                          <a:solidFill>
                            <a:srgbClr val="0E1330"/>
                          </a:solidFill>
                          <a:latin typeface="Calibri"/>
                        </a:rPr>
                        <a:t>Low / Moderate / High</a:t>
                      </a:r>
                    </a:p>
                  </a:txBody>
                  <a:tcPr marL="109728" anchor="ctr">
                    <a:solidFill>
                      <a:srgbClr val="EEF1F8"/>
                    </a:solidFill>
                  </a:tcPr>
                </a:tc>
                <a:extLst>
                  <a:ext uri="{0D108BD9-81ED-4DB2-BD59-A6C34878D82A}">
                    <a16:rowId xmlns:a16="http://schemas.microsoft.com/office/drawing/2014/main" val="10007"/>
                  </a:ext>
                </a:extLst>
              </a:tr>
              <a:tr h="365760">
                <a:tc>
                  <a:txBody>
                    <a:bodyPr/>
                    <a:lstStyle/>
                    <a:p>
                      <a:r>
                        <a:rPr sz="1200" b="0">
                          <a:solidFill>
                            <a:srgbClr val="0E1330"/>
                          </a:solidFill>
                          <a:latin typeface="Consolas"/>
                        </a:rPr>
                        <a:t>steps</a:t>
                      </a:r>
                    </a:p>
                  </a:txBody>
                  <a:tcPr marL="109728" anchor="ctr">
                    <a:solidFill>
                      <a:srgbClr val="FFFFFF"/>
                    </a:solidFill>
                  </a:tcPr>
                </a:tc>
                <a:tc>
                  <a:txBody>
                    <a:bodyPr/>
                    <a:lstStyle/>
                    <a:p>
                      <a:r>
                        <a:rPr sz="1200" b="0">
                          <a:solidFill>
                            <a:srgbClr val="0E1330"/>
                          </a:solidFill>
                          <a:latin typeface="Calibri"/>
                        </a:rPr>
                        <a:t>numerical</a:t>
                      </a:r>
                    </a:p>
                  </a:txBody>
                  <a:tcPr marL="109728" anchor="ctr">
                    <a:solidFill>
                      <a:srgbClr val="FFFFFF"/>
                    </a:solidFill>
                  </a:tcPr>
                </a:tc>
                <a:tc>
                  <a:txBody>
                    <a:bodyPr/>
                    <a:lstStyle/>
                    <a:p>
                      <a:r>
                        <a:rPr sz="1200" b="0">
                          <a:solidFill>
                            <a:srgbClr val="0E1330"/>
                          </a:solidFill>
                          <a:latin typeface="Calibri"/>
                        </a:rPr>
                        <a:t>Activity volume</a:t>
                      </a:r>
                    </a:p>
                  </a:txBody>
                  <a:tcPr marL="109728" anchor="ctr">
                    <a:solidFill>
                      <a:srgbClr val="FFFFFF"/>
                    </a:solidFill>
                  </a:tcPr>
                </a:tc>
                <a:extLst>
                  <a:ext uri="{0D108BD9-81ED-4DB2-BD59-A6C34878D82A}">
                    <a16:rowId xmlns:a16="http://schemas.microsoft.com/office/drawing/2014/main" val="10008"/>
                  </a:ext>
                </a:extLst>
              </a:tr>
              <a:tr h="365760">
                <a:tc>
                  <a:txBody>
                    <a:bodyPr/>
                    <a:lstStyle/>
                    <a:p>
                      <a:r>
                        <a:rPr sz="1200" b="0">
                          <a:solidFill>
                            <a:srgbClr val="0E1330"/>
                          </a:solidFill>
                          <a:latin typeface="Consolas"/>
                        </a:rPr>
                        <a:t>sleep_quality</a:t>
                      </a:r>
                    </a:p>
                  </a:txBody>
                  <a:tcPr marL="109728" anchor="ctr">
                    <a:solidFill>
                      <a:srgbClr val="EEF1F8"/>
                    </a:solidFill>
                  </a:tcPr>
                </a:tc>
                <a:tc>
                  <a:txBody>
                    <a:bodyPr/>
                    <a:lstStyle/>
                    <a:p>
                      <a:r>
                        <a:rPr sz="1200" b="0">
                          <a:solidFill>
                            <a:srgbClr val="0E1330"/>
                          </a:solidFill>
                          <a:latin typeface="Calibri"/>
                        </a:rPr>
                        <a:t>categorical</a:t>
                      </a:r>
                    </a:p>
                  </a:txBody>
                  <a:tcPr marL="109728" anchor="ctr">
                    <a:solidFill>
                      <a:srgbClr val="EEF1F8"/>
                    </a:solidFill>
                  </a:tcPr>
                </a:tc>
                <a:tc>
                  <a:txBody>
                    <a:bodyPr/>
                    <a:lstStyle/>
                    <a:p>
                      <a:r>
                        <a:rPr sz="1200" b="0">
                          <a:solidFill>
                            <a:srgbClr val="0E1330"/>
                          </a:solidFill>
                          <a:latin typeface="Calibri"/>
                        </a:rPr>
                        <a:t>Sleep classification</a:t>
                      </a:r>
                    </a:p>
                  </a:txBody>
                  <a:tcPr marL="109728" anchor="ctr">
                    <a:solidFill>
                      <a:srgbClr val="EEF1F8"/>
                    </a:solidFill>
                  </a:tcPr>
                </a:tc>
                <a:extLst>
                  <a:ext uri="{0D108BD9-81ED-4DB2-BD59-A6C34878D82A}">
                    <a16:rowId xmlns:a16="http://schemas.microsoft.com/office/drawing/2014/main" val="10009"/>
                  </a:ext>
                </a:extLst>
              </a:tr>
              <a:tr h="365760">
                <a:tc>
                  <a:txBody>
                    <a:bodyPr/>
                    <a:lstStyle/>
                    <a:p>
                      <a:r>
                        <a:rPr sz="1200" b="0">
                          <a:solidFill>
                            <a:srgbClr val="0E1330"/>
                          </a:solidFill>
                          <a:latin typeface="Consolas"/>
                        </a:rPr>
                        <a:t>device_type</a:t>
                      </a:r>
                    </a:p>
                  </a:txBody>
                  <a:tcPr marL="109728" anchor="ctr">
                    <a:solidFill>
                      <a:srgbClr val="FFFFFF"/>
                    </a:solidFill>
                  </a:tcPr>
                </a:tc>
                <a:tc>
                  <a:txBody>
                    <a:bodyPr/>
                    <a:lstStyle/>
                    <a:p>
                      <a:r>
                        <a:rPr sz="1200" b="0">
                          <a:solidFill>
                            <a:srgbClr val="0E1330"/>
                          </a:solidFill>
                          <a:latin typeface="Calibri"/>
                        </a:rPr>
                        <a:t>categorical</a:t>
                      </a:r>
                    </a:p>
                  </a:txBody>
                  <a:tcPr marL="109728" anchor="ctr">
                    <a:solidFill>
                      <a:srgbClr val="FFFFFF"/>
                    </a:solidFill>
                  </a:tcPr>
                </a:tc>
                <a:tc>
                  <a:txBody>
                    <a:bodyPr/>
                    <a:lstStyle/>
                    <a:p>
                      <a:r>
                        <a:rPr sz="1200" b="0">
                          <a:solidFill>
                            <a:srgbClr val="0E1330"/>
                          </a:solidFill>
                          <a:latin typeface="Calibri"/>
                        </a:rPr>
                        <a:t>Source / device category</a:t>
                      </a:r>
                    </a:p>
                  </a:txBody>
                  <a:tcPr marL="109728" anchor="ctr">
                    <a:solidFill>
                      <a:srgbClr val="FFFFFF"/>
                    </a:solidFill>
                  </a:tcPr>
                </a:tc>
                <a:extLst>
                  <a:ext uri="{0D108BD9-81ED-4DB2-BD59-A6C34878D82A}">
                    <a16:rowId xmlns:a16="http://schemas.microsoft.com/office/drawing/2014/main" val="10010"/>
                  </a:ext>
                </a:extLst>
              </a:tr>
            </a:tbl>
          </a:graphicData>
        </a:graphic>
      </p:graphicFrame>
      <p:sp>
        <p:nvSpPr>
          <p:cNvPr id="7" name="TextBox 6"/>
          <p:cNvSpPr txBox="1"/>
          <p:nvPr/>
        </p:nvSpPr>
        <p:spPr>
          <a:xfrm>
            <a:off x="7818120" y="1600200"/>
            <a:ext cx="3794760" cy="274320"/>
          </a:xfrm>
          <a:prstGeom prst="rect">
            <a:avLst/>
          </a:prstGeom>
          <a:noFill/>
        </p:spPr>
        <p:txBody>
          <a:bodyPr wrap="square" lIns="0" tIns="0" rIns="0" bIns="0" anchor="t">
            <a:spAutoFit/>
          </a:bodyPr>
          <a:lstStyle/>
          <a:p>
            <a:pPr marL="0" indent="0" algn="l">
              <a:spcAft>
                <a:spcPts val="400"/>
              </a:spcAft>
              <a:buNone/>
            </a:pPr>
            <a:r>
              <a:rPr sz="1050" b="1" i="0">
                <a:solidFill>
                  <a:srgbClr val="00A896"/>
                </a:solidFill>
                <a:latin typeface="Calibri"/>
              </a:rPr>
              <a:t>DAY 1 FLOW</a:t>
            </a:r>
          </a:p>
        </p:txBody>
      </p:sp>
      <p:sp>
        <p:nvSpPr>
          <p:cNvPr id="8" name="Rounded Rectangle 7"/>
          <p:cNvSpPr/>
          <p:nvPr/>
        </p:nvSpPr>
        <p:spPr>
          <a:xfrm>
            <a:off x="7818120" y="1920240"/>
            <a:ext cx="3794760" cy="457200"/>
          </a:xfrm>
          <a:prstGeom prst="roundRect">
            <a:avLst>
              <a:gd name="adj" fmla="val 16000"/>
            </a:avLst>
          </a:prstGeom>
          <a:solidFill>
            <a:srgbClr val="2E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18120" y="1920240"/>
            <a:ext cx="3794760" cy="457200"/>
          </a:xfrm>
          <a:prstGeom prst="rect">
            <a:avLst/>
          </a:prstGeom>
          <a:noFill/>
        </p:spPr>
        <p:txBody>
          <a:bodyPr wrap="square" lIns="0" tIns="0" rIns="0" bIns="0" anchor="ctr">
            <a:spAutoFit/>
          </a:bodyPr>
          <a:lstStyle/>
          <a:p>
            <a:pPr marL="0" indent="0" algn="ctr">
              <a:spcAft>
                <a:spcPts val="400"/>
              </a:spcAft>
              <a:buNone/>
            </a:pPr>
            <a:r>
              <a:rPr sz="1400" b="1" i="0">
                <a:solidFill>
                  <a:srgbClr val="FFFFFF"/>
                </a:solidFill>
                <a:latin typeface="Calibri"/>
              </a:rPr>
              <a:t>Profile</a:t>
            </a:r>
          </a:p>
        </p:txBody>
      </p:sp>
      <p:sp>
        <p:nvSpPr>
          <p:cNvPr id="10" name="Rounded Rectangle 9"/>
          <p:cNvSpPr/>
          <p:nvPr/>
        </p:nvSpPr>
        <p:spPr>
          <a:xfrm>
            <a:off x="7818120" y="2487168"/>
            <a:ext cx="3794760" cy="457200"/>
          </a:xfrm>
          <a:prstGeom prst="roundRect">
            <a:avLst>
              <a:gd name="adj" fmla="val 16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2487168"/>
            <a:ext cx="3794760" cy="457200"/>
          </a:xfrm>
          <a:prstGeom prst="rect">
            <a:avLst/>
          </a:prstGeom>
          <a:noFill/>
        </p:spPr>
        <p:txBody>
          <a:bodyPr wrap="square" lIns="0" tIns="0" rIns="0" bIns="0" anchor="ctr">
            <a:spAutoFit/>
          </a:bodyPr>
          <a:lstStyle/>
          <a:p>
            <a:pPr marL="0" indent="0" algn="ctr">
              <a:spcAft>
                <a:spcPts val="400"/>
              </a:spcAft>
              <a:buNone/>
            </a:pPr>
            <a:r>
              <a:rPr sz="1400" b="1" i="0">
                <a:solidFill>
                  <a:srgbClr val="FFFFFF"/>
                </a:solidFill>
                <a:latin typeface="Calibri"/>
              </a:rPr>
              <a:t>Understand</a:t>
            </a:r>
          </a:p>
        </p:txBody>
      </p:sp>
      <p:sp>
        <p:nvSpPr>
          <p:cNvPr id="12" name="Rounded Rectangle 11"/>
          <p:cNvSpPr/>
          <p:nvPr/>
        </p:nvSpPr>
        <p:spPr>
          <a:xfrm>
            <a:off x="7818120" y="3054096"/>
            <a:ext cx="3794760" cy="457200"/>
          </a:xfrm>
          <a:prstGeom prst="roundRect">
            <a:avLst>
              <a:gd name="adj" fmla="val 16000"/>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18120" y="3054096"/>
            <a:ext cx="3794760" cy="457200"/>
          </a:xfrm>
          <a:prstGeom prst="rect">
            <a:avLst/>
          </a:prstGeom>
          <a:noFill/>
        </p:spPr>
        <p:txBody>
          <a:bodyPr wrap="square" lIns="0" tIns="0" rIns="0" bIns="0" anchor="ctr">
            <a:spAutoFit/>
          </a:bodyPr>
          <a:lstStyle/>
          <a:p>
            <a:pPr marL="0" indent="0" algn="ctr">
              <a:spcAft>
                <a:spcPts val="400"/>
              </a:spcAft>
              <a:buNone/>
            </a:pPr>
            <a:r>
              <a:rPr sz="1400" b="1" i="0">
                <a:solidFill>
                  <a:srgbClr val="FFFFFF"/>
                </a:solidFill>
                <a:latin typeface="Calibri"/>
              </a:rPr>
              <a:t>Baseline</a:t>
            </a:r>
          </a:p>
        </p:txBody>
      </p:sp>
      <p:sp>
        <p:nvSpPr>
          <p:cNvPr id="14" name="Rounded Rectangle 13"/>
          <p:cNvSpPr/>
          <p:nvPr/>
        </p:nvSpPr>
        <p:spPr>
          <a:xfrm>
            <a:off x="7818120" y="3621024"/>
            <a:ext cx="3794760" cy="457200"/>
          </a:xfrm>
          <a:prstGeom prst="roundRect">
            <a:avLst>
              <a:gd name="adj" fmla="val 16000"/>
            </a:avLst>
          </a:prstGeom>
          <a:solidFill>
            <a:srgbClr val="0E1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3621024"/>
            <a:ext cx="3794760" cy="457200"/>
          </a:xfrm>
          <a:prstGeom prst="rect">
            <a:avLst/>
          </a:prstGeom>
          <a:noFill/>
        </p:spPr>
        <p:txBody>
          <a:bodyPr wrap="square" lIns="0" tIns="0" rIns="0" bIns="0" anchor="ctr">
            <a:spAutoFit/>
          </a:bodyPr>
          <a:lstStyle/>
          <a:p>
            <a:pPr marL="0" indent="0" algn="ctr">
              <a:spcAft>
                <a:spcPts val="400"/>
              </a:spcAft>
              <a:buNone/>
            </a:pPr>
            <a:r>
              <a:rPr sz="1400" b="1" i="0">
                <a:solidFill>
                  <a:srgbClr val="FFFFFF"/>
                </a:solidFill>
                <a:latin typeface="Calibri"/>
              </a:rPr>
              <a:t>Compare</a:t>
            </a:r>
          </a:p>
        </p:txBody>
      </p:sp>
      <p:sp>
        <p:nvSpPr>
          <p:cNvPr id="16" name="Rounded Rectangle 15"/>
          <p:cNvSpPr/>
          <p:nvPr/>
        </p:nvSpPr>
        <p:spPr>
          <a:xfrm>
            <a:off x="7818120" y="4343400"/>
            <a:ext cx="3794760" cy="1783080"/>
          </a:xfrm>
          <a:prstGeom prst="roundRect">
            <a:avLst>
              <a:gd name="adj" fmla="val 4102"/>
            </a:avLst>
          </a:prstGeom>
          <a:solidFill>
            <a:srgbClr val="D6F2EC"/>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19288" y="4480560"/>
            <a:ext cx="3383280" cy="1554480"/>
          </a:xfrm>
          <a:prstGeom prst="rect">
            <a:avLst/>
          </a:prstGeom>
          <a:noFill/>
        </p:spPr>
        <p:txBody>
          <a:bodyPr wrap="square" lIns="0" tIns="0" rIns="0" bIns="0" anchor="t">
            <a:spAutoFit/>
          </a:bodyPr>
          <a:lstStyle/>
          <a:p>
            <a:pPr marL="0" indent="0" algn="l">
              <a:spcAft>
                <a:spcPts val="400"/>
              </a:spcAft>
              <a:buNone/>
            </a:pPr>
            <a:r>
              <a:rPr sz="1300" b="1" i="0">
                <a:solidFill>
                  <a:srgbClr val="00A896"/>
                </a:solidFill>
                <a:latin typeface="Calibri"/>
              </a:rPr>
              <a:t>Instructor note</a:t>
            </a:r>
          </a:p>
          <a:p>
            <a:pPr marL="0" indent="0" algn="l">
              <a:spcAft>
                <a:spcPts val="400"/>
              </a:spcAft>
              <a:buNone/>
            </a:pPr>
            <a:r>
              <a:rPr sz="1150" b="0" i="0">
                <a:solidFill>
                  <a:srgbClr val="0E1330"/>
                </a:solidFill>
                <a:latin typeface="Calibri"/>
              </a:rPr>
              <a:t>Do not require students to model all variables as a true clinical time-series problem in the 2-hour lab. Temporal generation is introduced conceptually and revisited in later sessions.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name="Slide 24">
    <p:bg>
      <p:bgPr>
        <a:solidFill>
          <a:srgbClr val="0E1330"/>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What we established today</a:t>
            </a:r>
            <a:endParaRPr lang="en-US" sz="3000"/>
          </a:p>
        </p:txBody>
      </p:sp>
      <p:sp>
        <p:nvSpPr>
          <p:cNvPr id="5" name="Shape 3"/>
          <p:cNvSpPr/>
          <p:nvPr/>
        </p:nvSpPr>
        <p:spPr>
          <a:xfrm>
            <a:off x="566928" y="1691640"/>
            <a:ext cx="11064240" cy="932688"/>
          </a:xfrm>
          <a:prstGeom prst="roundRect">
            <a:avLst>
              <a:gd name="adj" fmla="val 7843"/>
            </a:avLst>
          </a:prstGeom>
          <a:solidFill>
            <a:srgbClr val="1B2145"/>
          </a:solidFill>
          <a:ln w="12700">
            <a:solidFill>
              <a:srgbClr val="39406B"/>
            </a:solidFill>
            <a:prstDash val="solid"/>
          </a:ln>
        </p:spPr>
      </p:sp>
      <p:sp>
        <p:nvSpPr>
          <p:cNvPr id="6" name="Shape 4"/>
          <p:cNvSpPr/>
          <p:nvPr/>
        </p:nvSpPr>
        <p:spPr>
          <a:xfrm>
            <a:off x="804672" y="1901952"/>
            <a:ext cx="420624" cy="420624"/>
          </a:xfrm>
          <a:prstGeom prst="ellipse">
            <a:avLst/>
          </a:prstGeom>
          <a:solidFill>
            <a:srgbClr val="00A896"/>
          </a:solidFill>
          <a:ln w="12700">
            <a:solidFill>
              <a:srgbClr val="00A896"/>
            </a:solidFill>
            <a:prstDash val="solid"/>
          </a:ln>
        </p:spPr>
      </p:sp>
      <p:sp>
        <p:nvSpPr>
          <p:cNvPr id="7" name="Text 5"/>
          <p:cNvSpPr txBox="1"/>
          <p:nvPr/>
        </p:nvSpPr>
        <p:spPr>
          <a:xfrm>
            <a:off x="804672" y="1901952"/>
            <a:ext cx="420624" cy="420624"/>
          </a:xfrm>
          <a:prstGeom prst="rect">
            <a:avLst/>
          </a:prstGeom>
          <a:noFill/>
          <a:ln/>
        </p:spPr>
        <p:txBody>
          <a:bodyPr wrap="square" lIns="0" tIns="0" rIns="0" bIns="0" rtlCol="0" anchor="ctr"/>
          <a:lstStyle/>
          <a:p>
            <a:pPr marL="0" indent="0" algn="ctr">
              <a:buNone/>
            </a:pPr>
            <a:r>
              <a:rPr lang="en-US" sz="1300" b="1">
                <a:solidFill>
                  <a:schemeClr val="bg1"/>
                </a:solidFill>
                <a:latin typeface="Calibri" pitchFamily="34" charset="0"/>
                <a:ea typeface="Calibri" pitchFamily="34" charset="-122"/>
                <a:cs typeface="Calibri" pitchFamily="34" charset="-120"/>
              </a:rPr>
              <a:t>1</a:t>
            </a:r>
            <a:endParaRPr lang="en-US" sz="1300">
              <a:solidFill>
                <a:schemeClr val="bg1"/>
              </a:solidFill>
            </a:endParaRPr>
          </a:p>
        </p:txBody>
      </p:sp>
      <p:sp>
        <p:nvSpPr>
          <p:cNvPr id="8" name="Text 6"/>
          <p:cNvSpPr txBox="1"/>
          <p:nvPr/>
        </p:nvSpPr>
        <p:spPr>
          <a:xfrm>
            <a:off x="1417320" y="1783080"/>
            <a:ext cx="9966960" cy="749808"/>
          </a:xfrm>
          <a:prstGeom prst="rect">
            <a:avLst/>
          </a:prstGeom>
          <a:noFill/>
          <a:ln/>
        </p:spPr>
        <p:txBody>
          <a:bodyPr wrap="square" lIns="0" tIns="0" rIns="0" bIns="0" rtlCol="0" anchor="ctr"/>
          <a:lstStyle/>
          <a:p>
            <a:pPr marL="0" indent="0">
              <a:lnSpc>
                <a:spcPct val="108000"/>
              </a:lnSpc>
              <a:buNone/>
            </a:pPr>
            <a:r>
              <a:rPr lang="en-US" sz="1300">
                <a:solidFill>
                  <a:srgbClr val="FFFFFF"/>
                </a:solidFill>
                <a:latin typeface="Calibri" pitchFamily="34" charset="0"/>
                <a:ea typeface="Calibri" pitchFamily="34" charset="-122"/>
                <a:cs typeface="Calibri" pitchFamily="34" charset="-120"/>
              </a:rPr>
              <a:t>Synthetic data is generated from a fitted model, not de-identified from real records — and that distinction drives its whole risk profile [1] [30].</a:t>
            </a:r>
            <a:endParaRPr lang="en-US" sz="1300"/>
          </a:p>
        </p:txBody>
      </p:sp>
      <p:sp>
        <p:nvSpPr>
          <p:cNvPr id="9" name="Shape 7"/>
          <p:cNvSpPr/>
          <p:nvPr/>
        </p:nvSpPr>
        <p:spPr>
          <a:xfrm>
            <a:off x="566928" y="2770632"/>
            <a:ext cx="11064240" cy="932688"/>
          </a:xfrm>
          <a:prstGeom prst="roundRect">
            <a:avLst>
              <a:gd name="adj" fmla="val 7843"/>
            </a:avLst>
          </a:prstGeom>
          <a:solidFill>
            <a:srgbClr val="1B2145"/>
          </a:solidFill>
          <a:ln w="12700">
            <a:solidFill>
              <a:srgbClr val="39406B"/>
            </a:solidFill>
            <a:prstDash val="solid"/>
          </a:ln>
        </p:spPr>
      </p:sp>
      <p:sp>
        <p:nvSpPr>
          <p:cNvPr id="10" name="Shape 8"/>
          <p:cNvSpPr/>
          <p:nvPr/>
        </p:nvSpPr>
        <p:spPr>
          <a:xfrm>
            <a:off x="804672" y="2980944"/>
            <a:ext cx="420624" cy="420624"/>
          </a:xfrm>
          <a:prstGeom prst="ellipse">
            <a:avLst/>
          </a:prstGeom>
          <a:solidFill>
            <a:srgbClr val="00A896"/>
          </a:solidFill>
          <a:ln w="12700">
            <a:solidFill>
              <a:srgbClr val="00A896"/>
            </a:solidFill>
            <a:prstDash val="solid"/>
          </a:ln>
        </p:spPr>
      </p:sp>
      <p:sp>
        <p:nvSpPr>
          <p:cNvPr id="11" name="Text 9"/>
          <p:cNvSpPr txBox="1"/>
          <p:nvPr/>
        </p:nvSpPr>
        <p:spPr>
          <a:xfrm>
            <a:off x="804672" y="2980944"/>
            <a:ext cx="420624" cy="420624"/>
          </a:xfrm>
          <a:prstGeom prst="rect">
            <a:avLst/>
          </a:prstGeom>
          <a:noFill/>
          <a:ln/>
        </p:spPr>
        <p:txBody>
          <a:bodyPr wrap="square" lIns="0" tIns="0" rIns="0" bIns="0" rtlCol="0" anchor="ctr"/>
          <a:lstStyle/>
          <a:p>
            <a:pPr marL="0" indent="0" algn="ctr">
              <a:buNone/>
            </a:pPr>
            <a:r>
              <a:rPr lang="en-US" sz="1300" b="1">
                <a:solidFill>
                  <a:schemeClr val="bg1"/>
                </a:solidFill>
                <a:latin typeface="Calibri" pitchFamily="34" charset="0"/>
                <a:ea typeface="Calibri" pitchFamily="34" charset="-122"/>
                <a:cs typeface="Calibri" pitchFamily="34" charset="-120"/>
              </a:rPr>
              <a:t>2</a:t>
            </a:r>
            <a:endParaRPr lang="en-US" sz="1300">
              <a:solidFill>
                <a:schemeClr val="bg1"/>
              </a:solidFill>
            </a:endParaRPr>
          </a:p>
        </p:txBody>
      </p:sp>
      <p:sp>
        <p:nvSpPr>
          <p:cNvPr id="12" name="Text 10"/>
          <p:cNvSpPr txBox="1"/>
          <p:nvPr/>
        </p:nvSpPr>
        <p:spPr>
          <a:xfrm>
            <a:off x="1417320" y="2862072"/>
            <a:ext cx="9966960" cy="749808"/>
          </a:xfrm>
          <a:prstGeom prst="rect">
            <a:avLst/>
          </a:prstGeom>
          <a:noFill/>
          <a:ln/>
        </p:spPr>
        <p:txBody>
          <a:bodyPr wrap="square" lIns="0" tIns="0" rIns="0" bIns="0" rtlCol="0" anchor="ctr"/>
          <a:lstStyle/>
          <a:p>
            <a:pPr marL="0" indent="0">
              <a:lnSpc>
                <a:spcPct val="108000"/>
              </a:lnSpc>
              <a:buNone/>
            </a:pPr>
            <a:r>
              <a:rPr lang="en-US" sz="1300">
                <a:solidFill>
                  <a:srgbClr val="FFFFFF"/>
                </a:solidFill>
                <a:latin typeface="Calibri" pitchFamily="34" charset="0"/>
                <a:ea typeface="Calibri" pitchFamily="34" charset="-122"/>
                <a:cs typeface="Calibri" pitchFamily="34" charset="-120"/>
              </a:rPr>
              <a:t>Fidelity, utility and privacy form a trade-off, not a checklist. Every subsequent design decision is a position on that triangle [27] [30].</a:t>
            </a:r>
            <a:endParaRPr lang="en-US" sz="1300"/>
          </a:p>
        </p:txBody>
      </p:sp>
      <p:sp>
        <p:nvSpPr>
          <p:cNvPr id="13" name="Shape 11"/>
          <p:cNvSpPr/>
          <p:nvPr/>
        </p:nvSpPr>
        <p:spPr>
          <a:xfrm>
            <a:off x="566928" y="3849624"/>
            <a:ext cx="11064240" cy="932688"/>
          </a:xfrm>
          <a:prstGeom prst="roundRect">
            <a:avLst>
              <a:gd name="adj" fmla="val 7843"/>
            </a:avLst>
          </a:prstGeom>
          <a:solidFill>
            <a:srgbClr val="1B2145"/>
          </a:solidFill>
          <a:ln w="12700">
            <a:solidFill>
              <a:srgbClr val="39406B"/>
            </a:solidFill>
            <a:prstDash val="solid"/>
          </a:ln>
        </p:spPr>
      </p:sp>
      <p:sp>
        <p:nvSpPr>
          <p:cNvPr id="14" name="Shape 12"/>
          <p:cNvSpPr/>
          <p:nvPr/>
        </p:nvSpPr>
        <p:spPr>
          <a:xfrm>
            <a:off x="804672" y="4059936"/>
            <a:ext cx="420624" cy="420624"/>
          </a:xfrm>
          <a:prstGeom prst="ellipse">
            <a:avLst/>
          </a:prstGeom>
          <a:solidFill>
            <a:srgbClr val="00A896"/>
          </a:solidFill>
          <a:ln w="12700">
            <a:solidFill>
              <a:srgbClr val="00A896"/>
            </a:solidFill>
            <a:prstDash val="solid"/>
          </a:ln>
        </p:spPr>
      </p:sp>
      <p:sp>
        <p:nvSpPr>
          <p:cNvPr id="15" name="Text 13"/>
          <p:cNvSpPr txBox="1"/>
          <p:nvPr/>
        </p:nvSpPr>
        <p:spPr>
          <a:xfrm>
            <a:off x="804672" y="4059936"/>
            <a:ext cx="420624" cy="420624"/>
          </a:xfrm>
          <a:prstGeom prst="rect">
            <a:avLst/>
          </a:prstGeom>
          <a:noFill/>
          <a:ln/>
        </p:spPr>
        <p:txBody>
          <a:bodyPr wrap="square" lIns="0" tIns="0" rIns="0" bIns="0" rtlCol="0" anchor="ctr"/>
          <a:lstStyle/>
          <a:p>
            <a:pPr marL="0" indent="0" algn="ctr">
              <a:buNone/>
            </a:pPr>
            <a:r>
              <a:rPr lang="en-US" sz="1300" b="1">
                <a:solidFill>
                  <a:schemeClr val="bg1"/>
                </a:solidFill>
                <a:latin typeface="Calibri" pitchFamily="34" charset="0"/>
                <a:ea typeface="Calibri" pitchFamily="34" charset="-122"/>
                <a:cs typeface="Calibri" pitchFamily="34" charset="-120"/>
              </a:rPr>
              <a:t>3</a:t>
            </a:r>
            <a:endParaRPr lang="en-US" sz="1300">
              <a:solidFill>
                <a:schemeClr val="bg1"/>
              </a:solidFill>
            </a:endParaRPr>
          </a:p>
        </p:txBody>
      </p:sp>
      <p:sp>
        <p:nvSpPr>
          <p:cNvPr id="16" name="Text 14"/>
          <p:cNvSpPr txBox="1"/>
          <p:nvPr/>
        </p:nvSpPr>
        <p:spPr>
          <a:xfrm>
            <a:off x="1417320" y="3941064"/>
            <a:ext cx="9966960" cy="749808"/>
          </a:xfrm>
          <a:prstGeom prst="rect">
            <a:avLst/>
          </a:prstGeom>
          <a:noFill/>
          <a:ln/>
        </p:spPr>
        <p:txBody>
          <a:bodyPr wrap="square" lIns="0" tIns="0" rIns="0" bIns="0" rtlCol="0" anchor="ctr"/>
          <a:lstStyle/>
          <a:p>
            <a:pPr marL="0" indent="0">
              <a:lnSpc>
                <a:spcPct val="108000"/>
              </a:lnSpc>
              <a:buNone/>
            </a:pPr>
            <a:r>
              <a:rPr lang="en-US" sz="1300">
                <a:solidFill>
                  <a:srgbClr val="FFFFFF"/>
                </a:solidFill>
                <a:latin typeface="Calibri" pitchFamily="34" charset="0"/>
                <a:ea typeface="Calibri" pitchFamily="34" charset="-122"/>
                <a:cs typeface="Calibri" pitchFamily="34" charset="-120"/>
              </a:rPr>
              <a:t>Four main generative families are in serious use — GANs, VAEs, diffusion and autoregressive models — and each has a characteristic failure mode that you can predict from how it learns [3] [4] [5] [7].</a:t>
            </a:r>
            <a:endParaRPr lang="en-US" sz="1300"/>
          </a:p>
        </p:txBody>
      </p:sp>
      <p:sp>
        <p:nvSpPr>
          <p:cNvPr id="17" name="Shape 15"/>
          <p:cNvSpPr/>
          <p:nvPr/>
        </p:nvSpPr>
        <p:spPr>
          <a:xfrm>
            <a:off x="566928" y="4928616"/>
            <a:ext cx="11064240" cy="932688"/>
          </a:xfrm>
          <a:prstGeom prst="roundRect">
            <a:avLst>
              <a:gd name="adj" fmla="val 7843"/>
            </a:avLst>
          </a:prstGeom>
          <a:solidFill>
            <a:srgbClr val="1B2145"/>
          </a:solidFill>
          <a:ln w="12700">
            <a:solidFill>
              <a:srgbClr val="39406B"/>
            </a:solidFill>
            <a:prstDash val="solid"/>
          </a:ln>
        </p:spPr>
      </p:sp>
      <p:sp>
        <p:nvSpPr>
          <p:cNvPr id="18" name="Shape 16"/>
          <p:cNvSpPr/>
          <p:nvPr/>
        </p:nvSpPr>
        <p:spPr>
          <a:xfrm>
            <a:off x="804672" y="5138928"/>
            <a:ext cx="420624" cy="420624"/>
          </a:xfrm>
          <a:prstGeom prst="ellipse">
            <a:avLst/>
          </a:prstGeom>
          <a:solidFill>
            <a:srgbClr val="00A896"/>
          </a:solidFill>
          <a:ln w="12700">
            <a:solidFill>
              <a:srgbClr val="00A896"/>
            </a:solidFill>
            <a:prstDash val="solid"/>
          </a:ln>
        </p:spPr>
      </p:sp>
      <p:sp>
        <p:nvSpPr>
          <p:cNvPr id="19" name="Text 17"/>
          <p:cNvSpPr txBox="1"/>
          <p:nvPr/>
        </p:nvSpPr>
        <p:spPr>
          <a:xfrm>
            <a:off x="804672" y="5138928"/>
            <a:ext cx="420624" cy="420624"/>
          </a:xfrm>
          <a:prstGeom prst="rect">
            <a:avLst/>
          </a:prstGeom>
          <a:noFill/>
          <a:ln/>
        </p:spPr>
        <p:txBody>
          <a:bodyPr wrap="square" lIns="0" tIns="0" rIns="0" bIns="0" rtlCol="0" anchor="ctr"/>
          <a:lstStyle/>
          <a:p>
            <a:pPr marL="0" indent="0" algn="ctr">
              <a:buNone/>
            </a:pPr>
            <a:r>
              <a:rPr lang="en-US" sz="1300" b="1">
                <a:solidFill>
                  <a:schemeClr val="bg1"/>
                </a:solidFill>
                <a:latin typeface="Calibri" pitchFamily="34" charset="0"/>
                <a:ea typeface="Calibri" pitchFamily="34" charset="-122"/>
                <a:cs typeface="Calibri" pitchFamily="34" charset="-120"/>
              </a:rPr>
              <a:t>4</a:t>
            </a:r>
            <a:endParaRPr lang="en-US" sz="1300">
              <a:solidFill>
                <a:schemeClr val="bg1"/>
              </a:solidFill>
            </a:endParaRPr>
          </a:p>
        </p:txBody>
      </p:sp>
      <p:sp>
        <p:nvSpPr>
          <p:cNvPr id="20" name="Text 18"/>
          <p:cNvSpPr txBox="1"/>
          <p:nvPr/>
        </p:nvSpPr>
        <p:spPr>
          <a:xfrm>
            <a:off x="1417320" y="5020056"/>
            <a:ext cx="9966960" cy="749808"/>
          </a:xfrm>
          <a:prstGeom prst="rect">
            <a:avLst/>
          </a:prstGeom>
          <a:noFill/>
          <a:ln/>
        </p:spPr>
        <p:txBody>
          <a:bodyPr wrap="square" lIns="0" tIns="0" rIns="0" bIns="0" rtlCol="0" anchor="ctr"/>
          <a:lstStyle/>
          <a:p>
            <a:pPr marL="0" indent="0">
              <a:lnSpc>
                <a:spcPct val="108000"/>
              </a:lnSpc>
              <a:buNone/>
            </a:pPr>
            <a:r>
              <a:rPr lang="en-US" sz="1300">
                <a:solidFill>
                  <a:srgbClr val="FFFFFF"/>
                </a:solidFill>
                <a:latin typeface="Calibri" pitchFamily="34" charset="0"/>
                <a:ea typeface="Calibri" pitchFamily="34" charset="-122"/>
                <a:cs typeface="Calibri" pitchFamily="34" charset="-120"/>
              </a:rPr>
              <a:t>Modality decides the method before anything else does — tabular, text and image work do not share tooling [11] [16] [21].</a:t>
            </a:r>
            <a:endParaRPr lang="en-US" sz="1300"/>
          </a:p>
        </p:txBody>
      </p:sp>
      <p:sp>
        <p:nvSpPr>
          <p:cNvPr id="21" name="Text 19"/>
          <p:cNvSpPr txBox="1"/>
          <p:nvPr/>
        </p:nvSpPr>
        <p:spPr>
          <a:xfrm>
            <a:off x="566928" y="6053328"/>
            <a:ext cx="7315200" cy="320040"/>
          </a:xfrm>
          <a:prstGeom prst="rect">
            <a:avLst/>
          </a:prstGeom>
          <a:noFill/>
          <a:ln/>
        </p:spPr>
        <p:txBody>
          <a:bodyPr wrap="square" lIns="0" tIns="0" rIns="0" bIns="0" rtlCol="0" anchor="ctr"/>
          <a:lstStyle/>
          <a:p>
            <a:pPr marL="0" indent="0">
              <a:buNone/>
            </a:pPr>
            <a:r>
              <a:rPr lang="en-US" sz="1300" i="1">
                <a:solidFill>
                  <a:srgbClr val="00A896"/>
                </a:solidFill>
                <a:latin typeface="Calibri" pitchFamily="34" charset="0"/>
                <a:ea typeface="Calibri" pitchFamily="34" charset="-122"/>
                <a:cs typeface="Calibri" pitchFamily="34" charset="-120"/>
              </a:rPr>
              <a:t>Tomorrow: we build each of these generators ourselves.</a:t>
            </a:r>
            <a:endParaRPr lang="en-US" sz="1300"/>
          </a:p>
        </p:txBody>
      </p:sp>
      <p:sp>
        <p:nvSpPr>
          <p:cNvPr id="22" name="Text 2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8C93B5"/>
                </a:solidFill>
                <a:latin typeface="Calibri" pitchFamily="34" charset="0"/>
                <a:ea typeface="Calibri" pitchFamily="34" charset="-122"/>
                <a:cs typeface="Calibri" pitchFamily="34" charset="-120"/>
              </a:rPr>
              <a:t>Sources: [1] [3] [4] [5] [7] [11] [16] [21] [27] [30]</a:t>
            </a:r>
            <a:endParaRPr lang="en-US" sz="1000"/>
          </a:p>
        </p:txBody>
      </p:sp>
      <p:pic>
        <p:nvPicPr>
          <p:cNvPr id="25" name="Picture 24">
            <a:extLst>
              <a:ext uri="{FF2B5EF4-FFF2-40B4-BE49-F238E27FC236}">
                <a16:creationId xmlns:a16="http://schemas.microsoft.com/office/drawing/2014/main" id="{DF99860B-73C1-A344-95E7-F7DB0F725DA4}"/>
              </a:ext>
            </a:extLst>
          </p:cNvPr>
          <p:cNvPicPr>
            <a:picLocks noChangeAspect="1"/>
          </p:cNvPicPr>
          <p:nvPr/>
        </p:nvPicPr>
        <p:blipFill>
          <a:blip r:embed="rId3"/>
          <a:stretch>
            <a:fillRect/>
          </a:stretch>
        </p:blipFill>
        <p:spPr>
          <a:xfrm>
            <a:off x="10542494" y="238595"/>
            <a:ext cx="1489412" cy="402716"/>
          </a:xfrm>
          <a:prstGeom prst="rect">
            <a:avLst/>
          </a:prstGeom>
        </p:spPr>
      </p:pic>
      <p:pic>
        <p:nvPicPr>
          <p:cNvPr id="26" name="Picture 25">
            <a:extLst>
              <a:ext uri="{FF2B5EF4-FFF2-40B4-BE49-F238E27FC236}">
                <a16:creationId xmlns:a16="http://schemas.microsoft.com/office/drawing/2014/main" id="{338E7E96-B1EA-9845-85EB-5C848DE13459}"/>
              </a:ext>
            </a:extLst>
          </p:cNvPr>
          <p:cNvPicPr>
            <a:picLocks noChangeAspect="1"/>
          </p:cNvPicPr>
          <p:nvPr/>
        </p:nvPicPr>
        <p:blipFill>
          <a:blip r:embed="rId4"/>
          <a:stretch>
            <a:fillRect/>
          </a:stretch>
        </p:blipFill>
        <p:spPr>
          <a:xfrm>
            <a:off x="8778588" y="55155"/>
            <a:ext cx="1578751" cy="769596"/>
          </a:xfrm>
          <a:prstGeom prst="rect">
            <a:avLst/>
          </a:prstGeom>
        </p:spPr>
      </p:pic>
      <p:cxnSp>
        <p:nvCxnSpPr>
          <p:cNvPr id="27" name="Straight Connector 26">
            <a:extLst>
              <a:ext uri="{FF2B5EF4-FFF2-40B4-BE49-F238E27FC236}">
                <a16:creationId xmlns:a16="http://schemas.microsoft.com/office/drawing/2014/main" id="{9B55DE48-3168-1B4E-9E06-540B4073CE12}"/>
              </a:ext>
            </a:extLst>
          </p:cNvPr>
          <p:cNvCxnSpPr/>
          <p:nvPr/>
        </p:nvCxnSpPr>
        <p:spPr>
          <a:xfrm>
            <a:off x="10419057" y="200957"/>
            <a:ext cx="0" cy="4779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0515600" cy="176972"/>
          </a:xfrm>
          <a:prstGeom prst="rect">
            <a:avLst/>
          </a:prstGeom>
          <a:noFill/>
        </p:spPr>
        <p:txBody>
          <a:bodyPr wrap="square" lIns="0" tIns="0" rIns="0" bIns="0" anchor="t">
            <a:spAutoFit/>
          </a:bodyPr>
          <a:lstStyle/>
          <a:p>
            <a:pPr marL="0" indent="0" algn="l">
              <a:spcAft>
                <a:spcPts val="400"/>
              </a:spcAft>
              <a:buNone/>
            </a:pPr>
            <a:r>
              <a:rPr sz="1150" b="1" i="0">
                <a:solidFill>
                  <a:srgbClr val="0070C0"/>
                </a:solidFill>
                <a:latin typeface="Calibri"/>
              </a:rPr>
              <a:t>DAY 1 → DAY 2</a:t>
            </a:r>
          </a:p>
        </p:txBody>
      </p:sp>
      <p:sp>
        <p:nvSpPr>
          <p:cNvPr id="3" name="TextBox 2"/>
          <p:cNvSpPr txBox="1"/>
          <p:nvPr/>
        </p:nvSpPr>
        <p:spPr>
          <a:xfrm>
            <a:off x="566928" y="676656"/>
            <a:ext cx="10972800" cy="713232"/>
          </a:xfrm>
          <a:prstGeom prst="rect">
            <a:avLst/>
          </a:prstGeom>
          <a:noFill/>
        </p:spPr>
        <p:txBody>
          <a:bodyPr wrap="square" lIns="0" tIns="0" rIns="0" bIns="0" anchor="t">
            <a:spAutoFit/>
          </a:bodyPr>
          <a:lstStyle/>
          <a:p>
            <a:pPr marL="0" indent="0" algn="l">
              <a:spcAft>
                <a:spcPts val="400"/>
              </a:spcAft>
              <a:buNone/>
            </a:pPr>
            <a:r>
              <a:rPr sz="3000" b="1" i="0">
                <a:solidFill>
                  <a:srgbClr val="0E1330"/>
                </a:solidFill>
                <a:latin typeface="Cambria"/>
              </a:rPr>
              <a:t>From Glixify Data Understanding to Generation</a:t>
            </a:r>
          </a:p>
        </p:txBody>
      </p:sp>
      <p:sp>
        <p:nvSpPr>
          <p:cNvPr id="5" name="Rounded Rectangle 4"/>
          <p:cNvSpPr/>
          <p:nvPr/>
        </p:nvSpPr>
        <p:spPr>
          <a:xfrm>
            <a:off x="566928" y="1691640"/>
            <a:ext cx="3520440" cy="1554480"/>
          </a:xfrm>
          <a:prstGeom prst="roundRect">
            <a:avLst>
              <a:gd name="adj" fmla="val 4705"/>
            </a:avLst>
          </a:prstGeom>
          <a:solidFill>
            <a:srgbClr val="EEF1F8"/>
          </a:solidFill>
          <a:ln w="12700">
            <a:solidFill>
              <a:srgbClr val="DCE6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874519"/>
            <a:ext cx="3017520" cy="274320"/>
          </a:xfrm>
          <a:prstGeom prst="rect">
            <a:avLst/>
          </a:prstGeom>
          <a:noFill/>
        </p:spPr>
        <p:txBody>
          <a:bodyPr wrap="square" lIns="0" tIns="0" rIns="0" bIns="0" anchor="t">
            <a:spAutoFit/>
          </a:bodyPr>
          <a:lstStyle/>
          <a:p>
            <a:pPr marL="0" indent="0" algn="l">
              <a:spcAft>
                <a:spcPts val="400"/>
              </a:spcAft>
              <a:buNone/>
            </a:pPr>
            <a:r>
              <a:rPr sz="1150" b="1" i="0">
                <a:solidFill>
                  <a:srgbClr val="2E3A8C"/>
                </a:solidFill>
                <a:latin typeface="Calibri"/>
              </a:rPr>
              <a:t>DAY 1</a:t>
            </a:r>
          </a:p>
        </p:txBody>
      </p:sp>
      <p:sp>
        <p:nvSpPr>
          <p:cNvPr id="7" name="TextBox 6"/>
          <p:cNvSpPr txBox="1"/>
          <p:nvPr/>
        </p:nvSpPr>
        <p:spPr>
          <a:xfrm>
            <a:off x="841247" y="2240280"/>
            <a:ext cx="3017520" cy="914400"/>
          </a:xfrm>
          <a:prstGeom prst="rect">
            <a:avLst/>
          </a:prstGeom>
          <a:noFill/>
        </p:spPr>
        <p:txBody>
          <a:bodyPr wrap="square" lIns="0" tIns="0" rIns="0" bIns="0" anchor="t">
            <a:spAutoFit/>
          </a:bodyPr>
          <a:lstStyle/>
          <a:p>
            <a:pPr marL="0" indent="0" algn="l">
              <a:spcAft>
                <a:spcPts val="400"/>
              </a:spcAft>
              <a:buNone/>
            </a:pPr>
            <a:r>
              <a:rPr sz="2000" b="1" i="0">
                <a:solidFill>
                  <a:srgbClr val="0E1330"/>
                </a:solidFill>
                <a:latin typeface="Cambria"/>
              </a:rPr>
              <a:t>Understand the real data</a:t>
            </a:r>
          </a:p>
        </p:txBody>
      </p:sp>
      <p:sp>
        <p:nvSpPr>
          <p:cNvPr id="8" name="Right Arrow 7"/>
          <p:cNvSpPr/>
          <p:nvPr/>
        </p:nvSpPr>
        <p:spPr>
          <a:xfrm>
            <a:off x="4105656" y="2286000"/>
            <a:ext cx="219456" cy="274320"/>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25112" y="1691640"/>
            <a:ext cx="3520440" cy="1554480"/>
          </a:xfrm>
          <a:prstGeom prst="roundRect">
            <a:avLst>
              <a:gd name="adj" fmla="val 4705"/>
            </a:avLst>
          </a:prstGeom>
          <a:solidFill>
            <a:srgbClr val="D6F2EC"/>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99432" y="1874519"/>
            <a:ext cx="3017520" cy="274320"/>
          </a:xfrm>
          <a:prstGeom prst="rect">
            <a:avLst/>
          </a:prstGeom>
          <a:noFill/>
        </p:spPr>
        <p:txBody>
          <a:bodyPr wrap="square" lIns="0" tIns="0" rIns="0" bIns="0" anchor="t">
            <a:spAutoFit/>
          </a:bodyPr>
          <a:lstStyle/>
          <a:p>
            <a:pPr marL="0" indent="0" algn="l">
              <a:spcAft>
                <a:spcPts val="400"/>
              </a:spcAft>
              <a:buNone/>
            </a:pPr>
            <a:r>
              <a:rPr sz="1150" b="1" i="0">
                <a:solidFill>
                  <a:srgbClr val="00A896"/>
                </a:solidFill>
                <a:latin typeface="Calibri"/>
              </a:rPr>
              <a:t>DAY 2</a:t>
            </a:r>
          </a:p>
        </p:txBody>
      </p:sp>
      <p:sp>
        <p:nvSpPr>
          <p:cNvPr id="11" name="TextBox 10"/>
          <p:cNvSpPr txBox="1"/>
          <p:nvPr/>
        </p:nvSpPr>
        <p:spPr>
          <a:xfrm>
            <a:off x="4599432" y="2240280"/>
            <a:ext cx="3017520" cy="914400"/>
          </a:xfrm>
          <a:prstGeom prst="rect">
            <a:avLst/>
          </a:prstGeom>
          <a:noFill/>
        </p:spPr>
        <p:txBody>
          <a:bodyPr wrap="square" lIns="0" tIns="0" rIns="0" bIns="0" anchor="t">
            <a:spAutoFit/>
          </a:bodyPr>
          <a:lstStyle/>
          <a:p>
            <a:pPr marL="0" indent="0" algn="l">
              <a:spcAft>
                <a:spcPts val="400"/>
              </a:spcAft>
              <a:buNone/>
            </a:pPr>
            <a:r>
              <a:rPr sz="2000" b="1" i="0">
                <a:solidFill>
                  <a:srgbClr val="0E1330"/>
                </a:solidFill>
                <a:latin typeface="Cambria"/>
              </a:rPr>
              <a:t>Generate synthetic data</a:t>
            </a:r>
          </a:p>
        </p:txBody>
      </p:sp>
      <p:sp>
        <p:nvSpPr>
          <p:cNvPr id="12" name="Right Arrow 11"/>
          <p:cNvSpPr/>
          <p:nvPr/>
        </p:nvSpPr>
        <p:spPr>
          <a:xfrm>
            <a:off x="7863840" y="2286000"/>
            <a:ext cx="219456" cy="274320"/>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083296" y="1691640"/>
            <a:ext cx="3520440" cy="1554480"/>
          </a:xfrm>
          <a:prstGeom prst="roundRect">
            <a:avLst>
              <a:gd name="adj" fmla="val 4705"/>
            </a:avLst>
          </a:prstGeom>
          <a:solidFill>
            <a:srgbClr val="FBEAD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57616" y="1874519"/>
            <a:ext cx="3017520" cy="274320"/>
          </a:xfrm>
          <a:prstGeom prst="rect">
            <a:avLst/>
          </a:prstGeom>
          <a:noFill/>
        </p:spPr>
        <p:txBody>
          <a:bodyPr wrap="square" lIns="0" tIns="0" rIns="0" bIns="0" anchor="t">
            <a:spAutoFit/>
          </a:bodyPr>
          <a:lstStyle/>
          <a:p>
            <a:pPr marL="0" indent="0" algn="l">
              <a:spcAft>
                <a:spcPts val="400"/>
              </a:spcAft>
              <a:buNone/>
            </a:pPr>
            <a:r>
              <a:rPr sz="1150" b="1" i="0">
                <a:solidFill>
                  <a:srgbClr val="D9822B"/>
                </a:solidFill>
                <a:latin typeface="Calibri"/>
              </a:rPr>
              <a:t>DAY 3</a:t>
            </a:r>
          </a:p>
        </p:txBody>
      </p:sp>
      <p:sp>
        <p:nvSpPr>
          <p:cNvPr id="15" name="TextBox 14"/>
          <p:cNvSpPr txBox="1"/>
          <p:nvPr/>
        </p:nvSpPr>
        <p:spPr>
          <a:xfrm>
            <a:off x="8357616" y="2240280"/>
            <a:ext cx="3017520" cy="914400"/>
          </a:xfrm>
          <a:prstGeom prst="rect">
            <a:avLst/>
          </a:prstGeom>
          <a:noFill/>
        </p:spPr>
        <p:txBody>
          <a:bodyPr wrap="square" lIns="0" tIns="0" rIns="0" bIns="0" anchor="t">
            <a:spAutoFit/>
          </a:bodyPr>
          <a:lstStyle/>
          <a:p>
            <a:pPr marL="0" indent="0" algn="l">
              <a:spcAft>
                <a:spcPts val="400"/>
              </a:spcAft>
              <a:buNone/>
            </a:pPr>
            <a:r>
              <a:rPr sz="2000" b="1" i="0">
                <a:solidFill>
                  <a:srgbClr val="0E1330"/>
                </a:solidFill>
                <a:latin typeface="Cambria"/>
              </a:rPr>
              <a:t>Evaluate whether we can trust it</a:t>
            </a:r>
          </a:p>
        </p:txBody>
      </p:sp>
      <p:sp>
        <p:nvSpPr>
          <p:cNvPr id="16" name="TextBox 15"/>
          <p:cNvSpPr txBox="1"/>
          <p:nvPr/>
        </p:nvSpPr>
        <p:spPr>
          <a:xfrm>
            <a:off x="566928" y="3611880"/>
            <a:ext cx="10972800" cy="274320"/>
          </a:xfrm>
          <a:prstGeom prst="rect">
            <a:avLst/>
          </a:prstGeom>
          <a:noFill/>
        </p:spPr>
        <p:txBody>
          <a:bodyPr wrap="square" lIns="0" tIns="0" rIns="0" bIns="0" anchor="t">
            <a:spAutoFit/>
          </a:bodyPr>
          <a:lstStyle/>
          <a:p>
            <a:pPr marL="0" indent="0" algn="l">
              <a:spcAft>
                <a:spcPts val="400"/>
              </a:spcAft>
              <a:buNone/>
            </a:pPr>
            <a:r>
              <a:rPr sz="1050" b="1" i="0">
                <a:solidFill>
                  <a:srgbClr val="00A896"/>
                </a:solidFill>
                <a:latin typeface="Calibri"/>
              </a:rPr>
              <a:t>GLIXIFY CONTEXT — FOR A WEARABLE + CGM APPLICATION</a:t>
            </a:r>
          </a:p>
        </p:txBody>
      </p:sp>
      <p:sp>
        <p:nvSpPr>
          <p:cNvPr id="17" name="Rounded Rectangle 16"/>
          <p:cNvSpPr/>
          <p:nvPr/>
        </p:nvSpPr>
        <p:spPr>
          <a:xfrm>
            <a:off x="566928" y="3931920"/>
            <a:ext cx="2048256" cy="685800"/>
          </a:xfrm>
          <a:prstGeom prst="roundRect">
            <a:avLst>
              <a:gd name="adj" fmla="val 10666"/>
            </a:avLst>
          </a:prstGeom>
          <a:solidFill>
            <a:srgbClr val="2E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3931920"/>
            <a:ext cx="2048256" cy="685800"/>
          </a:xfrm>
          <a:prstGeom prst="rect">
            <a:avLst/>
          </a:prstGeom>
          <a:noFill/>
        </p:spPr>
        <p:txBody>
          <a:bodyPr wrap="square" lIns="0" tIns="0" rIns="0" bIns="0" anchor="ctr">
            <a:spAutoFit/>
          </a:bodyPr>
          <a:lstStyle/>
          <a:p>
            <a:pPr marL="0" indent="0" algn="ctr">
              <a:spcAft>
                <a:spcPts val="400"/>
              </a:spcAft>
              <a:buNone/>
            </a:pPr>
            <a:r>
              <a:rPr sz="1400" b="1" i="0">
                <a:solidFill>
                  <a:srgbClr val="FFFFFF"/>
                </a:solidFill>
                <a:latin typeface="Calibri"/>
              </a:rPr>
              <a:t>Real observations</a:t>
            </a:r>
          </a:p>
        </p:txBody>
      </p:sp>
      <p:sp>
        <p:nvSpPr>
          <p:cNvPr id="19" name="Right Arrow 18"/>
          <p:cNvSpPr/>
          <p:nvPr/>
        </p:nvSpPr>
        <p:spPr>
          <a:xfrm>
            <a:off x="2615184" y="4160520"/>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816352" y="3931920"/>
            <a:ext cx="2048256" cy="685800"/>
          </a:xfrm>
          <a:prstGeom prst="roundRect">
            <a:avLst>
              <a:gd name="adj" fmla="val 10666"/>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16352" y="3931920"/>
            <a:ext cx="2048256" cy="685800"/>
          </a:xfrm>
          <a:prstGeom prst="rect">
            <a:avLst/>
          </a:prstGeom>
          <a:noFill/>
        </p:spPr>
        <p:txBody>
          <a:bodyPr wrap="square" lIns="0" tIns="0" rIns="0" bIns="0" anchor="ctr">
            <a:spAutoFit/>
          </a:bodyPr>
          <a:lstStyle/>
          <a:p>
            <a:pPr marL="0" indent="0" algn="ctr">
              <a:spcAft>
                <a:spcPts val="400"/>
              </a:spcAft>
              <a:buNone/>
            </a:pPr>
            <a:r>
              <a:rPr sz="1400" b="1" i="0">
                <a:solidFill>
                  <a:srgbClr val="FFFFFF"/>
                </a:solidFill>
                <a:latin typeface="Calibri"/>
              </a:rPr>
              <a:t>Learn structure</a:t>
            </a:r>
          </a:p>
        </p:txBody>
      </p:sp>
      <p:sp>
        <p:nvSpPr>
          <p:cNvPr id="22" name="Right Arrow 21"/>
          <p:cNvSpPr/>
          <p:nvPr/>
        </p:nvSpPr>
        <p:spPr>
          <a:xfrm>
            <a:off x="4864608" y="4160520"/>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065776" y="3931920"/>
            <a:ext cx="2048256" cy="685800"/>
          </a:xfrm>
          <a:prstGeom prst="roundRect">
            <a:avLst>
              <a:gd name="adj" fmla="val 10666"/>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65776" y="3931920"/>
            <a:ext cx="2048256" cy="685800"/>
          </a:xfrm>
          <a:prstGeom prst="rect">
            <a:avLst/>
          </a:prstGeom>
          <a:noFill/>
        </p:spPr>
        <p:txBody>
          <a:bodyPr wrap="square" lIns="0" tIns="0" rIns="0" bIns="0" anchor="ctr">
            <a:spAutoFit/>
          </a:bodyPr>
          <a:lstStyle/>
          <a:p>
            <a:pPr marL="0" indent="0" algn="ctr">
              <a:spcAft>
                <a:spcPts val="400"/>
              </a:spcAft>
              <a:buNone/>
            </a:pPr>
            <a:r>
              <a:rPr sz="1400" b="1" i="0">
                <a:solidFill>
                  <a:srgbClr val="FFFFFF"/>
                </a:solidFill>
                <a:latin typeface="Calibri"/>
              </a:rPr>
              <a:t>Generate</a:t>
            </a:r>
          </a:p>
        </p:txBody>
      </p:sp>
      <p:sp>
        <p:nvSpPr>
          <p:cNvPr id="25" name="Right Arrow 24"/>
          <p:cNvSpPr/>
          <p:nvPr/>
        </p:nvSpPr>
        <p:spPr>
          <a:xfrm>
            <a:off x="7114032" y="4160520"/>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315200" y="3931920"/>
            <a:ext cx="2048256" cy="685800"/>
          </a:xfrm>
          <a:prstGeom prst="roundRect">
            <a:avLst>
              <a:gd name="adj" fmla="val 10666"/>
            </a:avLst>
          </a:prstGeom>
          <a:solidFill>
            <a:srgbClr val="2E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0" y="3931920"/>
            <a:ext cx="2048256" cy="685800"/>
          </a:xfrm>
          <a:prstGeom prst="rect">
            <a:avLst/>
          </a:prstGeom>
          <a:noFill/>
        </p:spPr>
        <p:txBody>
          <a:bodyPr wrap="square" lIns="0" tIns="0" rIns="0" bIns="0" anchor="ctr">
            <a:spAutoFit/>
          </a:bodyPr>
          <a:lstStyle/>
          <a:p>
            <a:pPr marL="0" indent="0" algn="ctr">
              <a:spcAft>
                <a:spcPts val="400"/>
              </a:spcAft>
              <a:buNone/>
            </a:pPr>
            <a:r>
              <a:rPr sz="1400" b="1" i="0">
                <a:solidFill>
                  <a:srgbClr val="FFFFFF"/>
                </a:solidFill>
                <a:latin typeface="Calibri"/>
              </a:rPr>
              <a:t>Compare</a:t>
            </a:r>
          </a:p>
        </p:txBody>
      </p:sp>
      <p:sp>
        <p:nvSpPr>
          <p:cNvPr id="28" name="Right Arrow 27"/>
          <p:cNvSpPr/>
          <p:nvPr/>
        </p:nvSpPr>
        <p:spPr>
          <a:xfrm>
            <a:off x="9363456" y="4160520"/>
            <a:ext cx="201168" cy="237744"/>
          </a:xfrm>
          <a:prstGeom prst="rightArrow">
            <a:avLst/>
          </a:prstGeom>
          <a:solidFill>
            <a:srgbClr val="A9A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564624" y="3931920"/>
            <a:ext cx="2048256" cy="685800"/>
          </a:xfrm>
          <a:prstGeom prst="roundRect">
            <a:avLst>
              <a:gd name="adj" fmla="val 10666"/>
            </a:avLst>
          </a:prstGeom>
          <a:solidFill>
            <a:srgbClr val="0E1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564624" y="3931920"/>
            <a:ext cx="2048256" cy="685800"/>
          </a:xfrm>
          <a:prstGeom prst="rect">
            <a:avLst/>
          </a:prstGeom>
          <a:noFill/>
        </p:spPr>
        <p:txBody>
          <a:bodyPr wrap="square" lIns="0" tIns="0" rIns="0" bIns="0" anchor="ctr">
            <a:spAutoFit/>
          </a:bodyPr>
          <a:lstStyle/>
          <a:p>
            <a:pPr marL="0" indent="0" algn="ctr">
              <a:spcAft>
                <a:spcPts val="400"/>
              </a:spcAft>
              <a:buNone/>
            </a:pPr>
            <a:r>
              <a:rPr sz="1400" b="1" i="0">
                <a:solidFill>
                  <a:srgbClr val="FFFFFF"/>
                </a:solidFill>
                <a:latin typeface="Calibri"/>
              </a:rPr>
              <a:t>Evaluate</a:t>
            </a:r>
          </a:p>
        </p:txBody>
      </p:sp>
      <p:sp>
        <p:nvSpPr>
          <p:cNvPr id="31" name="Rounded Rectangle 30"/>
          <p:cNvSpPr/>
          <p:nvPr/>
        </p:nvSpPr>
        <p:spPr>
          <a:xfrm>
            <a:off x="566928" y="5029200"/>
            <a:ext cx="11045952" cy="1005840"/>
          </a:xfrm>
          <a:prstGeom prst="roundRect">
            <a:avLst>
              <a:gd name="adj" fmla="val 7272"/>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1247" y="5029200"/>
            <a:ext cx="10497312" cy="1005840"/>
          </a:xfrm>
          <a:prstGeom prst="rect">
            <a:avLst/>
          </a:prstGeom>
          <a:noFill/>
        </p:spPr>
        <p:txBody>
          <a:bodyPr wrap="square" lIns="0" tIns="0" rIns="0" bIns="0" anchor="ctr">
            <a:spAutoFit/>
          </a:bodyPr>
          <a:lstStyle/>
          <a:p>
            <a:pPr marL="0" indent="0" algn="l">
              <a:spcAft>
                <a:spcPts val="400"/>
              </a:spcAft>
              <a:buNone/>
            </a:pPr>
            <a:r>
              <a:rPr sz="1800" b="0" i="1">
                <a:solidFill>
                  <a:srgbClr val="FFFFFF"/>
                </a:solidFill>
                <a:latin typeface="Cambria"/>
              </a:rPr>
              <a:t>Synthetic data generation is not the end of the process. Validation is part of generation.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name="Slide 25">
    <p:bg>
      <p:bgPr>
        <a:solidFill>
          <a:srgbClr val="0E1330"/>
        </a:solidFill>
        <a:effectLst/>
      </p:bgPr>
    </p:bg>
    <p:spTree>
      <p:nvGrpSpPr>
        <p:cNvPr id="1" name=""/>
        <p:cNvGrpSpPr/>
        <p:nvPr/>
      </p:nvGrpSpPr>
      <p:grpSpPr>
        <a:xfrm>
          <a:off x="0" y="0"/>
          <a:ext cx="0" cy="0"/>
          <a:chOff x="0" y="0"/>
          <a:chExt cx="0" cy="0"/>
        </a:xfrm>
      </p:grpSpPr>
      <p:sp>
        <p:nvSpPr>
          <p:cNvPr id="2" name="Text 0"/>
          <p:cNvSpPr txBox="1"/>
          <p:nvPr/>
        </p:nvSpPr>
        <p:spPr>
          <a:xfrm>
            <a:off x="777240" y="1188720"/>
            <a:ext cx="5486400" cy="365760"/>
          </a:xfrm>
          <a:prstGeom prst="rect">
            <a:avLst/>
          </a:prstGeom>
          <a:noFill/>
          <a:ln/>
        </p:spPr>
        <p:txBody>
          <a:bodyPr wrap="square" lIns="0" tIns="0" rIns="0" bIns="0" rtlCol="0" anchor="ctr"/>
          <a:lstStyle/>
          <a:p>
            <a:pPr marL="0" indent="0">
              <a:buNone/>
            </a:pPr>
            <a:r>
              <a:rPr lang="en-US" sz="1300" b="1" kern="0" spc="200">
                <a:solidFill>
                  <a:srgbClr val="0070C0"/>
                </a:solidFill>
                <a:latin typeface="Calibri" pitchFamily="34" charset="0"/>
                <a:ea typeface="Calibri" pitchFamily="34" charset="-122"/>
                <a:cs typeface="Calibri" pitchFamily="34" charset="-120"/>
              </a:rPr>
              <a:t>DAY 2</a:t>
            </a:r>
            <a:endParaRPr lang="en-US" sz="1300">
              <a:solidFill>
                <a:srgbClr val="0070C0"/>
              </a:solidFill>
            </a:endParaRPr>
          </a:p>
        </p:txBody>
      </p:sp>
      <p:sp>
        <p:nvSpPr>
          <p:cNvPr id="3" name="Text 1"/>
          <p:cNvSpPr txBox="1"/>
          <p:nvPr/>
        </p:nvSpPr>
        <p:spPr>
          <a:xfrm>
            <a:off x="777240" y="1627632"/>
            <a:ext cx="10607040" cy="1371600"/>
          </a:xfrm>
          <a:prstGeom prst="rect">
            <a:avLst/>
          </a:prstGeom>
          <a:noFill/>
          <a:ln/>
        </p:spPr>
        <p:txBody>
          <a:bodyPr wrap="square" lIns="0" tIns="0" rIns="0" bIns="0" rtlCol="0" anchor="ctr"/>
          <a:lstStyle/>
          <a:p>
            <a:pPr marL="0" indent="0">
              <a:buNone/>
            </a:pPr>
            <a:r>
              <a:rPr lang="en-US" sz="4000" b="1">
                <a:solidFill>
                  <a:srgbClr val="FFFFFF"/>
                </a:solidFill>
                <a:latin typeface="Cambria" pitchFamily="34" charset="0"/>
                <a:ea typeface="Cambria" pitchFamily="34" charset="-122"/>
                <a:cs typeface="Cambria" pitchFamily="34" charset="-120"/>
              </a:rPr>
              <a:t>Synthetic Data Generation Techniques</a:t>
            </a:r>
            <a:endParaRPr lang="en-US" sz="4000"/>
          </a:p>
        </p:txBody>
      </p:sp>
      <p:sp>
        <p:nvSpPr>
          <p:cNvPr id="4" name="Text 2"/>
          <p:cNvSpPr txBox="1"/>
          <p:nvPr/>
        </p:nvSpPr>
        <p:spPr>
          <a:xfrm>
            <a:off x="777240" y="2971800"/>
            <a:ext cx="8961120" cy="457200"/>
          </a:xfrm>
          <a:prstGeom prst="rect">
            <a:avLst/>
          </a:prstGeom>
          <a:noFill/>
          <a:ln/>
        </p:spPr>
        <p:txBody>
          <a:bodyPr wrap="square" lIns="0" tIns="0" rIns="0" bIns="0" rtlCol="0" anchor="ctr"/>
          <a:lstStyle/>
          <a:p>
            <a:pPr marL="0" indent="0">
              <a:buNone/>
            </a:pPr>
            <a:r>
              <a:rPr lang="en-US" sz="1500">
                <a:solidFill>
                  <a:srgbClr val="C3C9E0"/>
                </a:solidFill>
                <a:latin typeface="Calibri" pitchFamily="34" charset="0"/>
                <a:ea typeface="Calibri" pitchFamily="34" charset="-122"/>
                <a:cs typeface="Calibri" pitchFamily="34" charset="-120"/>
              </a:rPr>
              <a:t>Data in, synthetic data out: choose an approach, train it, and inspect the result.</a:t>
            </a:r>
            <a:endParaRPr lang="en-US" sz="1500"/>
          </a:p>
        </p:txBody>
      </p:sp>
      <p:sp>
        <p:nvSpPr>
          <p:cNvPr id="5" name="Shape 3"/>
          <p:cNvSpPr/>
          <p:nvPr/>
        </p:nvSpPr>
        <p:spPr>
          <a:xfrm>
            <a:off x="777240" y="3931920"/>
            <a:ext cx="1539240" cy="1371600"/>
          </a:xfrm>
          <a:prstGeom prst="roundRect">
            <a:avLst>
              <a:gd name="adj" fmla="val 5333"/>
            </a:avLst>
          </a:prstGeom>
          <a:solidFill>
            <a:srgbClr val="1B2145"/>
          </a:solidFill>
          <a:ln w="12700">
            <a:solidFill>
              <a:srgbClr val="39406B"/>
            </a:solidFill>
            <a:prstDash val="solid"/>
          </a:ln>
        </p:spPr>
      </p:sp>
      <p:sp>
        <p:nvSpPr>
          <p:cNvPr id="6" name="Text 4"/>
          <p:cNvSpPr txBox="1"/>
          <p:nvPr/>
        </p:nvSpPr>
        <p:spPr>
          <a:xfrm>
            <a:off x="960120" y="4069080"/>
            <a:ext cx="548640" cy="320040"/>
          </a:xfrm>
          <a:prstGeom prst="rect">
            <a:avLst/>
          </a:prstGeom>
          <a:noFill/>
          <a:ln/>
        </p:spPr>
        <p:txBody>
          <a:bodyPr wrap="square" lIns="0" tIns="0" rIns="0" bIns="0" rtlCol="0" anchor="ctr"/>
          <a:lstStyle/>
          <a:p>
            <a:pPr marL="0" indent="0">
              <a:buNone/>
            </a:pPr>
            <a:r>
              <a:rPr lang="en-US" sz="3000" b="1">
                <a:solidFill>
                  <a:srgbClr val="00B0F0"/>
                </a:solidFill>
                <a:latin typeface="Calibri" pitchFamily="34" charset="0"/>
                <a:ea typeface="Calibri" pitchFamily="34" charset="-122"/>
                <a:cs typeface="Calibri" pitchFamily="34" charset="-120"/>
              </a:rPr>
              <a:t>1</a:t>
            </a:r>
            <a:endParaRPr lang="en-US" sz="3000">
              <a:solidFill>
                <a:srgbClr val="00B0F0"/>
              </a:solidFill>
            </a:endParaRPr>
          </a:p>
        </p:txBody>
      </p:sp>
      <p:sp>
        <p:nvSpPr>
          <p:cNvPr id="7" name="Text 5"/>
          <p:cNvSpPr txBox="1"/>
          <p:nvPr/>
        </p:nvSpPr>
        <p:spPr>
          <a:xfrm>
            <a:off x="96012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Tabular data</a:t>
            </a:r>
            <a:endParaRPr lang="en-US" sz="1200"/>
          </a:p>
        </p:txBody>
      </p:sp>
      <p:sp>
        <p:nvSpPr>
          <p:cNvPr id="8" name="Shape 6"/>
          <p:cNvSpPr/>
          <p:nvPr/>
        </p:nvSpPr>
        <p:spPr>
          <a:xfrm>
            <a:off x="2590800" y="3931920"/>
            <a:ext cx="1539240" cy="1371600"/>
          </a:xfrm>
          <a:prstGeom prst="roundRect">
            <a:avLst>
              <a:gd name="adj" fmla="val 5333"/>
            </a:avLst>
          </a:prstGeom>
          <a:solidFill>
            <a:srgbClr val="1B2145"/>
          </a:solidFill>
          <a:ln w="12700">
            <a:solidFill>
              <a:srgbClr val="39406B"/>
            </a:solidFill>
            <a:prstDash val="solid"/>
          </a:ln>
        </p:spPr>
      </p:sp>
      <p:sp>
        <p:nvSpPr>
          <p:cNvPr id="9" name="Text 7"/>
          <p:cNvSpPr txBox="1"/>
          <p:nvPr/>
        </p:nvSpPr>
        <p:spPr>
          <a:xfrm>
            <a:off x="2773680" y="4069080"/>
            <a:ext cx="548640" cy="320040"/>
          </a:xfrm>
          <a:prstGeom prst="rect">
            <a:avLst/>
          </a:prstGeom>
          <a:noFill/>
          <a:ln/>
        </p:spPr>
        <p:txBody>
          <a:bodyPr wrap="square" lIns="0" tIns="0" rIns="0" bIns="0" rtlCol="0" anchor="ctr"/>
          <a:lstStyle/>
          <a:p>
            <a:pPr marL="0" indent="0">
              <a:buNone/>
            </a:pPr>
            <a:r>
              <a:rPr lang="en-US" sz="3000" b="1">
                <a:solidFill>
                  <a:srgbClr val="00B0F0"/>
                </a:solidFill>
                <a:latin typeface="Calibri" pitchFamily="34" charset="0"/>
                <a:ea typeface="Calibri" pitchFamily="34" charset="-122"/>
                <a:cs typeface="Calibri" pitchFamily="34" charset="-120"/>
              </a:rPr>
              <a:t>2</a:t>
            </a:r>
            <a:endParaRPr lang="en-US" sz="3000">
              <a:solidFill>
                <a:srgbClr val="00B0F0"/>
              </a:solidFill>
            </a:endParaRPr>
          </a:p>
        </p:txBody>
      </p:sp>
      <p:sp>
        <p:nvSpPr>
          <p:cNvPr id="10" name="Text 8"/>
          <p:cNvSpPr txBox="1"/>
          <p:nvPr/>
        </p:nvSpPr>
        <p:spPr>
          <a:xfrm>
            <a:off x="277368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Text</a:t>
            </a:r>
            <a:endParaRPr lang="en-US" sz="1200"/>
          </a:p>
        </p:txBody>
      </p:sp>
      <p:sp>
        <p:nvSpPr>
          <p:cNvPr id="11" name="Shape 9"/>
          <p:cNvSpPr/>
          <p:nvPr/>
        </p:nvSpPr>
        <p:spPr>
          <a:xfrm>
            <a:off x="4404360" y="3931920"/>
            <a:ext cx="1539240" cy="1371600"/>
          </a:xfrm>
          <a:prstGeom prst="roundRect">
            <a:avLst>
              <a:gd name="adj" fmla="val 5333"/>
            </a:avLst>
          </a:prstGeom>
          <a:solidFill>
            <a:srgbClr val="1B2145"/>
          </a:solidFill>
          <a:ln w="12700">
            <a:solidFill>
              <a:srgbClr val="39406B"/>
            </a:solidFill>
            <a:prstDash val="solid"/>
          </a:ln>
        </p:spPr>
      </p:sp>
      <p:sp>
        <p:nvSpPr>
          <p:cNvPr id="12" name="Text 10"/>
          <p:cNvSpPr txBox="1"/>
          <p:nvPr/>
        </p:nvSpPr>
        <p:spPr>
          <a:xfrm>
            <a:off x="4587240" y="4069080"/>
            <a:ext cx="548640" cy="320040"/>
          </a:xfrm>
          <a:prstGeom prst="rect">
            <a:avLst/>
          </a:prstGeom>
          <a:noFill/>
          <a:ln/>
        </p:spPr>
        <p:txBody>
          <a:bodyPr wrap="square" lIns="0" tIns="0" rIns="0" bIns="0" rtlCol="0" anchor="ctr"/>
          <a:lstStyle/>
          <a:p>
            <a:pPr marL="0" indent="0">
              <a:buNone/>
            </a:pPr>
            <a:r>
              <a:rPr lang="en-US" sz="3000" b="1">
                <a:solidFill>
                  <a:srgbClr val="00B0F0"/>
                </a:solidFill>
                <a:latin typeface="Calibri" pitchFamily="34" charset="0"/>
                <a:ea typeface="Calibri" pitchFamily="34" charset="-122"/>
                <a:cs typeface="Calibri" pitchFamily="34" charset="-120"/>
              </a:rPr>
              <a:t>3</a:t>
            </a:r>
            <a:endParaRPr lang="en-US" sz="3000">
              <a:solidFill>
                <a:srgbClr val="00B0F0"/>
              </a:solidFill>
            </a:endParaRPr>
          </a:p>
        </p:txBody>
      </p:sp>
      <p:sp>
        <p:nvSpPr>
          <p:cNvPr id="13" name="Text 11"/>
          <p:cNvSpPr txBox="1"/>
          <p:nvPr/>
        </p:nvSpPr>
        <p:spPr>
          <a:xfrm>
            <a:off x="458724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Images</a:t>
            </a:r>
            <a:endParaRPr lang="en-US" sz="1200"/>
          </a:p>
        </p:txBody>
      </p:sp>
      <p:sp>
        <p:nvSpPr>
          <p:cNvPr id="14" name="Shape 12"/>
          <p:cNvSpPr/>
          <p:nvPr/>
        </p:nvSpPr>
        <p:spPr>
          <a:xfrm>
            <a:off x="6217920" y="3931920"/>
            <a:ext cx="1539240" cy="1371600"/>
          </a:xfrm>
          <a:prstGeom prst="roundRect">
            <a:avLst>
              <a:gd name="adj" fmla="val 5333"/>
            </a:avLst>
          </a:prstGeom>
          <a:solidFill>
            <a:srgbClr val="1B2145"/>
          </a:solidFill>
          <a:ln w="12700">
            <a:solidFill>
              <a:srgbClr val="39406B"/>
            </a:solidFill>
            <a:prstDash val="solid"/>
          </a:ln>
        </p:spPr>
      </p:sp>
      <p:sp>
        <p:nvSpPr>
          <p:cNvPr id="15" name="Text 13"/>
          <p:cNvSpPr txBox="1"/>
          <p:nvPr/>
        </p:nvSpPr>
        <p:spPr>
          <a:xfrm>
            <a:off x="6400800" y="4069080"/>
            <a:ext cx="548640" cy="320040"/>
          </a:xfrm>
          <a:prstGeom prst="rect">
            <a:avLst/>
          </a:prstGeom>
          <a:noFill/>
          <a:ln/>
        </p:spPr>
        <p:txBody>
          <a:bodyPr wrap="square" lIns="0" tIns="0" rIns="0" bIns="0" rtlCol="0" anchor="ctr"/>
          <a:lstStyle/>
          <a:p>
            <a:pPr marL="0" indent="0">
              <a:buNone/>
            </a:pPr>
            <a:r>
              <a:rPr lang="en-US" sz="3000" b="1">
                <a:solidFill>
                  <a:srgbClr val="00B0F0"/>
                </a:solidFill>
                <a:latin typeface="Calibri" pitchFamily="34" charset="0"/>
                <a:ea typeface="Calibri" pitchFamily="34" charset="-122"/>
                <a:cs typeface="Calibri" pitchFamily="34" charset="-120"/>
              </a:rPr>
              <a:t>4</a:t>
            </a:r>
            <a:endParaRPr lang="en-US" sz="3000">
              <a:solidFill>
                <a:srgbClr val="00B0F0"/>
              </a:solidFill>
            </a:endParaRPr>
          </a:p>
        </p:txBody>
      </p:sp>
      <p:sp>
        <p:nvSpPr>
          <p:cNvPr id="16" name="Text 14"/>
          <p:cNvSpPr txBox="1"/>
          <p:nvPr/>
        </p:nvSpPr>
        <p:spPr>
          <a:xfrm>
            <a:off x="640080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GANs</a:t>
            </a:r>
            <a:endParaRPr lang="en-US" sz="1200"/>
          </a:p>
        </p:txBody>
      </p:sp>
      <p:sp>
        <p:nvSpPr>
          <p:cNvPr id="17" name="Shape 15"/>
          <p:cNvSpPr/>
          <p:nvPr/>
        </p:nvSpPr>
        <p:spPr>
          <a:xfrm>
            <a:off x="8031480" y="3931920"/>
            <a:ext cx="1539240" cy="1371600"/>
          </a:xfrm>
          <a:prstGeom prst="roundRect">
            <a:avLst>
              <a:gd name="adj" fmla="val 5333"/>
            </a:avLst>
          </a:prstGeom>
          <a:solidFill>
            <a:srgbClr val="1B2145"/>
          </a:solidFill>
          <a:ln w="12700">
            <a:solidFill>
              <a:srgbClr val="39406B"/>
            </a:solidFill>
            <a:prstDash val="solid"/>
          </a:ln>
        </p:spPr>
      </p:sp>
      <p:sp>
        <p:nvSpPr>
          <p:cNvPr id="18" name="Text 16"/>
          <p:cNvSpPr txBox="1"/>
          <p:nvPr/>
        </p:nvSpPr>
        <p:spPr>
          <a:xfrm>
            <a:off x="8214360" y="4069080"/>
            <a:ext cx="548640" cy="320040"/>
          </a:xfrm>
          <a:prstGeom prst="rect">
            <a:avLst/>
          </a:prstGeom>
          <a:noFill/>
          <a:ln/>
        </p:spPr>
        <p:txBody>
          <a:bodyPr wrap="square" lIns="0" tIns="0" rIns="0" bIns="0" rtlCol="0" anchor="ctr"/>
          <a:lstStyle/>
          <a:p>
            <a:pPr marL="0" indent="0">
              <a:buNone/>
            </a:pPr>
            <a:r>
              <a:rPr lang="en-US" sz="3000" b="1">
                <a:solidFill>
                  <a:srgbClr val="00B0F0"/>
                </a:solidFill>
                <a:latin typeface="Calibri" pitchFamily="34" charset="0"/>
                <a:ea typeface="Calibri" pitchFamily="34" charset="-122"/>
                <a:cs typeface="Calibri" pitchFamily="34" charset="-120"/>
              </a:rPr>
              <a:t>5</a:t>
            </a:r>
            <a:endParaRPr lang="en-US" sz="3000">
              <a:solidFill>
                <a:srgbClr val="00B0F0"/>
              </a:solidFill>
            </a:endParaRPr>
          </a:p>
        </p:txBody>
      </p:sp>
      <p:sp>
        <p:nvSpPr>
          <p:cNvPr id="19" name="Text 17"/>
          <p:cNvSpPr txBox="1"/>
          <p:nvPr/>
        </p:nvSpPr>
        <p:spPr>
          <a:xfrm>
            <a:off x="821436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VAEs</a:t>
            </a:r>
            <a:endParaRPr lang="en-US" sz="1200"/>
          </a:p>
        </p:txBody>
      </p:sp>
      <p:sp>
        <p:nvSpPr>
          <p:cNvPr id="20" name="Shape 18"/>
          <p:cNvSpPr/>
          <p:nvPr/>
        </p:nvSpPr>
        <p:spPr>
          <a:xfrm>
            <a:off x="9845040" y="3931920"/>
            <a:ext cx="1539240" cy="1371600"/>
          </a:xfrm>
          <a:prstGeom prst="roundRect">
            <a:avLst>
              <a:gd name="adj" fmla="val 5333"/>
            </a:avLst>
          </a:prstGeom>
          <a:solidFill>
            <a:srgbClr val="1B2145"/>
          </a:solidFill>
          <a:ln w="12700">
            <a:solidFill>
              <a:srgbClr val="39406B"/>
            </a:solidFill>
            <a:prstDash val="solid"/>
          </a:ln>
        </p:spPr>
      </p:sp>
      <p:sp>
        <p:nvSpPr>
          <p:cNvPr id="21" name="Text 19"/>
          <p:cNvSpPr txBox="1"/>
          <p:nvPr/>
        </p:nvSpPr>
        <p:spPr>
          <a:xfrm>
            <a:off x="10027920" y="4069080"/>
            <a:ext cx="548640" cy="320040"/>
          </a:xfrm>
          <a:prstGeom prst="rect">
            <a:avLst/>
          </a:prstGeom>
          <a:noFill/>
          <a:ln/>
        </p:spPr>
        <p:txBody>
          <a:bodyPr wrap="square" lIns="0" tIns="0" rIns="0" bIns="0" rtlCol="0" anchor="ctr"/>
          <a:lstStyle/>
          <a:p>
            <a:pPr marL="0" indent="0">
              <a:buNone/>
            </a:pPr>
            <a:r>
              <a:rPr lang="en-US" sz="3000" b="1">
                <a:solidFill>
                  <a:srgbClr val="00B0F0"/>
                </a:solidFill>
                <a:latin typeface="Calibri" pitchFamily="34" charset="0"/>
                <a:ea typeface="Calibri" pitchFamily="34" charset="-122"/>
                <a:cs typeface="Calibri" pitchFamily="34" charset="-120"/>
              </a:rPr>
              <a:t>6</a:t>
            </a:r>
            <a:endParaRPr lang="en-US" sz="3000">
              <a:solidFill>
                <a:srgbClr val="00B0F0"/>
              </a:solidFill>
            </a:endParaRPr>
          </a:p>
        </p:txBody>
      </p:sp>
      <p:sp>
        <p:nvSpPr>
          <p:cNvPr id="22" name="Text 20"/>
          <p:cNvSpPr txBox="1"/>
          <p:nvPr/>
        </p:nvSpPr>
        <p:spPr>
          <a:xfrm>
            <a:off x="1002792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Diffusion models</a:t>
            </a:r>
            <a:endParaRPr lang="en-US" sz="1200"/>
          </a:p>
        </p:txBody>
      </p:sp>
      <p:sp>
        <p:nvSpPr>
          <p:cNvPr id="23" name="Text 21"/>
          <p:cNvSpPr txBox="1"/>
          <p:nvPr/>
        </p:nvSpPr>
        <p:spPr>
          <a:xfrm>
            <a:off x="777240" y="5577840"/>
            <a:ext cx="7315200" cy="365760"/>
          </a:xfrm>
          <a:prstGeom prst="rect">
            <a:avLst/>
          </a:prstGeom>
          <a:noFill/>
          <a:ln/>
        </p:spPr>
        <p:txBody>
          <a:bodyPr wrap="square" lIns="0" tIns="0" rIns="0" bIns="0" rtlCol="0" anchor="ctr"/>
          <a:lstStyle/>
          <a:p>
            <a:pPr marL="0" indent="0">
              <a:buNone/>
            </a:pPr>
            <a:r>
              <a:rPr lang="en-US" sz="1250" i="1">
                <a:solidFill>
                  <a:srgbClr val="8C93B5"/>
                </a:solidFill>
                <a:latin typeface="Calibri" pitchFamily="34" charset="0"/>
                <a:ea typeface="Calibri" pitchFamily="34" charset="-122"/>
                <a:cs typeface="Calibri" pitchFamily="34" charset="-120"/>
              </a:rPr>
              <a:t>Theory 3 hours   ·   Hands-on lab 2 hours</a:t>
            </a:r>
            <a:endParaRPr lang="en-US" sz="1250"/>
          </a:p>
        </p:txBody>
      </p:sp>
      <p:pic>
        <p:nvPicPr>
          <p:cNvPr id="24" name="Picture 23">
            <a:extLst>
              <a:ext uri="{FF2B5EF4-FFF2-40B4-BE49-F238E27FC236}">
                <a16:creationId xmlns:a16="http://schemas.microsoft.com/office/drawing/2014/main" id="{CB4064EB-7E79-BD4D-908B-5050D65B4301}"/>
              </a:ext>
            </a:extLst>
          </p:cNvPr>
          <p:cNvPicPr>
            <a:picLocks noChangeAspect="1"/>
          </p:cNvPicPr>
          <p:nvPr/>
        </p:nvPicPr>
        <p:blipFill>
          <a:blip r:embed="rId3"/>
          <a:stretch>
            <a:fillRect/>
          </a:stretch>
        </p:blipFill>
        <p:spPr>
          <a:xfrm>
            <a:off x="10542494" y="238595"/>
            <a:ext cx="1489412" cy="402716"/>
          </a:xfrm>
          <a:prstGeom prst="rect">
            <a:avLst/>
          </a:prstGeom>
        </p:spPr>
      </p:pic>
      <p:pic>
        <p:nvPicPr>
          <p:cNvPr id="25" name="Picture 24">
            <a:extLst>
              <a:ext uri="{FF2B5EF4-FFF2-40B4-BE49-F238E27FC236}">
                <a16:creationId xmlns:a16="http://schemas.microsoft.com/office/drawing/2014/main" id="{530E4057-38C0-6D4E-A8BF-4464DE98AE71}"/>
              </a:ext>
            </a:extLst>
          </p:cNvPr>
          <p:cNvPicPr>
            <a:picLocks noChangeAspect="1"/>
          </p:cNvPicPr>
          <p:nvPr/>
        </p:nvPicPr>
        <p:blipFill>
          <a:blip r:embed="rId4"/>
          <a:stretch>
            <a:fillRect/>
          </a:stretch>
        </p:blipFill>
        <p:spPr>
          <a:xfrm>
            <a:off x="8778588" y="55155"/>
            <a:ext cx="1578751" cy="769596"/>
          </a:xfrm>
          <a:prstGeom prst="rect">
            <a:avLst/>
          </a:prstGeom>
        </p:spPr>
      </p:pic>
      <p:cxnSp>
        <p:nvCxnSpPr>
          <p:cNvPr id="26" name="Straight Connector 25">
            <a:extLst>
              <a:ext uri="{FF2B5EF4-FFF2-40B4-BE49-F238E27FC236}">
                <a16:creationId xmlns:a16="http://schemas.microsoft.com/office/drawing/2014/main" id="{14CEADC6-9E59-0E4F-9598-7CF6F649CBA8}"/>
              </a:ext>
            </a:extLst>
          </p:cNvPr>
          <p:cNvCxnSpPr/>
          <p:nvPr/>
        </p:nvCxnSpPr>
        <p:spPr>
          <a:xfrm>
            <a:off x="10419057" y="200957"/>
            <a:ext cx="0" cy="4779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THE BIG PICTURE</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Day 2 workflow: data in, synthetic data out</a:t>
            </a:r>
            <a:endParaRPr lang="en-US" sz="3000"/>
          </a:p>
        </p:txBody>
      </p:sp>
      <p:sp>
        <p:nvSpPr>
          <p:cNvPr id="5" name="Shape 3"/>
          <p:cNvSpPr/>
          <p:nvPr/>
        </p:nvSpPr>
        <p:spPr>
          <a:xfrm>
            <a:off x="566928" y="1737360"/>
            <a:ext cx="11064240" cy="987552"/>
          </a:xfrm>
          <a:prstGeom prst="roundRect">
            <a:avLst>
              <a:gd name="adj" fmla="val 7407"/>
            </a:avLst>
          </a:prstGeom>
          <a:solidFill>
            <a:srgbClr val="EEF1F8"/>
          </a:solidFill>
          <a:ln w="15875">
            <a:solidFill>
              <a:srgbClr val="DCE6FA"/>
            </a:solidFill>
            <a:prstDash val="solid"/>
          </a:ln>
        </p:spPr>
      </p:sp>
      <p:sp>
        <p:nvSpPr>
          <p:cNvPr id="6" name="Shape 4"/>
          <p:cNvSpPr/>
          <p:nvPr/>
        </p:nvSpPr>
        <p:spPr>
          <a:xfrm>
            <a:off x="786384" y="2039112"/>
            <a:ext cx="384048" cy="384048"/>
          </a:xfrm>
          <a:prstGeom prst="ellipse">
            <a:avLst/>
          </a:prstGeom>
          <a:solidFill>
            <a:srgbClr val="2E3A8C"/>
          </a:solidFill>
          <a:ln w="12700">
            <a:solidFill>
              <a:srgbClr val="2E3A8C"/>
            </a:solidFill>
            <a:prstDash val="solid"/>
          </a:ln>
        </p:spPr>
      </p:sp>
      <p:sp>
        <p:nvSpPr>
          <p:cNvPr id="7" name="Text 5"/>
          <p:cNvSpPr txBox="1"/>
          <p:nvPr/>
        </p:nvSpPr>
        <p:spPr>
          <a:xfrm>
            <a:off x="786384" y="2039112"/>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1</a:t>
            </a:r>
            <a:endParaRPr lang="en-US" sz="1250"/>
          </a:p>
        </p:txBody>
      </p:sp>
      <p:sp>
        <p:nvSpPr>
          <p:cNvPr id="8" name="Text 6"/>
          <p:cNvSpPr txBox="1"/>
          <p:nvPr/>
        </p:nvSpPr>
        <p:spPr>
          <a:xfrm>
            <a:off x="1316736" y="1828800"/>
            <a:ext cx="10076688" cy="804672"/>
          </a:xfrm>
          <a:prstGeom prst="rect">
            <a:avLst/>
          </a:prstGeom>
          <a:noFill/>
          <a:ln/>
        </p:spPr>
        <p:txBody>
          <a:bodyPr wrap="square" lIns="0" tIns="0" rIns="0" bIns="0" rtlCol="0" anchor="ctr"/>
          <a:lstStyle/>
          <a:p>
            <a:pPr marL="0" indent="0">
              <a:lnSpc>
                <a:spcPct val="110000"/>
              </a:lnSpc>
              <a:buNone/>
            </a:pPr>
            <a:r>
              <a:rPr lang="en-US" sz="1200" b="1">
                <a:solidFill>
                  <a:srgbClr val="2E3A8C"/>
                </a:solidFill>
                <a:latin typeface="Calibri" pitchFamily="34" charset="0"/>
                <a:ea typeface="Calibri" pitchFamily="34" charset="-122"/>
                <a:cs typeface="Calibri" pitchFamily="34" charset="-120"/>
              </a:rPr>
              <a:t>Start from your data —  </a:t>
            </a:r>
            <a:r>
              <a:rPr lang="en-US" sz="1200">
                <a:solidFill>
                  <a:srgbClr val="0E1330"/>
                </a:solidFill>
                <a:latin typeface="Calibri" pitchFamily="34" charset="0"/>
                <a:ea typeface="Calibri" pitchFamily="34" charset="-122"/>
                <a:cs typeface="Calibri" pitchFamily="34" charset="-120"/>
              </a:rPr>
              <a:t>Know your columns, types and constraints before choosing anything. Tabular, text and image data each point to a different kind of generator [11] [16] [21].</a:t>
            </a:r>
            <a:endParaRPr lang="en-US" sz="1200"/>
          </a:p>
        </p:txBody>
      </p:sp>
      <p:sp>
        <p:nvSpPr>
          <p:cNvPr id="9" name="Shape 7"/>
          <p:cNvSpPr/>
          <p:nvPr/>
        </p:nvSpPr>
        <p:spPr>
          <a:xfrm>
            <a:off x="566928" y="2852928"/>
            <a:ext cx="11064240" cy="987552"/>
          </a:xfrm>
          <a:prstGeom prst="roundRect">
            <a:avLst>
              <a:gd name="adj" fmla="val 7407"/>
            </a:avLst>
          </a:prstGeom>
          <a:solidFill>
            <a:srgbClr val="D6F2EC"/>
          </a:solidFill>
          <a:ln w="15875">
            <a:solidFill>
              <a:srgbClr val="00A896"/>
            </a:solidFill>
            <a:prstDash val="solid"/>
          </a:ln>
        </p:spPr>
      </p:sp>
      <p:sp>
        <p:nvSpPr>
          <p:cNvPr id="10" name="Shape 8"/>
          <p:cNvSpPr/>
          <p:nvPr/>
        </p:nvSpPr>
        <p:spPr>
          <a:xfrm>
            <a:off x="786384" y="3154680"/>
            <a:ext cx="384048" cy="384048"/>
          </a:xfrm>
          <a:prstGeom prst="ellipse">
            <a:avLst/>
          </a:prstGeom>
          <a:solidFill>
            <a:srgbClr val="00A896"/>
          </a:solidFill>
          <a:ln w="12700">
            <a:solidFill>
              <a:srgbClr val="00A896"/>
            </a:solidFill>
            <a:prstDash val="solid"/>
          </a:ln>
        </p:spPr>
      </p:sp>
      <p:sp>
        <p:nvSpPr>
          <p:cNvPr id="11" name="Text 9"/>
          <p:cNvSpPr txBox="1"/>
          <p:nvPr/>
        </p:nvSpPr>
        <p:spPr>
          <a:xfrm>
            <a:off x="786384" y="3154680"/>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2</a:t>
            </a:r>
            <a:endParaRPr lang="en-US" sz="1250"/>
          </a:p>
        </p:txBody>
      </p:sp>
      <p:sp>
        <p:nvSpPr>
          <p:cNvPr id="12" name="Text 10"/>
          <p:cNvSpPr txBox="1"/>
          <p:nvPr/>
        </p:nvSpPr>
        <p:spPr>
          <a:xfrm>
            <a:off x="1316736" y="2944368"/>
            <a:ext cx="10076688" cy="804672"/>
          </a:xfrm>
          <a:prstGeom prst="rect">
            <a:avLst/>
          </a:prstGeom>
          <a:noFill/>
          <a:ln/>
        </p:spPr>
        <p:txBody>
          <a:bodyPr wrap="square" lIns="0" tIns="0" rIns="0" bIns="0" rtlCol="0" anchor="ctr"/>
          <a:lstStyle/>
          <a:p>
            <a:pPr marL="0" indent="0">
              <a:lnSpc>
                <a:spcPct val="110000"/>
              </a:lnSpc>
              <a:buNone/>
            </a:pPr>
            <a:r>
              <a:rPr lang="en-US" sz="1200" b="1">
                <a:solidFill>
                  <a:srgbClr val="00A896"/>
                </a:solidFill>
                <a:latin typeface="Calibri" pitchFamily="34" charset="0"/>
                <a:ea typeface="Calibri" pitchFamily="34" charset="-122"/>
                <a:cs typeface="Calibri" pitchFamily="34" charset="-120"/>
              </a:rPr>
              <a:t>Choose an approach —  </a:t>
            </a:r>
            <a:r>
              <a:rPr lang="en-US" sz="1200">
                <a:solidFill>
                  <a:srgbClr val="0E1330"/>
                </a:solidFill>
                <a:latin typeface="Calibri" pitchFamily="34" charset="0"/>
                <a:ea typeface="Calibri" pitchFamily="34" charset="-122"/>
                <a:cs typeface="Calibri" pitchFamily="34" charset="-120"/>
              </a:rPr>
              <a:t>Follow the Day 1 decision path: CTGAN, TVAE or TabDDPM for tables; augmentation or LLM generation for text; simulation or diffusion for images [8] [11] [12] [16] [21].</a:t>
            </a:r>
            <a:endParaRPr lang="en-US" sz="1200"/>
          </a:p>
        </p:txBody>
      </p:sp>
      <p:sp>
        <p:nvSpPr>
          <p:cNvPr id="13" name="Shape 11"/>
          <p:cNvSpPr/>
          <p:nvPr/>
        </p:nvSpPr>
        <p:spPr>
          <a:xfrm>
            <a:off x="566928" y="3968496"/>
            <a:ext cx="11064240" cy="987552"/>
          </a:xfrm>
          <a:prstGeom prst="roundRect">
            <a:avLst>
              <a:gd name="adj" fmla="val 7407"/>
            </a:avLst>
          </a:prstGeom>
          <a:solidFill>
            <a:srgbClr val="FBEADB"/>
          </a:solidFill>
          <a:ln w="15875">
            <a:solidFill>
              <a:srgbClr val="D9822B"/>
            </a:solidFill>
            <a:prstDash val="solid"/>
          </a:ln>
        </p:spPr>
      </p:sp>
      <p:sp>
        <p:nvSpPr>
          <p:cNvPr id="14" name="Shape 12"/>
          <p:cNvSpPr/>
          <p:nvPr/>
        </p:nvSpPr>
        <p:spPr>
          <a:xfrm>
            <a:off x="786384" y="4270248"/>
            <a:ext cx="384048" cy="384048"/>
          </a:xfrm>
          <a:prstGeom prst="ellipse">
            <a:avLst/>
          </a:prstGeom>
          <a:solidFill>
            <a:srgbClr val="D9822B"/>
          </a:solidFill>
          <a:ln w="12700">
            <a:solidFill>
              <a:srgbClr val="D9822B"/>
            </a:solidFill>
            <a:prstDash val="solid"/>
          </a:ln>
        </p:spPr>
      </p:sp>
      <p:sp>
        <p:nvSpPr>
          <p:cNvPr id="15" name="Text 13"/>
          <p:cNvSpPr txBox="1"/>
          <p:nvPr/>
        </p:nvSpPr>
        <p:spPr>
          <a:xfrm>
            <a:off x="786384" y="4270248"/>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3</a:t>
            </a:r>
            <a:endParaRPr lang="en-US" sz="1250"/>
          </a:p>
        </p:txBody>
      </p:sp>
      <p:sp>
        <p:nvSpPr>
          <p:cNvPr id="16" name="Text 14"/>
          <p:cNvSpPr txBox="1"/>
          <p:nvPr/>
        </p:nvSpPr>
        <p:spPr>
          <a:xfrm>
            <a:off x="1316736" y="4059936"/>
            <a:ext cx="10076688" cy="804672"/>
          </a:xfrm>
          <a:prstGeom prst="rect">
            <a:avLst/>
          </a:prstGeom>
          <a:noFill/>
          <a:ln/>
        </p:spPr>
        <p:txBody>
          <a:bodyPr wrap="square" lIns="0" tIns="0" rIns="0" bIns="0" rtlCol="0" anchor="ctr"/>
          <a:lstStyle/>
          <a:p>
            <a:pPr marL="0" indent="0">
              <a:lnSpc>
                <a:spcPct val="110000"/>
              </a:lnSpc>
              <a:buNone/>
            </a:pPr>
            <a:r>
              <a:rPr lang="en-US" sz="1200" b="1">
                <a:solidFill>
                  <a:srgbClr val="D9822B"/>
                </a:solidFill>
                <a:latin typeface="Calibri" pitchFamily="34" charset="0"/>
                <a:ea typeface="Calibri" pitchFamily="34" charset="-122"/>
                <a:cs typeface="Calibri" pitchFamily="34" charset="-120"/>
              </a:rPr>
              <a:t>Train and generate —  </a:t>
            </a:r>
            <a:r>
              <a:rPr lang="en-US" sz="1200">
                <a:solidFill>
                  <a:srgbClr val="0E1330"/>
                </a:solidFill>
                <a:latin typeface="Calibri" pitchFamily="34" charset="0"/>
                <a:ea typeface="Calibri" pitchFamily="34" charset="-122"/>
                <a:cs typeface="Calibri" pitchFamily="34" charset="-120"/>
              </a:rPr>
              <a:t>Fit the model, then sample new records. Conditioning lets you steer the output, for example to oversample a rare class [11].</a:t>
            </a:r>
            <a:endParaRPr lang="en-US" sz="1200"/>
          </a:p>
        </p:txBody>
      </p:sp>
      <p:sp>
        <p:nvSpPr>
          <p:cNvPr id="17" name="Shape 15"/>
          <p:cNvSpPr/>
          <p:nvPr/>
        </p:nvSpPr>
        <p:spPr>
          <a:xfrm>
            <a:off x="566928" y="5084064"/>
            <a:ext cx="11064240" cy="987552"/>
          </a:xfrm>
          <a:prstGeom prst="roundRect">
            <a:avLst>
              <a:gd name="adj" fmla="val 7407"/>
            </a:avLst>
          </a:prstGeom>
          <a:solidFill>
            <a:srgbClr val="EEF1F8"/>
          </a:solidFill>
          <a:ln w="15875">
            <a:solidFill>
              <a:srgbClr val="DCE6FA"/>
            </a:solidFill>
            <a:prstDash val="solid"/>
          </a:ln>
        </p:spPr>
      </p:sp>
      <p:sp>
        <p:nvSpPr>
          <p:cNvPr id="18" name="Shape 16"/>
          <p:cNvSpPr/>
          <p:nvPr/>
        </p:nvSpPr>
        <p:spPr>
          <a:xfrm>
            <a:off x="786384" y="5385816"/>
            <a:ext cx="384048" cy="384048"/>
          </a:xfrm>
          <a:prstGeom prst="ellipse">
            <a:avLst/>
          </a:prstGeom>
          <a:solidFill>
            <a:srgbClr val="2E3A8C"/>
          </a:solidFill>
          <a:ln w="12700">
            <a:solidFill>
              <a:srgbClr val="2E3A8C"/>
            </a:solidFill>
            <a:prstDash val="solid"/>
          </a:ln>
        </p:spPr>
      </p:sp>
      <p:sp>
        <p:nvSpPr>
          <p:cNvPr id="19" name="Text 17"/>
          <p:cNvSpPr txBox="1"/>
          <p:nvPr/>
        </p:nvSpPr>
        <p:spPr>
          <a:xfrm>
            <a:off x="786384" y="538581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4</a:t>
            </a:r>
            <a:endParaRPr lang="en-US" sz="1250"/>
          </a:p>
        </p:txBody>
      </p:sp>
      <p:sp>
        <p:nvSpPr>
          <p:cNvPr id="20" name="Text 18"/>
          <p:cNvSpPr txBox="1"/>
          <p:nvPr/>
        </p:nvSpPr>
        <p:spPr>
          <a:xfrm>
            <a:off x="1316736" y="5175504"/>
            <a:ext cx="10076688" cy="804672"/>
          </a:xfrm>
          <a:prstGeom prst="rect">
            <a:avLst/>
          </a:prstGeom>
          <a:noFill/>
          <a:ln/>
        </p:spPr>
        <p:txBody>
          <a:bodyPr wrap="square" lIns="0" tIns="0" rIns="0" bIns="0" rtlCol="0" anchor="ctr"/>
          <a:lstStyle/>
          <a:p>
            <a:pPr marL="0" indent="0">
              <a:lnSpc>
                <a:spcPct val="110000"/>
              </a:lnSpc>
              <a:buNone/>
            </a:pPr>
            <a:r>
              <a:rPr lang="en-US" sz="1200" b="1">
                <a:solidFill>
                  <a:srgbClr val="2E3A8C"/>
                </a:solidFill>
                <a:latin typeface="Calibri" pitchFamily="34" charset="0"/>
                <a:ea typeface="Calibri" pitchFamily="34" charset="-122"/>
                <a:cs typeface="Calibri" pitchFamily="34" charset="-120"/>
              </a:rPr>
              <a:t>Inspect the synthetic data —  </a:t>
            </a:r>
            <a:r>
              <a:rPr lang="en-US" sz="1200">
                <a:solidFill>
                  <a:srgbClr val="0E1330"/>
                </a:solidFill>
                <a:latin typeface="Calibri" pitchFamily="34" charset="0"/>
                <a:ea typeface="Calibri" pitchFamily="34" charset="-122"/>
                <a:cs typeface="Calibri" pitchFamily="34" charset="-120"/>
              </a:rPr>
              <a:t>Compare marginals and correlations with the real data, check business rules and constraints, and note what needs repair before Day 3's formal evaluation [9] [11] [29].</a:t>
            </a:r>
            <a:endParaRPr lang="en-US" sz="1200"/>
          </a:p>
        </p:txBody>
      </p:sp>
      <p:sp>
        <p:nvSpPr>
          <p:cNvPr id="21" name="Text 19"/>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[8] [9] [11] [12] [16] [21] [29]</a:t>
            </a:r>
            <a:endParaRPr lang="en-US" sz="1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Tabular data: deceptively difficult</a:t>
            </a:r>
            <a:endParaRPr lang="en-US" sz="3000"/>
          </a:p>
        </p:txBody>
      </p:sp>
      <p:sp>
        <p:nvSpPr>
          <p:cNvPr id="5" name="Shape 3"/>
          <p:cNvSpPr/>
          <p:nvPr/>
        </p:nvSpPr>
        <p:spPr>
          <a:xfrm>
            <a:off x="566928" y="1691640"/>
            <a:ext cx="3520440" cy="1920240"/>
          </a:xfrm>
          <a:prstGeom prst="roundRect">
            <a:avLst>
              <a:gd name="adj" fmla="val 3810"/>
            </a:avLst>
          </a:prstGeom>
          <a:solidFill>
            <a:srgbClr val="EEF1F8"/>
          </a:solidFill>
          <a:ln w="15875">
            <a:solidFill>
              <a:srgbClr val="DCE6FA"/>
            </a:solidFill>
            <a:prstDash val="solid"/>
          </a:ln>
        </p:spPr>
      </p:sp>
      <p:sp>
        <p:nvSpPr>
          <p:cNvPr id="6" name="Shape 4"/>
          <p:cNvSpPr/>
          <p:nvPr/>
        </p:nvSpPr>
        <p:spPr>
          <a:xfrm>
            <a:off x="768096" y="1874520"/>
            <a:ext cx="384048" cy="384048"/>
          </a:xfrm>
          <a:prstGeom prst="ellipse">
            <a:avLst/>
          </a:prstGeom>
          <a:solidFill>
            <a:srgbClr val="2E3A8C"/>
          </a:solidFill>
          <a:ln w="12700">
            <a:solidFill>
              <a:srgbClr val="2E3A8C"/>
            </a:solidFill>
            <a:prstDash val="solid"/>
          </a:ln>
        </p:spPr>
      </p:sp>
      <p:sp>
        <p:nvSpPr>
          <p:cNvPr id="7" name="Text 5"/>
          <p:cNvSpPr txBox="1"/>
          <p:nvPr/>
        </p:nvSpPr>
        <p:spPr>
          <a:xfrm>
            <a:off x="768096" y="187452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280160" y="1847088"/>
            <a:ext cx="2606040" cy="438912"/>
          </a:xfrm>
          <a:prstGeom prst="rect">
            <a:avLst/>
          </a:prstGeom>
          <a:noFill/>
          <a:ln/>
        </p:spPr>
        <p:txBody>
          <a:bodyPr wrap="square" lIns="0" tIns="0" rIns="0" bIns="0" rtlCol="0" anchor="ctr"/>
          <a:lstStyle/>
          <a:p>
            <a:pPr marL="0" indent="0">
              <a:buNone/>
            </a:pPr>
            <a:r>
              <a:rPr lang="en-US" sz="1350" b="1">
                <a:solidFill>
                  <a:srgbClr val="2E3A8C"/>
                </a:solidFill>
                <a:latin typeface="Calibri" pitchFamily="34" charset="0"/>
                <a:ea typeface="Calibri" pitchFamily="34" charset="-122"/>
                <a:cs typeface="Calibri" pitchFamily="34" charset="-120"/>
              </a:rPr>
              <a:t>Mixed column types</a:t>
            </a:r>
            <a:endParaRPr lang="en-US" sz="1350"/>
          </a:p>
        </p:txBody>
      </p:sp>
      <p:sp>
        <p:nvSpPr>
          <p:cNvPr id="9" name="Text 7"/>
          <p:cNvSpPr txBox="1"/>
          <p:nvPr/>
        </p:nvSpPr>
        <p:spPr>
          <a:xfrm>
            <a:off x="804672" y="2350008"/>
            <a:ext cx="3044952" cy="111556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A single row holds continuous, ordinal, categorical and binary fields. One network must emit all of them with the right type and range [11].</a:t>
            </a:r>
            <a:endParaRPr lang="en-US" sz="1150"/>
          </a:p>
        </p:txBody>
      </p:sp>
      <p:sp>
        <p:nvSpPr>
          <p:cNvPr id="10" name="Shape 8"/>
          <p:cNvSpPr/>
          <p:nvPr/>
        </p:nvSpPr>
        <p:spPr>
          <a:xfrm>
            <a:off x="4334256" y="1691640"/>
            <a:ext cx="3520440" cy="1920240"/>
          </a:xfrm>
          <a:prstGeom prst="roundRect">
            <a:avLst>
              <a:gd name="adj" fmla="val 3810"/>
            </a:avLst>
          </a:prstGeom>
          <a:solidFill>
            <a:srgbClr val="D6F2EC"/>
          </a:solidFill>
          <a:ln w="15875">
            <a:solidFill>
              <a:srgbClr val="00A896"/>
            </a:solidFill>
            <a:prstDash val="solid"/>
          </a:ln>
        </p:spPr>
      </p:sp>
      <p:sp>
        <p:nvSpPr>
          <p:cNvPr id="11" name="Shape 9"/>
          <p:cNvSpPr/>
          <p:nvPr/>
        </p:nvSpPr>
        <p:spPr>
          <a:xfrm>
            <a:off x="4535424" y="1874520"/>
            <a:ext cx="384048" cy="384048"/>
          </a:xfrm>
          <a:prstGeom prst="ellipse">
            <a:avLst/>
          </a:prstGeom>
          <a:solidFill>
            <a:srgbClr val="00A896"/>
          </a:solidFill>
          <a:ln w="12700">
            <a:solidFill>
              <a:srgbClr val="00A896"/>
            </a:solidFill>
            <a:prstDash val="solid"/>
          </a:ln>
        </p:spPr>
      </p:sp>
      <p:sp>
        <p:nvSpPr>
          <p:cNvPr id="12" name="Text 10"/>
          <p:cNvSpPr txBox="1"/>
          <p:nvPr/>
        </p:nvSpPr>
        <p:spPr>
          <a:xfrm>
            <a:off x="4535424" y="187452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3" name="Text 11"/>
          <p:cNvSpPr txBox="1"/>
          <p:nvPr/>
        </p:nvSpPr>
        <p:spPr>
          <a:xfrm>
            <a:off x="5047488" y="1847088"/>
            <a:ext cx="2606040" cy="438912"/>
          </a:xfrm>
          <a:prstGeom prst="rect">
            <a:avLst/>
          </a:prstGeom>
          <a:noFill/>
          <a:ln/>
        </p:spPr>
        <p:txBody>
          <a:bodyPr wrap="square" lIns="0" tIns="0" rIns="0" bIns="0" rtlCol="0" anchor="ctr"/>
          <a:lstStyle/>
          <a:p>
            <a:pPr marL="0" indent="0">
              <a:buNone/>
            </a:pPr>
            <a:r>
              <a:rPr lang="en-US" sz="1350" b="1">
                <a:solidFill>
                  <a:srgbClr val="00A896"/>
                </a:solidFill>
                <a:latin typeface="Calibri" pitchFamily="34" charset="0"/>
                <a:ea typeface="Calibri" pitchFamily="34" charset="-122"/>
                <a:cs typeface="Calibri" pitchFamily="34" charset="-120"/>
              </a:rPr>
              <a:t>Non-Gaussian, multi-modal marginals</a:t>
            </a:r>
            <a:endParaRPr lang="en-US" sz="1350"/>
          </a:p>
        </p:txBody>
      </p:sp>
      <p:sp>
        <p:nvSpPr>
          <p:cNvPr id="14" name="Text 12"/>
          <p:cNvSpPr txBox="1"/>
          <p:nvPr/>
        </p:nvSpPr>
        <p:spPr>
          <a:xfrm>
            <a:off x="4572000" y="2350008"/>
            <a:ext cx="3044952" cy="111556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Income, transaction value and duration columns are skewed and multi-peaked. Min-max scaling destroys the structure and causes vanishing gradients [11].</a:t>
            </a:r>
            <a:endParaRPr lang="en-US" sz="1150"/>
          </a:p>
        </p:txBody>
      </p:sp>
      <p:sp>
        <p:nvSpPr>
          <p:cNvPr id="15" name="Shape 13"/>
          <p:cNvSpPr/>
          <p:nvPr/>
        </p:nvSpPr>
        <p:spPr>
          <a:xfrm>
            <a:off x="8101584" y="1691640"/>
            <a:ext cx="3520440" cy="1920240"/>
          </a:xfrm>
          <a:prstGeom prst="roundRect">
            <a:avLst>
              <a:gd name="adj" fmla="val 3810"/>
            </a:avLst>
          </a:prstGeom>
          <a:solidFill>
            <a:srgbClr val="FBEADB"/>
          </a:solidFill>
          <a:ln w="15875">
            <a:solidFill>
              <a:srgbClr val="D9822B"/>
            </a:solidFill>
            <a:prstDash val="solid"/>
          </a:ln>
        </p:spPr>
      </p:sp>
      <p:sp>
        <p:nvSpPr>
          <p:cNvPr id="16" name="Shape 14"/>
          <p:cNvSpPr/>
          <p:nvPr/>
        </p:nvSpPr>
        <p:spPr>
          <a:xfrm>
            <a:off x="8302752" y="1874520"/>
            <a:ext cx="384048" cy="384048"/>
          </a:xfrm>
          <a:prstGeom prst="ellipse">
            <a:avLst/>
          </a:prstGeom>
          <a:solidFill>
            <a:srgbClr val="D9822B"/>
          </a:solidFill>
          <a:ln w="12700">
            <a:solidFill>
              <a:srgbClr val="D9822B"/>
            </a:solidFill>
            <a:prstDash val="solid"/>
          </a:ln>
        </p:spPr>
      </p:sp>
      <p:sp>
        <p:nvSpPr>
          <p:cNvPr id="17" name="Text 15"/>
          <p:cNvSpPr txBox="1"/>
          <p:nvPr/>
        </p:nvSpPr>
        <p:spPr>
          <a:xfrm>
            <a:off x="8302752" y="187452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txBox="1"/>
          <p:nvPr/>
        </p:nvSpPr>
        <p:spPr>
          <a:xfrm>
            <a:off x="8814816" y="1847088"/>
            <a:ext cx="2606040" cy="438912"/>
          </a:xfrm>
          <a:prstGeom prst="rect">
            <a:avLst/>
          </a:prstGeom>
          <a:noFill/>
          <a:ln/>
        </p:spPr>
        <p:txBody>
          <a:bodyPr wrap="square" lIns="0" tIns="0" rIns="0" bIns="0" rtlCol="0" anchor="ctr"/>
          <a:lstStyle/>
          <a:p>
            <a:pPr marL="0" indent="0">
              <a:buNone/>
            </a:pPr>
            <a:r>
              <a:rPr lang="en-US" sz="1350" b="1">
                <a:solidFill>
                  <a:srgbClr val="D9822B"/>
                </a:solidFill>
                <a:latin typeface="Calibri" pitchFamily="34" charset="0"/>
                <a:ea typeface="Calibri" pitchFamily="34" charset="-122"/>
                <a:cs typeface="Calibri" pitchFamily="34" charset="-120"/>
              </a:rPr>
              <a:t>Severe class imbalance</a:t>
            </a:r>
            <a:endParaRPr lang="en-US" sz="1350"/>
          </a:p>
        </p:txBody>
      </p:sp>
      <p:sp>
        <p:nvSpPr>
          <p:cNvPr id="19" name="Text 17"/>
          <p:cNvSpPr txBox="1"/>
          <p:nvPr/>
        </p:nvSpPr>
        <p:spPr>
          <a:xfrm>
            <a:off x="8339328" y="2350008"/>
            <a:ext cx="3044952" cy="111556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A category appearing in 0.3% of rows is rarely sampled in a training minibatch, so the generator never learns it [11].</a:t>
            </a:r>
            <a:endParaRPr lang="en-US" sz="1150"/>
          </a:p>
        </p:txBody>
      </p:sp>
      <p:sp>
        <p:nvSpPr>
          <p:cNvPr id="20" name="Shape 18"/>
          <p:cNvSpPr/>
          <p:nvPr/>
        </p:nvSpPr>
        <p:spPr>
          <a:xfrm>
            <a:off x="566928" y="3776472"/>
            <a:ext cx="3520440" cy="1920240"/>
          </a:xfrm>
          <a:prstGeom prst="roundRect">
            <a:avLst>
              <a:gd name="adj" fmla="val 3810"/>
            </a:avLst>
          </a:prstGeom>
          <a:solidFill>
            <a:srgbClr val="EEF1F8"/>
          </a:solidFill>
          <a:ln w="15875">
            <a:solidFill>
              <a:srgbClr val="DCE6FA"/>
            </a:solidFill>
            <a:prstDash val="solid"/>
          </a:ln>
        </p:spPr>
      </p:sp>
      <p:sp>
        <p:nvSpPr>
          <p:cNvPr id="21" name="Shape 19"/>
          <p:cNvSpPr/>
          <p:nvPr/>
        </p:nvSpPr>
        <p:spPr>
          <a:xfrm>
            <a:off x="768096" y="3959352"/>
            <a:ext cx="384048" cy="384048"/>
          </a:xfrm>
          <a:prstGeom prst="ellipse">
            <a:avLst/>
          </a:prstGeom>
          <a:solidFill>
            <a:srgbClr val="2E3A8C"/>
          </a:solidFill>
          <a:ln w="12700">
            <a:solidFill>
              <a:srgbClr val="2E3A8C"/>
            </a:solidFill>
            <a:prstDash val="solid"/>
          </a:ln>
        </p:spPr>
      </p:sp>
      <p:sp>
        <p:nvSpPr>
          <p:cNvPr id="22" name="Text 20"/>
          <p:cNvSpPr txBox="1"/>
          <p:nvPr/>
        </p:nvSpPr>
        <p:spPr>
          <a:xfrm>
            <a:off x="768096" y="3959352"/>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4</a:t>
            </a:r>
            <a:endParaRPr lang="en-US" sz="1300"/>
          </a:p>
        </p:txBody>
      </p:sp>
      <p:sp>
        <p:nvSpPr>
          <p:cNvPr id="23" name="Text 21"/>
          <p:cNvSpPr txBox="1"/>
          <p:nvPr/>
        </p:nvSpPr>
        <p:spPr>
          <a:xfrm>
            <a:off x="1280160" y="3931920"/>
            <a:ext cx="2606040" cy="438912"/>
          </a:xfrm>
          <a:prstGeom prst="rect">
            <a:avLst/>
          </a:prstGeom>
          <a:noFill/>
          <a:ln/>
        </p:spPr>
        <p:txBody>
          <a:bodyPr wrap="square" lIns="0" tIns="0" rIns="0" bIns="0" rtlCol="0" anchor="ctr"/>
          <a:lstStyle/>
          <a:p>
            <a:pPr marL="0" indent="0">
              <a:buNone/>
            </a:pPr>
            <a:r>
              <a:rPr lang="en-US" sz="1350" b="1">
                <a:solidFill>
                  <a:srgbClr val="2E3A8C"/>
                </a:solidFill>
                <a:latin typeface="Calibri" pitchFamily="34" charset="0"/>
                <a:ea typeface="Calibri" pitchFamily="34" charset="-122"/>
                <a:cs typeface="Calibri" pitchFamily="34" charset="-120"/>
              </a:rPr>
              <a:t>Hard constraints</a:t>
            </a:r>
            <a:endParaRPr lang="en-US" sz="1350"/>
          </a:p>
        </p:txBody>
      </p:sp>
      <p:sp>
        <p:nvSpPr>
          <p:cNvPr id="24" name="Text 22"/>
          <p:cNvSpPr txBox="1"/>
          <p:nvPr/>
        </p:nvSpPr>
        <p:spPr>
          <a:xfrm>
            <a:off x="804672" y="4434840"/>
            <a:ext cx="3044952" cy="111556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Discharge date ≥ admission date; totals equal the sum of line items. Statistical models do not respect arithmetic unless forced to [9].</a:t>
            </a:r>
            <a:endParaRPr lang="en-US" sz="1150"/>
          </a:p>
        </p:txBody>
      </p:sp>
      <p:sp>
        <p:nvSpPr>
          <p:cNvPr id="25" name="Shape 23"/>
          <p:cNvSpPr/>
          <p:nvPr/>
        </p:nvSpPr>
        <p:spPr>
          <a:xfrm>
            <a:off x="4334256" y="3776472"/>
            <a:ext cx="3520440" cy="1920240"/>
          </a:xfrm>
          <a:prstGeom prst="roundRect">
            <a:avLst>
              <a:gd name="adj" fmla="val 3810"/>
            </a:avLst>
          </a:prstGeom>
          <a:solidFill>
            <a:srgbClr val="D6F2EC"/>
          </a:solidFill>
          <a:ln w="15875">
            <a:solidFill>
              <a:srgbClr val="00A896"/>
            </a:solidFill>
            <a:prstDash val="solid"/>
          </a:ln>
        </p:spPr>
      </p:sp>
      <p:sp>
        <p:nvSpPr>
          <p:cNvPr id="26" name="Shape 24"/>
          <p:cNvSpPr/>
          <p:nvPr/>
        </p:nvSpPr>
        <p:spPr>
          <a:xfrm>
            <a:off x="4535424" y="3959352"/>
            <a:ext cx="384048" cy="384048"/>
          </a:xfrm>
          <a:prstGeom prst="ellipse">
            <a:avLst/>
          </a:prstGeom>
          <a:solidFill>
            <a:srgbClr val="00A896"/>
          </a:solidFill>
          <a:ln w="12700">
            <a:solidFill>
              <a:srgbClr val="00A896"/>
            </a:solidFill>
            <a:prstDash val="solid"/>
          </a:ln>
        </p:spPr>
      </p:sp>
      <p:sp>
        <p:nvSpPr>
          <p:cNvPr id="27" name="Text 25"/>
          <p:cNvSpPr txBox="1"/>
          <p:nvPr/>
        </p:nvSpPr>
        <p:spPr>
          <a:xfrm>
            <a:off x="4535424" y="3959352"/>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5</a:t>
            </a:r>
            <a:endParaRPr lang="en-US" sz="1300"/>
          </a:p>
        </p:txBody>
      </p:sp>
      <p:sp>
        <p:nvSpPr>
          <p:cNvPr id="28" name="Text 26"/>
          <p:cNvSpPr txBox="1"/>
          <p:nvPr/>
        </p:nvSpPr>
        <p:spPr>
          <a:xfrm>
            <a:off x="5047488" y="3931920"/>
            <a:ext cx="2606040" cy="438912"/>
          </a:xfrm>
          <a:prstGeom prst="rect">
            <a:avLst/>
          </a:prstGeom>
          <a:noFill/>
          <a:ln/>
        </p:spPr>
        <p:txBody>
          <a:bodyPr wrap="square" lIns="0" tIns="0" rIns="0" bIns="0" rtlCol="0" anchor="ctr"/>
          <a:lstStyle/>
          <a:p>
            <a:pPr marL="0" indent="0">
              <a:buNone/>
            </a:pPr>
            <a:r>
              <a:rPr lang="en-US" sz="1350" b="1">
                <a:solidFill>
                  <a:srgbClr val="00A896"/>
                </a:solidFill>
                <a:latin typeface="Calibri" pitchFamily="34" charset="0"/>
                <a:ea typeface="Calibri" pitchFamily="34" charset="-122"/>
                <a:cs typeface="Calibri" pitchFamily="34" charset="-120"/>
              </a:rPr>
              <a:t>Cross-table integrity</a:t>
            </a:r>
            <a:endParaRPr lang="en-US" sz="1350"/>
          </a:p>
        </p:txBody>
      </p:sp>
      <p:sp>
        <p:nvSpPr>
          <p:cNvPr id="29" name="Text 27"/>
          <p:cNvSpPr txBox="1"/>
          <p:nvPr/>
        </p:nvSpPr>
        <p:spPr>
          <a:xfrm>
            <a:off x="4572000" y="4434840"/>
            <a:ext cx="3044952" cy="111556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Foreign keys, cardinalities and parent–child relationships must survive generation across a whole schema [9].</a:t>
            </a:r>
            <a:endParaRPr lang="en-US" sz="1150"/>
          </a:p>
        </p:txBody>
      </p:sp>
      <p:sp>
        <p:nvSpPr>
          <p:cNvPr id="30" name="Shape 28"/>
          <p:cNvSpPr/>
          <p:nvPr/>
        </p:nvSpPr>
        <p:spPr>
          <a:xfrm>
            <a:off x="8101584" y="3776472"/>
            <a:ext cx="3520440" cy="1920240"/>
          </a:xfrm>
          <a:prstGeom prst="roundRect">
            <a:avLst>
              <a:gd name="adj" fmla="val 3810"/>
            </a:avLst>
          </a:prstGeom>
          <a:solidFill>
            <a:srgbClr val="FBEADB"/>
          </a:solidFill>
          <a:ln w="15875">
            <a:solidFill>
              <a:srgbClr val="D9822B"/>
            </a:solidFill>
            <a:prstDash val="solid"/>
          </a:ln>
        </p:spPr>
      </p:sp>
      <p:sp>
        <p:nvSpPr>
          <p:cNvPr id="31" name="Shape 29"/>
          <p:cNvSpPr/>
          <p:nvPr/>
        </p:nvSpPr>
        <p:spPr>
          <a:xfrm>
            <a:off x="8302752" y="3959352"/>
            <a:ext cx="384048" cy="384048"/>
          </a:xfrm>
          <a:prstGeom prst="ellipse">
            <a:avLst/>
          </a:prstGeom>
          <a:solidFill>
            <a:srgbClr val="D9822B"/>
          </a:solidFill>
          <a:ln w="12700">
            <a:solidFill>
              <a:srgbClr val="D9822B"/>
            </a:solidFill>
            <a:prstDash val="solid"/>
          </a:ln>
        </p:spPr>
      </p:sp>
      <p:sp>
        <p:nvSpPr>
          <p:cNvPr id="32" name="Text 30"/>
          <p:cNvSpPr txBox="1"/>
          <p:nvPr/>
        </p:nvSpPr>
        <p:spPr>
          <a:xfrm>
            <a:off x="8302752" y="3959352"/>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6</a:t>
            </a:r>
            <a:endParaRPr lang="en-US" sz="1300"/>
          </a:p>
        </p:txBody>
      </p:sp>
      <p:sp>
        <p:nvSpPr>
          <p:cNvPr id="33" name="Text 31"/>
          <p:cNvSpPr txBox="1"/>
          <p:nvPr/>
        </p:nvSpPr>
        <p:spPr>
          <a:xfrm>
            <a:off x="8814816" y="3931920"/>
            <a:ext cx="2606040" cy="438912"/>
          </a:xfrm>
          <a:prstGeom prst="rect">
            <a:avLst/>
          </a:prstGeom>
          <a:noFill/>
          <a:ln/>
        </p:spPr>
        <p:txBody>
          <a:bodyPr wrap="square" lIns="0" tIns="0" rIns="0" bIns="0" rtlCol="0" anchor="ctr"/>
          <a:lstStyle/>
          <a:p>
            <a:pPr marL="0" indent="0">
              <a:buNone/>
            </a:pPr>
            <a:r>
              <a:rPr lang="en-US" sz="1350" b="1">
                <a:solidFill>
                  <a:srgbClr val="D9822B"/>
                </a:solidFill>
                <a:latin typeface="Calibri" pitchFamily="34" charset="0"/>
                <a:ea typeface="Calibri" pitchFamily="34" charset="-122"/>
                <a:cs typeface="Calibri" pitchFamily="34" charset="-120"/>
              </a:rPr>
              <a:t>No perceptual check</a:t>
            </a:r>
            <a:endParaRPr lang="en-US" sz="1350"/>
          </a:p>
        </p:txBody>
      </p:sp>
      <p:sp>
        <p:nvSpPr>
          <p:cNvPr id="34" name="Text 32"/>
          <p:cNvSpPr txBox="1"/>
          <p:nvPr/>
        </p:nvSpPr>
        <p:spPr>
          <a:xfrm>
            <a:off x="8339328" y="4434840"/>
            <a:ext cx="3044952" cy="111556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You cannot eyeball a synthetic table the way you can eyeball a synthetic face. Everything must be measured [27] [29].</a:t>
            </a:r>
            <a:endParaRPr lang="en-US" sz="1150"/>
          </a:p>
        </p:txBody>
      </p:sp>
      <p:sp>
        <p:nvSpPr>
          <p:cNvPr id="35" name="Text 3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[9] [11] [27] [29]</a:t>
            </a:r>
            <a:endParaRPr lang="en-US" sz="1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CTGAN: two ideas that made tabular GANs work</a:t>
            </a:r>
            <a:endParaRPr lang="en-US" sz="3000"/>
          </a:p>
        </p:txBody>
      </p:sp>
      <p:pic>
        <p:nvPicPr>
          <p:cNvPr id="5" name="Image 0" descr="img/ctgan.png"/>
          <p:cNvPicPr>
            <a:picLocks noChangeAspect="1"/>
          </p:cNvPicPr>
          <p:nvPr/>
        </p:nvPicPr>
        <p:blipFill>
          <a:blip r:embed="rId3"/>
          <a:stretch>
            <a:fillRect/>
          </a:stretch>
        </p:blipFill>
        <p:spPr>
          <a:xfrm>
            <a:off x="725140" y="1554480"/>
            <a:ext cx="10747816" cy="3931920"/>
          </a:xfrm>
          <a:prstGeom prst="rect">
            <a:avLst/>
          </a:prstGeom>
        </p:spPr>
      </p:pic>
      <p:sp>
        <p:nvSpPr>
          <p:cNvPr id="6" name="Text 3"/>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Both ideas attack the same root problem — a naive minibatch never shows the generator the parts of the distribution that matter least often and cost most when missing [11].</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[11]</a:t>
            </a:r>
            <a:endParaRPr lang="en-US" sz="1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tabular toolbox: three models to know</a:t>
            </a:r>
            <a:endParaRPr lang="en-US" sz="3000"/>
          </a:p>
        </p:txBody>
      </p:sp>
      <p:graphicFrame>
        <p:nvGraphicFramePr>
          <p:cNvPr id="29" name="Table 0"/>
          <p:cNvGraphicFramePr>
            <a:graphicFrameLocks noGrp="1"/>
          </p:cNvGraphicFramePr>
          <p:nvPr>
            <p:extLst>
              <p:ext uri="{D42A27DB-BD31-4B8C-83A1-F6EECF244321}">
                <p14:modId xmlns:p14="http://schemas.microsoft.com/office/powerpoint/2010/main" val="3713806616"/>
              </p:ext>
            </p:extLst>
          </p:nvPr>
        </p:nvGraphicFramePr>
        <p:xfrm>
          <a:off x="566928" y="1627632"/>
          <a:ext cx="11064240" cy="2560320"/>
        </p:xfrm>
        <a:graphic>
          <a:graphicData uri="http://schemas.openxmlformats.org/drawingml/2006/table">
            <a:tbl>
              <a:tblPr/>
              <a:tblGrid>
                <a:gridCol w="155448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640080">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Method</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Mechanism</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Reported strength</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Watch out for</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CTGAN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Conditional GAN with mode-specific normalisation and training-by-sampling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Strong on imbalanced categoricals; the de facto baseline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Adversarial instability; needs careful epoch selection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TVAE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Variational autoencoder over the same tabular encoding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More stable to train than CTGAN; competitive on several benchmarks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Tends to over-smooth continuous columns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TabDDPM</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Multinomial diffusion for categoricals plus Gaussian diffusion for continuous columns [12]</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Outperforms GAN and VAE alternatives across a wide benchmark suite [12]</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Slow sampling; higher training cost</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bl>
          </a:graphicData>
        </a:graphic>
      </p:graphicFrame>
      <p:sp>
        <p:nvSpPr>
          <p:cNvPr id="6" name="Text 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[9] [11] [12] [13] [47]</a:t>
            </a:r>
            <a:endParaRPr lang="en-US" sz="1000"/>
          </a:p>
        </p:txBody>
      </p:sp>
      <p:sp>
        <p:nvSpPr>
          <p:cNvPr id="30" name="Also worth knowing"/>
          <p:cNvSpPr txBox="1"/>
          <p:nvPr/>
        </p:nvSpPr>
        <p:spPr>
          <a:xfrm>
            <a:off x="566928" y="4480560"/>
            <a:ext cx="10881360" cy="685800"/>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Also worth knowing: GReaT fine-tunes a language model on rows written as text [13]; SDV models multi-table databases while keeping foreign keys intact [9]; PrivBayes adds a formal privacy guarantee [47].</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Constraints: the part that decides adoption</a:t>
            </a:r>
            <a:endParaRPr lang="en-US" sz="3000"/>
          </a:p>
        </p:txBody>
      </p:sp>
      <p:sp>
        <p:nvSpPr>
          <p:cNvPr id="5" name="Shape 3"/>
          <p:cNvSpPr/>
          <p:nvPr/>
        </p:nvSpPr>
        <p:spPr>
          <a:xfrm>
            <a:off x="566928" y="1645920"/>
            <a:ext cx="11064240" cy="868680"/>
          </a:xfrm>
          <a:prstGeom prst="roundRect">
            <a:avLst>
              <a:gd name="adj" fmla="val 8421"/>
            </a:avLst>
          </a:prstGeom>
          <a:solidFill>
            <a:schemeClr val="accent1">
              <a:lumMod val="75000"/>
            </a:schemeClr>
          </a:solidFill>
          <a:ln w="15875">
            <a:noFill/>
            <a:prstDash val="solid"/>
          </a:ln>
        </p:spPr>
      </p:sp>
      <p:sp>
        <p:nvSpPr>
          <p:cNvPr id="6" name="Text 4"/>
          <p:cNvSpPr txBox="1"/>
          <p:nvPr/>
        </p:nvSpPr>
        <p:spPr>
          <a:xfrm>
            <a:off x="804672" y="1828800"/>
            <a:ext cx="10588752" cy="539496"/>
          </a:xfrm>
          <a:prstGeom prst="rect">
            <a:avLst/>
          </a:prstGeom>
          <a:noFill/>
          <a:ln/>
        </p:spPr>
        <p:txBody>
          <a:bodyPr wrap="square" lIns="0" tIns="0" rIns="0" bIns="0" rtlCol="0" anchor="t"/>
          <a:lstStyle/>
          <a:p>
            <a:pPr marL="0" indent="0">
              <a:lnSpc>
                <a:spcPct val="112000"/>
              </a:lnSpc>
              <a:buNone/>
            </a:pPr>
            <a:r>
              <a:rPr lang="en-US" sz="1350">
                <a:solidFill>
                  <a:srgbClr val="E4E8F4"/>
                </a:solidFill>
                <a:latin typeface="Calibri" pitchFamily="34" charset="0"/>
                <a:ea typeface="Calibri" pitchFamily="34" charset="-122"/>
                <a:cs typeface="Calibri" pitchFamily="34" charset="-120"/>
              </a:rPr>
              <a:t>A synthetic dataset that is statistically excellent but arithmetically impossible will be rejected by the first engineer who loads it. Constraint handling is not polish it is the acceptance test.</a:t>
            </a:r>
            <a:endParaRPr lang="en-US" sz="1350"/>
          </a:p>
        </p:txBody>
      </p:sp>
      <p:graphicFrame>
        <p:nvGraphicFramePr>
          <p:cNvPr id="30" name="Table 0"/>
          <p:cNvGraphicFramePr>
            <a:graphicFrameLocks noGrp="1"/>
          </p:cNvGraphicFramePr>
          <p:nvPr>
            <p:extLst>
              <p:ext uri="{D42A27DB-BD31-4B8C-83A1-F6EECF244321}">
                <p14:modId xmlns:p14="http://schemas.microsoft.com/office/powerpoint/2010/main" val="1393978118"/>
              </p:ext>
            </p:extLst>
          </p:nvPr>
        </p:nvGraphicFramePr>
        <p:xfrm>
          <a:off x="566928" y="2670048"/>
          <a:ext cx="11064240" cy="3511296"/>
        </p:xfrm>
        <a:graphic>
          <a:graphicData uri="http://schemas.openxmlformats.org/drawingml/2006/table">
            <a:tbl>
              <a:tblPr/>
              <a:tblGrid>
                <a:gridCol w="21945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tblGrid>
              <a:tr h="585216">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Constraint class</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Example</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How to enforce it</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58521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Range / domain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Age between 0 and 120; status in a fixed code list</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Encode categoricals as one-hot and clip continuous outputs to observed support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58521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Inter-column arithmetic</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total = quantity × unit_price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Generate the independent columns and compute the dependent one deterministically after sampling [9]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Temporal ordering</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discharge_date ≥ admission_date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Generate the anchor date plus a non-negative duration, then reconstruct [9] [10]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r h="58521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Uniqueness / keys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Primary keys must be unique; foreign keys must resolve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Assign keys post hoc and generate child tables conditioned on the parent [9]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8521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Business rules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 closed account cannot have a future transaction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Post-generation rejection sampling or repair, with the rejection rate tracked as a quality metric [9]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[9] [10] [11]</a:t>
            </a:r>
            <a:endParaRPr lang="en-US" sz="1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2</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Synthetic text: augment, or generate and filter</a:t>
            </a:r>
            <a:endParaRPr lang="en-US" sz="3000"/>
          </a:p>
        </p:txBody>
      </p:sp>
      <p:sp>
        <p:nvSpPr>
          <p:cNvPr id="5" name="Shape 3"/>
          <p:cNvSpPr/>
          <p:nvPr/>
        </p:nvSpPr>
        <p:spPr>
          <a:xfrm>
            <a:off x="566928" y="1691640"/>
            <a:ext cx="5440680" cy="2103120"/>
          </a:xfrm>
          <a:prstGeom prst="roundRect">
            <a:avLst>
              <a:gd name="adj" fmla="val 3137"/>
            </a:avLst>
          </a:prstGeom>
          <a:solidFill>
            <a:srgbClr val="EEF1F8"/>
          </a:solidFill>
          <a:ln w="15875">
            <a:solidFill>
              <a:srgbClr val="DCE6FA"/>
            </a:solidFill>
            <a:prstDash val="solid"/>
          </a:ln>
        </p:spPr>
      </p:sp>
      <p:sp>
        <p:nvSpPr>
          <p:cNvPr id="6" name="Text 4"/>
          <p:cNvSpPr txBox="1"/>
          <p:nvPr/>
        </p:nvSpPr>
        <p:spPr>
          <a:xfrm>
            <a:off x="804672" y="1847088"/>
            <a:ext cx="4965192" cy="438912"/>
          </a:xfrm>
          <a:prstGeom prst="rect">
            <a:avLst/>
          </a:prstGeom>
          <a:noFill/>
          <a:ln/>
        </p:spPr>
        <p:txBody>
          <a:bodyPr wrap="square" lIns="0" tIns="0" rIns="0" bIns="0" rtlCol="0" anchor="ctr"/>
          <a:lstStyle/>
          <a:p>
            <a:pPr marL="0" indent="0">
              <a:buNone/>
            </a:pPr>
            <a:r>
              <a:rPr lang="en-US" sz="1550" b="1">
                <a:solidFill>
                  <a:srgbClr val="2E3A8C"/>
                </a:solidFill>
                <a:latin typeface="Calibri" pitchFamily="34" charset="0"/>
                <a:ea typeface="Calibri" pitchFamily="34" charset="-122"/>
                <a:cs typeface="Calibri" pitchFamily="34" charset="-120"/>
              </a:rPr>
              <a:t>Augment what you have</a:t>
            </a:r>
            <a:endParaRPr lang="en-US" sz="1550"/>
          </a:p>
        </p:txBody>
      </p:sp>
      <p:sp>
        <p:nvSpPr>
          <p:cNvPr id="7" name="Text 5"/>
          <p:cNvSpPr txBox="1"/>
          <p:nvPr/>
        </p:nvSpPr>
        <p:spPr>
          <a:xfrm>
            <a:off x="804672" y="2350008"/>
            <a:ext cx="4965192" cy="1280160"/>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Synonym replacement, random insertion, swap and deletion (EDA), plus back-translation through a pivot language. Cheap, label-preserving, and effective on small or low-resource training sets [14] [15].</a:t>
            </a:r>
            <a:endParaRPr lang="en-US" sz="1200"/>
          </a:p>
        </p:txBody>
      </p:sp>
      <p:sp>
        <p:nvSpPr>
          <p:cNvPr id="11" name="Shape 9"/>
          <p:cNvSpPr/>
          <p:nvPr/>
        </p:nvSpPr>
        <p:spPr>
          <a:xfrm>
            <a:off x="6190488" y="1691640"/>
            <a:ext cx="5440680" cy="2103120"/>
          </a:xfrm>
          <a:prstGeom prst="roundRect">
            <a:avLst>
              <a:gd name="adj" fmla="val 3137"/>
            </a:avLst>
          </a:prstGeom>
          <a:solidFill>
            <a:srgbClr val="FBEADB"/>
          </a:solidFill>
          <a:ln w="15875">
            <a:solidFill>
              <a:srgbClr val="D9822B"/>
            </a:solidFill>
            <a:prstDash val="solid"/>
          </a:ln>
        </p:spPr>
      </p:sp>
      <p:sp>
        <p:nvSpPr>
          <p:cNvPr id="12" name="Text 10"/>
          <p:cNvSpPr txBox="1"/>
          <p:nvPr/>
        </p:nvSpPr>
        <p:spPr>
          <a:xfrm>
            <a:off x="6428232" y="1847088"/>
            <a:ext cx="4965192" cy="438912"/>
          </a:xfrm>
          <a:prstGeom prst="rect">
            <a:avLst/>
          </a:prstGeom>
          <a:noFill/>
          <a:ln/>
        </p:spPr>
        <p:txBody>
          <a:bodyPr wrap="square" lIns="0" tIns="0" rIns="0" bIns="0" rtlCol="0" anchor="ctr"/>
          <a:lstStyle/>
          <a:p>
            <a:pPr marL="0" indent="0">
              <a:buNone/>
            </a:pPr>
            <a:r>
              <a:rPr lang="en-US" sz="1550" b="1">
                <a:solidFill>
                  <a:srgbClr val="D9822B"/>
                </a:solidFill>
                <a:latin typeface="Calibri" pitchFamily="34" charset="0"/>
                <a:ea typeface="Calibri" pitchFamily="34" charset="-122"/>
                <a:cs typeface="Calibri" pitchFamily="34" charset="-120"/>
              </a:rPr>
              <a:t>Generate with an LLM</a:t>
            </a:r>
            <a:endParaRPr lang="en-US" sz="1550"/>
          </a:p>
        </p:txBody>
      </p:sp>
      <p:sp>
        <p:nvSpPr>
          <p:cNvPr id="13" name="Text 11"/>
          <p:cNvSpPr txBox="1"/>
          <p:nvPr/>
        </p:nvSpPr>
        <p:spPr>
          <a:xfrm>
            <a:off x="6428232" y="2350008"/>
            <a:ext cx="4965192" cy="1280160"/>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Prompt a large language model to write new instances outright — including instructions, inputs and outputs — then filter aggressively before anything is used [16] [17] [19].</a:t>
            </a:r>
            <a:endParaRPr lang="en-US" sz="1200"/>
          </a:p>
        </p:txBody>
      </p:sp>
      <p:sp>
        <p:nvSpPr>
          <p:cNvPr id="14" name="Text 12"/>
          <p:cNvSpPr txBox="1"/>
          <p:nvPr/>
        </p:nvSpPr>
        <p:spPr>
          <a:xfrm>
            <a:off x="566928" y="4160520"/>
            <a:ext cx="11064240" cy="1280160"/>
          </a:xfrm>
          <a:prstGeom prst="rect">
            <a:avLst/>
          </a:prstGeom>
          <a:noFill/>
          <a:ln/>
        </p:spPr>
        <p:txBody>
          <a:bodyPr wrap="square" lIns="0" tIns="0" rIns="0" bIns="0" rtlCol="0" anchor="t"/>
          <a:lstStyle/>
          <a:p>
            <a:pPr marL="342900" indent="-342900">
              <a:lnSpc>
                <a:spcPct val="110000"/>
              </a:lnSpc>
              <a:spcAft>
                <a:spcPts val="900"/>
              </a:spcAft>
              <a:buSzPct val="100000"/>
              <a:buChar char="▪"/>
            </a:pPr>
            <a:r>
              <a:rPr lang="en-US" sz="1300">
                <a:solidFill>
                  <a:srgbClr val="0E1330"/>
                </a:solidFill>
                <a:latin typeface="Calibri" pitchFamily="34" charset="0"/>
                <a:ea typeface="Calibri" pitchFamily="34" charset="-122"/>
                <a:cs typeface="Calibri" pitchFamily="34" charset="-120"/>
              </a:rPr>
              <a:t>GANs suit images better than text: words are discrete tokens, so the discriminator's feedback cannot flow back to the generator [14] [16].</a:t>
            </a:r>
            <a:endParaRPr lang="en-US" sz="1300"/>
          </a:p>
          <a:p>
            <a:pPr marL="342900" indent="-342900">
              <a:lnSpc>
                <a:spcPct val="110000"/>
              </a:lnSpc>
              <a:spcAft>
                <a:spcPts val="900"/>
              </a:spcAft>
              <a:buSzPct val="100000"/>
              <a:buChar char="▪"/>
            </a:pPr>
            <a:r>
              <a:rPr lang="en-US" sz="1300">
                <a:solidFill>
                  <a:srgbClr val="0E1330"/>
                </a:solidFill>
                <a:latin typeface="Calibri" pitchFamily="34" charset="0"/>
                <a:ea typeface="Calibri" pitchFamily="34" charset="-122"/>
                <a:cs typeface="Calibri" pitchFamily="34" charset="-120"/>
              </a:rPr>
              <a:t>The practical bottleneck has moved from generation to filtering: producing text is now cheap, deciding which text to keep is not [16] [17].</a:t>
            </a:r>
            <a:endParaRPr lang="en-US" sz="1300"/>
          </a:p>
        </p:txBody>
      </p:sp>
      <p:sp>
        <p:nvSpPr>
          <p:cNvPr id="15" name="Text 1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[14] [15] [16] [17] [19]</a:t>
            </a:r>
            <a:endParaRPr lang="en-US" sz="1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2</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Quality control for synthetic text</a:t>
            </a:r>
            <a:endParaRPr lang="en-US" sz="3000"/>
          </a:p>
        </p:txBody>
      </p:sp>
      <p:graphicFrame>
        <p:nvGraphicFramePr>
          <p:cNvPr id="33" name="Table 0"/>
          <p:cNvGraphicFramePr>
            <a:graphicFrameLocks noGrp="1"/>
          </p:cNvGraphicFramePr>
          <p:nvPr>
            <p:extLst>
              <p:ext uri="{D42A27DB-BD31-4B8C-83A1-F6EECF244321}">
                <p14:modId xmlns:p14="http://schemas.microsoft.com/office/powerpoint/2010/main" val="3059993086"/>
              </p:ext>
            </p:extLst>
          </p:nvPr>
        </p:nvGraphicFramePr>
        <p:xfrm>
          <a:off x="566928" y="1627632"/>
          <a:ext cx="11064240" cy="2852928"/>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713232">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Filter</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What it removes</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Why it matters</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713232">
                <a:tc>
                  <a:txBody>
                    <a:bodyPr/>
                    <a:lstStyle/>
                    <a:p>
                      <a:pPr marL="0" indent="0" algn="l">
                        <a:buNone/>
                      </a:pPr>
                      <a:r>
                        <a:rPr lang="en-US" sz="1100" b="1">
                          <a:solidFill>
                            <a:srgbClr val="2E3A8C"/>
                          </a:solidFill>
                          <a:latin typeface="Calibri" pitchFamily="34" charset="0"/>
                          <a:ea typeface="Calibri" pitchFamily="34" charset="-122"/>
                          <a:cs typeface="Calibri" pitchFamily="34" charset="-120"/>
                        </a:rPr>
                        <a:t>Near-duplicate detection</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100">
                          <a:solidFill>
                            <a:srgbClr val="0E1330"/>
                          </a:solidFill>
                          <a:latin typeface="Calibri" pitchFamily="34" charset="0"/>
                          <a:ea typeface="Calibri" pitchFamily="34" charset="-122"/>
                          <a:cs typeface="Calibri" pitchFamily="34" charset="-120"/>
                        </a:rPr>
                        <a:t>Instances too similar to existing pool entries, typically by ROUGE-L overlap [16]</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100">
                          <a:solidFill>
                            <a:srgbClr val="0E1330"/>
                          </a:solidFill>
                          <a:latin typeface="Calibri" pitchFamily="34" charset="0"/>
                          <a:ea typeface="Calibri" pitchFamily="34" charset="-122"/>
                          <a:cs typeface="Calibri" pitchFamily="34" charset="-120"/>
                        </a:rPr>
                        <a:t>Without it the pool collapses onto a few templates and diversity dies [16]</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713232">
                <a:tc>
                  <a:txBody>
                    <a:bodyPr/>
                    <a:lstStyle/>
                    <a:p>
                      <a:pPr marL="0" indent="0" algn="l">
                        <a:buNone/>
                      </a:pPr>
                      <a:r>
                        <a:rPr lang="en-US" sz="1100" b="1">
                          <a:solidFill>
                            <a:srgbClr val="2E3A8C"/>
                          </a:solidFill>
                          <a:latin typeface="Calibri" pitchFamily="34" charset="0"/>
                          <a:ea typeface="Calibri" pitchFamily="34" charset="-122"/>
                          <a:cs typeface="Calibri" pitchFamily="34" charset="-120"/>
                        </a:rPr>
                        <a:t>Validity checking</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00">
                          <a:solidFill>
                            <a:srgbClr val="0E1330"/>
                          </a:solidFill>
                          <a:latin typeface="Calibri" pitchFamily="34" charset="0"/>
                          <a:ea typeface="Calibri" pitchFamily="34" charset="-122"/>
                          <a:cs typeface="Calibri" pitchFamily="34" charset="-120"/>
                        </a:rPr>
                        <a:t>Malformed outputs, empty fields, instructions with no possible answer [16]</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00">
                          <a:solidFill>
                            <a:srgbClr val="0E1330"/>
                          </a:solidFill>
                          <a:latin typeface="Calibri" pitchFamily="34" charset="0"/>
                          <a:ea typeface="Calibri" pitchFamily="34" charset="-122"/>
                          <a:cs typeface="Calibri" pitchFamily="34" charset="-120"/>
                        </a:rPr>
                        <a:t>Invalid instances teach the model to produce invalid outputs</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lgn="l">
                        <a:buNone/>
                      </a:pPr>
                      <a:r>
                        <a:rPr lang="en-US" sz="1100" b="1">
                          <a:solidFill>
                            <a:srgbClr val="2E3A8C"/>
                          </a:solidFill>
                          <a:latin typeface="Calibri" pitchFamily="34" charset="0"/>
                          <a:ea typeface="Calibri" pitchFamily="34" charset="-122"/>
                          <a:cs typeface="Calibri" pitchFamily="34" charset="-120"/>
                        </a:rPr>
                        <a:t>Label consistency</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100">
                          <a:solidFill>
                            <a:srgbClr val="0E1330"/>
                          </a:solidFill>
                          <a:latin typeface="Calibri" pitchFamily="34" charset="0"/>
                          <a:ea typeface="Calibri" pitchFamily="34" charset="-122"/>
                          <a:cs typeface="Calibri" pitchFamily="34" charset="-120"/>
                        </a:rPr>
                        <a:t>Augmented text whose meaning no longer matches its label [14]</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100">
                          <a:solidFill>
                            <a:srgbClr val="0E1330"/>
                          </a:solidFill>
                          <a:latin typeface="Calibri" pitchFamily="34" charset="0"/>
                          <a:ea typeface="Calibri" pitchFamily="34" charset="-122"/>
                          <a:cs typeface="Calibri" pitchFamily="34" charset="-120"/>
                        </a:rPr>
                        <a:t>Synonym substitution can silently flip sentiment or negation [14]</a:t>
                      </a:r>
                      <a:endParaRPr lang="en-US" sz="11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bl>
          </a:graphicData>
        </a:graphic>
      </p:graphicFrame>
      <p:sp>
        <p:nvSpPr>
          <p:cNvPr id="6" name="Text 3"/>
          <p:cNvSpPr txBox="1"/>
          <p:nvPr/>
        </p:nvSpPr>
        <p:spPr>
          <a:xfrm>
            <a:off x="566928" y="466344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Rule of thumb from the literature: generation is the cheap half of the pipeline, filtering is where the quality is actually created [16] [17].</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[14] [16] [17]</a:t>
            </a:r>
            <a:endParaRPr lang="en-US" sz="1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3</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Synthetic imagery: two fundamentally different routes</a:t>
            </a:r>
            <a:endParaRPr lang="en-US" sz="3000"/>
          </a:p>
        </p:txBody>
      </p:sp>
      <p:sp>
        <p:nvSpPr>
          <p:cNvPr id="5" name="Shape 3"/>
          <p:cNvSpPr/>
          <p:nvPr/>
        </p:nvSpPr>
        <p:spPr>
          <a:xfrm>
            <a:off x="566928" y="1645920"/>
            <a:ext cx="5440680" cy="2194560"/>
          </a:xfrm>
          <a:prstGeom prst="roundRect">
            <a:avLst>
              <a:gd name="adj" fmla="val 3333"/>
            </a:avLst>
          </a:prstGeom>
          <a:solidFill>
            <a:srgbClr val="FBEADB"/>
          </a:solidFill>
          <a:ln w="15875">
            <a:solidFill>
              <a:srgbClr val="D9822B"/>
            </a:solidFill>
            <a:prstDash val="solid"/>
          </a:ln>
        </p:spPr>
      </p:sp>
      <p:sp>
        <p:nvSpPr>
          <p:cNvPr id="6" name="Text 4"/>
          <p:cNvSpPr txBox="1"/>
          <p:nvPr/>
        </p:nvSpPr>
        <p:spPr>
          <a:xfrm>
            <a:off x="804672" y="1801368"/>
            <a:ext cx="4965192" cy="438912"/>
          </a:xfrm>
          <a:prstGeom prst="rect">
            <a:avLst/>
          </a:prstGeom>
          <a:noFill/>
          <a:ln/>
        </p:spPr>
        <p:txBody>
          <a:bodyPr wrap="square" lIns="0" tIns="0" rIns="0" bIns="0" rtlCol="0" anchor="ctr"/>
          <a:lstStyle/>
          <a:p>
            <a:pPr marL="0" indent="0">
              <a:buNone/>
            </a:pPr>
            <a:r>
              <a:rPr lang="en-US" sz="1550" b="1">
                <a:solidFill>
                  <a:srgbClr val="D9822B"/>
                </a:solidFill>
                <a:latin typeface="Calibri" pitchFamily="34" charset="0"/>
                <a:ea typeface="Calibri" pitchFamily="34" charset="-122"/>
                <a:cs typeface="Calibri" pitchFamily="34" charset="-120"/>
              </a:rPr>
              <a:t>Route A — Graphics simulation</a:t>
            </a:r>
            <a:endParaRPr lang="en-US" sz="1550"/>
          </a:p>
        </p:txBody>
      </p:sp>
      <p:sp>
        <p:nvSpPr>
          <p:cNvPr id="7" name="Text 5"/>
          <p:cNvSpPr txBox="1"/>
          <p:nvPr/>
        </p:nvSpPr>
        <p:spPr>
          <a:xfrm>
            <a:off x="804672" y="2304288"/>
            <a:ext cx="4965192" cy="138988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Render the scene in a 3-D engine. Geometry is known, so semantic masks, depth maps and 3-D poses are emitted exactly, for free. Photorealism is limited by the renderer, producing a domain gap [21] [23].</a:t>
            </a:r>
            <a:endParaRPr lang="en-US" sz="1200"/>
          </a:p>
        </p:txBody>
      </p:sp>
      <p:sp>
        <p:nvSpPr>
          <p:cNvPr id="8" name="Shape 6"/>
          <p:cNvSpPr/>
          <p:nvPr/>
        </p:nvSpPr>
        <p:spPr>
          <a:xfrm>
            <a:off x="6190488" y="1645920"/>
            <a:ext cx="5440680" cy="2194560"/>
          </a:xfrm>
          <a:prstGeom prst="roundRect">
            <a:avLst>
              <a:gd name="adj" fmla="val 3333"/>
            </a:avLst>
          </a:prstGeom>
          <a:solidFill>
            <a:srgbClr val="EEF1F8"/>
          </a:solidFill>
          <a:ln w="15875">
            <a:solidFill>
              <a:srgbClr val="DCE6FA"/>
            </a:solidFill>
            <a:prstDash val="solid"/>
          </a:ln>
        </p:spPr>
      </p:sp>
      <p:sp>
        <p:nvSpPr>
          <p:cNvPr id="9" name="Text 7"/>
          <p:cNvSpPr txBox="1"/>
          <p:nvPr/>
        </p:nvSpPr>
        <p:spPr>
          <a:xfrm>
            <a:off x="6428232" y="1801368"/>
            <a:ext cx="4965192" cy="438912"/>
          </a:xfrm>
          <a:prstGeom prst="rect">
            <a:avLst/>
          </a:prstGeom>
          <a:noFill/>
          <a:ln/>
        </p:spPr>
        <p:txBody>
          <a:bodyPr wrap="square" lIns="0" tIns="0" rIns="0" bIns="0" rtlCol="0" anchor="ctr"/>
          <a:lstStyle/>
          <a:p>
            <a:pPr marL="0" indent="0">
              <a:buNone/>
            </a:pPr>
            <a:r>
              <a:rPr lang="en-US" sz="1550" b="1">
                <a:solidFill>
                  <a:srgbClr val="2E3A8C"/>
                </a:solidFill>
                <a:latin typeface="Calibri" pitchFamily="34" charset="0"/>
                <a:ea typeface="Calibri" pitchFamily="34" charset="-122"/>
                <a:cs typeface="Calibri" pitchFamily="34" charset="-120"/>
              </a:rPr>
              <a:t>Route B — Learned generation</a:t>
            </a:r>
            <a:endParaRPr lang="en-US" sz="1550"/>
          </a:p>
        </p:txBody>
      </p:sp>
      <p:sp>
        <p:nvSpPr>
          <p:cNvPr id="10" name="Text 8"/>
          <p:cNvSpPr txBox="1"/>
          <p:nvPr/>
        </p:nvSpPr>
        <p:spPr>
          <a:xfrm>
            <a:off x="6428232" y="2304288"/>
            <a:ext cx="4965192" cy="138988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Sample from a model fitted to real photographs. Photorealism is high and improving; the cost is that labels are not automatic and must be induced, conditioned on, or inferred [8] [20].</a:t>
            </a:r>
            <a:endParaRPr lang="en-US" sz="1200"/>
          </a:p>
        </p:txBody>
      </p:sp>
      <p:graphicFrame>
        <p:nvGraphicFramePr>
          <p:cNvPr id="34" name="Table 0"/>
          <p:cNvGraphicFramePr>
            <a:graphicFrameLocks noGrp="1"/>
          </p:cNvGraphicFramePr>
          <p:nvPr>
            <p:extLst>
              <p:ext uri="{D42A27DB-BD31-4B8C-83A1-F6EECF244321}">
                <p14:modId xmlns:p14="http://schemas.microsoft.com/office/powerpoint/2010/main" val="2562341658"/>
              </p:ext>
            </p:extLst>
          </p:nvPr>
        </p:nvGraphicFramePr>
        <p:xfrm>
          <a:off x="566928" y="4069080"/>
          <a:ext cx="11064240" cy="2011680"/>
        </p:xfrm>
        <a:graphic>
          <a:graphicData uri="http://schemas.openxmlformats.org/drawingml/2006/table">
            <a:tbl>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502920">
                <a:tc>
                  <a:txBody>
                    <a:bodyPr/>
                    <a:lstStyle/>
                    <a:p>
                      <a:pPr marL="0" indent="0" algn="l">
                        <a:buNone/>
                      </a:pP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Label quality</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Photorealism</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Controllability</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Typical use</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50292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Graphics simulation [21] [23]</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Exact, dense, free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Moderate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Total — you author the scene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Perception, robotics, safety scenarios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50292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GAN synthesis [20]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Needs conditioning</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High, fast to sample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Latent-space editing</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Face and texture augmentation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Latent diffusion [8]</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Needs conditioning</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Highest reported</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Text and image conditioning</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Open-domain image augmentation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bl>
          </a:graphicData>
        </a:graphic>
      </p:graphicFrame>
      <p:sp>
        <p:nvSpPr>
          <p:cNvPr id="12" name="Text 9"/>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[8] [20] [21] [23]</a:t>
            </a:r>
            <a:endParaRPr lang="en-US" sz="1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3</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domain gap, and how it is closed</a:t>
            </a:r>
            <a:endParaRPr lang="en-US" sz="3000"/>
          </a:p>
        </p:txBody>
      </p:sp>
      <p:sp>
        <p:nvSpPr>
          <p:cNvPr id="5" name="Shape 3"/>
          <p:cNvSpPr/>
          <p:nvPr/>
        </p:nvSpPr>
        <p:spPr>
          <a:xfrm>
            <a:off x="566928" y="1737360"/>
            <a:ext cx="11064240" cy="1234440"/>
          </a:xfrm>
          <a:prstGeom prst="roundRect">
            <a:avLst>
              <a:gd name="adj" fmla="val 5926"/>
            </a:avLst>
          </a:prstGeom>
          <a:solidFill>
            <a:srgbClr val="D6F2EC"/>
          </a:solidFill>
          <a:ln w="15875">
            <a:solidFill>
              <a:srgbClr val="00A896"/>
            </a:solidFill>
            <a:prstDash val="solid"/>
          </a:ln>
        </p:spPr>
      </p:sp>
      <p:sp>
        <p:nvSpPr>
          <p:cNvPr id="6" name="Shape 4"/>
          <p:cNvSpPr/>
          <p:nvPr/>
        </p:nvSpPr>
        <p:spPr>
          <a:xfrm>
            <a:off x="768096" y="1920240"/>
            <a:ext cx="384048" cy="384048"/>
          </a:xfrm>
          <a:prstGeom prst="ellipse">
            <a:avLst/>
          </a:prstGeom>
          <a:solidFill>
            <a:srgbClr val="00A896"/>
          </a:solidFill>
          <a:ln w="12700">
            <a:solidFill>
              <a:srgbClr val="00A896"/>
            </a:solidFill>
            <a:prstDash val="solid"/>
          </a:ln>
        </p:spPr>
      </p:sp>
      <p:sp>
        <p:nvSpPr>
          <p:cNvPr id="7" name="Text 5"/>
          <p:cNvSpPr txBox="1"/>
          <p:nvPr/>
        </p:nvSpPr>
        <p:spPr>
          <a:xfrm>
            <a:off x="768096" y="192024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280160" y="1892808"/>
            <a:ext cx="10149840"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Domain randomisation</a:t>
            </a:r>
            <a:endParaRPr lang="en-US" sz="1500"/>
          </a:p>
        </p:txBody>
      </p:sp>
      <p:sp>
        <p:nvSpPr>
          <p:cNvPr id="9" name="Text 7"/>
          <p:cNvSpPr txBox="1"/>
          <p:nvPr/>
        </p:nvSpPr>
        <p:spPr>
          <a:xfrm>
            <a:off x="804672" y="239572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Deliberately vary lighting, textures, camera pose and distractors beyond realism, so the real world looks to the network like just another variation. Detectors trained only in simulation then transfer to real images [22].</a:t>
            </a:r>
            <a:endParaRPr lang="en-US" sz="1200"/>
          </a:p>
        </p:txBody>
      </p:sp>
      <p:sp>
        <p:nvSpPr>
          <p:cNvPr id="10" name="Shape 8"/>
          <p:cNvSpPr/>
          <p:nvPr/>
        </p:nvSpPr>
        <p:spPr>
          <a:xfrm>
            <a:off x="566928" y="3154680"/>
            <a:ext cx="11064240" cy="1234440"/>
          </a:xfrm>
          <a:prstGeom prst="roundRect">
            <a:avLst>
              <a:gd name="adj" fmla="val 5926"/>
            </a:avLst>
          </a:prstGeom>
          <a:solidFill>
            <a:srgbClr val="EEF1F8"/>
          </a:solidFill>
          <a:ln w="15875">
            <a:solidFill>
              <a:srgbClr val="DCE6FA"/>
            </a:solidFill>
            <a:prstDash val="solid"/>
          </a:ln>
        </p:spPr>
      </p:sp>
      <p:sp>
        <p:nvSpPr>
          <p:cNvPr id="11" name="Shape 9"/>
          <p:cNvSpPr/>
          <p:nvPr/>
        </p:nvSpPr>
        <p:spPr>
          <a:xfrm>
            <a:off x="768096" y="3337560"/>
            <a:ext cx="384048" cy="384048"/>
          </a:xfrm>
          <a:prstGeom prst="ellipse">
            <a:avLst/>
          </a:prstGeom>
          <a:solidFill>
            <a:srgbClr val="2E3A8C"/>
          </a:solidFill>
          <a:ln w="12700">
            <a:solidFill>
              <a:srgbClr val="2E3A8C"/>
            </a:solidFill>
            <a:prstDash val="solid"/>
          </a:ln>
        </p:spPr>
      </p:sp>
      <p:sp>
        <p:nvSpPr>
          <p:cNvPr id="12" name="Text 10"/>
          <p:cNvSpPr txBox="1"/>
          <p:nvPr/>
        </p:nvSpPr>
        <p:spPr>
          <a:xfrm>
            <a:off x="768096" y="333756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3" name="Text 11"/>
          <p:cNvSpPr txBox="1"/>
          <p:nvPr/>
        </p:nvSpPr>
        <p:spPr>
          <a:xfrm>
            <a:off x="1280160" y="3310128"/>
            <a:ext cx="10149840" cy="438912"/>
          </a:xfrm>
          <a:prstGeom prst="rect">
            <a:avLst/>
          </a:prstGeom>
          <a:noFill/>
          <a:ln/>
        </p:spPr>
        <p:txBody>
          <a:bodyPr wrap="square" lIns="0" tIns="0" rIns="0" bIns="0" rtlCol="0" anchor="ctr"/>
          <a:lstStyle/>
          <a:p>
            <a:pPr marL="0" indent="0">
              <a:buNone/>
            </a:pPr>
            <a:r>
              <a:rPr lang="en-US" sz="1500" b="1">
                <a:solidFill>
                  <a:srgbClr val="2E3A8C"/>
                </a:solidFill>
                <a:latin typeface="Calibri" pitchFamily="34" charset="0"/>
                <a:ea typeface="Calibri" pitchFamily="34" charset="-122"/>
                <a:cs typeface="Calibri" pitchFamily="34" charset="-120"/>
              </a:rPr>
              <a:t>Mixed training sets</a:t>
            </a:r>
            <a:endParaRPr lang="en-US" sz="1500"/>
          </a:p>
        </p:txBody>
      </p:sp>
      <p:sp>
        <p:nvSpPr>
          <p:cNvPr id="14" name="Text 12"/>
          <p:cNvSpPr txBox="1"/>
          <p:nvPr/>
        </p:nvSpPr>
        <p:spPr>
          <a:xfrm>
            <a:off x="804672" y="381304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Pre-train on large synthetic volume, then fine-tune on the small real set. Consistently better than either source alone in the segmentation literature [21] [23].</a:t>
            </a:r>
            <a:endParaRPr lang="en-US" sz="1200"/>
          </a:p>
        </p:txBody>
      </p:sp>
      <p:sp>
        <p:nvSpPr>
          <p:cNvPr id="15" name="Shape 13"/>
          <p:cNvSpPr/>
          <p:nvPr/>
        </p:nvSpPr>
        <p:spPr>
          <a:xfrm>
            <a:off x="566928" y="4572000"/>
            <a:ext cx="11064240" cy="1234440"/>
          </a:xfrm>
          <a:prstGeom prst="roundRect">
            <a:avLst>
              <a:gd name="adj" fmla="val 5926"/>
            </a:avLst>
          </a:prstGeom>
          <a:solidFill>
            <a:srgbClr val="FBEADB"/>
          </a:solidFill>
          <a:ln w="15875">
            <a:solidFill>
              <a:srgbClr val="D9822B"/>
            </a:solidFill>
            <a:prstDash val="solid"/>
          </a:ln>
        </p:spPr>
      </p:sp>
      <p:sp>
        <p:nvSpPr>
          <p:cNvPr id="16" name="Shape 14"/>
          <p:cNvSpPr/>
          <p:nvPr/>
        </p:nvSpPr>
        <p:spPr>
          <a:xfrm>
            <a:off x="768096" y="4754880"/>
            <a:ext cx="384048" cy="384048"/>
          </a:xfrm>
          <a:prstGeom prst="ellipse">
            <a:avLst/>
          </a:prstGeom>
          <a:solidFill>
            <a:srgbClr val="D9822B"/>
          </a:solidFill>
          <a:ln w="12700">
            <a:solidFill>
              <a:srgbClr val="D9822B"/>
            </a:solidFill>
            <a:prstDash val="solid"/>
          </a:ln>
        </p:spPr>
      </p:sp>
      <p:sp>
        <p:nvSpPr>
          <p:cNvPr id="17" name="Text 15"/>
          <p:cNvSpPr txBox="1"/>
          <p:nvPr/>
        </p:nvSpPr>
        <p:spPr>
          <a:xfrm>
            <a:off x="768096" y="47548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txBox="1"/>
          <p:nvPr/>
        </p:nvSpPr>
        <p:spPr>
          <a:xfrm>
            <a:off x="1280160" y="4727448"/>
            <a:ext cx="10149840" cy="438912"/>
          </a:xfrm>
          <a:prstGeom prst="rect">
            <a:avLst/>
          </a:prstGeom>
          <a:noFill/>
          <a:ln/>
        </p:spPr>
        <p:txBody>
          <a:bodyPr wrap="square" lIns="0" tIns="0" rIns="0" bIns="0" rtlCol="0" anchor="ctr"/>
          <a:lstStyle/>
          <a:p>
            <a:pPr marL="0" indent="0">
              <a:buNone/>
            </a:pPr>
            <a:r>
              <a:rPr lang="en-US" sz="1500" b="1">
                <a:solidFill>
                  <a:srgbClr val="D9822B"/>
                </a:solidFill>
                <a:latin typeface="Calibri" pitchFamily="34" charset="0"/>
                <a:ea typeface="Calibri" pitchFamily="34" charset="-122"/>
                <a:cs typeface="Calibri" pitchFamily="34" charset="-120"/>
              </a:rPr>
              <a:t>Real-data validation</a:t>
            </a:r>
            <a:endParaRPr lang="en-US" sz="1500"/>
          </a:p>
        </p:txBody>
      </p:sp>
      <p:sp>
        <p:nvSpPr>
          <p:cNvPr id="19" name="Text 17"/>
          <p:cNvSpPr txBox="1"/>
          <p:nvPr/>
        </p:nvSpPr>
        <p:spPr>
          <a:xfrm>
            <a:off x="804672" y="523036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Never validate on synthetic data. The domain gap is invisible to a synthetic test set by construction, so hold-out data must be real [22].</a:t>
            </a:r>
            <a:endParaRPr lang="en-US" sz="1200"/>
          </a:p>
        </p:txBody>
      </p:sp>
      <p:sp>
        <p:nvSpPr>
          <p:cNvPr id="20" name="Shape 18"/>
          <p:cNvSpPr/>
          <p:nvPr/>
        </p:nvSpPr>
        <p:spPr>
          <a:xfrm>
            <a:off x="566928" y="5486400"/>
            <a:ext cx="11064240" cy="658368"/>
          </a:xfrm>
          <a:prstGeom prst="roundRect">
            <a:avLst>
              <a:gd name="adj" fmla="val 11111"/>
            </a:avLst>
          </a:prstGeom>
          <a:solidFill>
            <a:srgbClr val="0E1330"/>
          </a:solidFill>
          <a:ln w="15875">
            <a:solidFill>
              <a:srgbClr val="0E1330"/>
            </a:solidFill>
            <a:prstDash val="solid"/>
          </a:ln>
        </p:spPr>
      </p:sp>
      <p:sp>
        <p:nvSpPr>
          <p:cNvPr id="21" name="Text 19"/>
          <p:cNvSpPr txBox="1"/>
          <p:nvPr/>
        </p:nvSpPr>
        <p:spPr>
          <a:xfrm>
            <a:off x="804672" y="5669280"/>
            <a:ext cx="10588752" cy="329184"/>
          </a:xfrm>
          <a:prstGeom prst="rect">
            <a:avLst/>
          </a:prstGeom>
          <a:noFill/>
          <a:ln/>
        </p:spPr>
        <p:txBody>
          <a:bodyPr wrap="square" lIns="0" tIns="0" rIns="0" bIns="0" rtlCol="0" anchor="t"/>
          <a:lstStyle/>
          <a:p>
            <a:pPr marL="0" indent="0">
              <a:lnSpc>
                <a:spcPct val="112000"/>
              </a:lnSpc>
              <a:buNone/>
            </a:pPr>
            <a:r>
              <a:rPr lang="en-US" sz="1250">
                <a:solidFill>
                  <a:srgbClr val="E4E8F4"/>
                </a:solidFill>
                <a:latin typeface="Calibri" pitchFamily="34" charset="0"/>
                <a:ea typeface="Calibri" pitchFamily="34" charset="-122"/>
                <a:cs typeface="Calibri" pitchFamily="34" charset="-120"/>
              </a:rPr>
              <a:t>The same three moves transfer directly to tabular work: randomise what you cannot model, mix synthetic with real, and always validate against real hold-out data [10] [22].</a:t>
            </a:r>
            <a:endParaRPr lang="en-US" sz="1250"/>
          </a:p>
        </p:txBody>
      </p:sp>
      <p:sp>
        <p:nvSpPr>
          <p:cNvPr id="22" name="Text 2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[10] [21] [22] [23]</a:t>
            </a:r>
            <a:endParaRPr lang="en-US" sz="1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4 · IN SIMPLE WORDS</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GANs in simple words</a:t>
            </a:r>
            <a:endParaRPr lang="en-US" sz="3000"/>
          </a:p>
        </p:txBody>
      </p:sp>
      <p:sp>
        <p:nvSpPr>
          <p:cNvPr id="5" name="Shape 3"/>
          <p:cNvSpPr/>
          <p:nvPr/>
        </p:nvSpPr>
        <p:spPr>
          <a:xfrm>
            <a:off x="566928" y="1645920"/>
            <a:ext cx="11064240" cy="1115568"/>
          </a:xfrm>
          <a:prstGeom prst="roundRect">
            <a:avLst>
              <a:gd name="adj" fmla="val 5926"/>
            </a:avLst>
          </a:prstGeom>
          <a:solidFill>
            <a:srgbClr val="D6F2EC"/>
          </a:solidFill>
          <a:ln w="15875">
            <a:solidFill>
              <a:srgbClr val="00A896"/>
            </a:solidFill>
            <a:prstDash val="solid"/>
          </a:ln>
        </p:spPr>
      </p:sp>
      <p:sp>
        <p:nvSpPr>
          <p:cNvPr id="6" name="Shape 4"/>
          <p:cNvSpPr/>
          <p:nvPr/>
        </p:nvSpPr>
        <p:spPr>
          <a:xfrm>
            <a:off x="768096" y="1792224"/>
            <a:ext cx="384048" cy="384048"/>
          </a:xfrm>
          <a:prstGeom prst="ellipse">
            <a:avLst/>
          </a:prstGeom>
          <a:solidFill>
            <a:srgbClr val="00A896"/>
          </a:solidFill>
          <a:ln w="12700">
            <a:solidFill>
              <a:srgbClr val="00A896"/>
            </a:solidFill>
            <a:prstDash val="solid"/>
          </a:ln>
        </p:spPr>
      </p:sp>
      <p:sp>
        <p:nvSpPr>
          <p:cNvPr id="7" name="Text 5"/>
          <p:cNvSpPr txBox="1"/>
          <p:nvPr/>
        </p:nvSpPr>
        <p:spPr>
          <a:xfrm>
            <a:off x="768096" y="1792224"/>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280160" y="1764792"/>
            <a:ext cx="10149840"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The Generator</a:t>
            </a:r>
            <a:endParaRPr lang="en-US" sz="1500"/>
          </a:p>
        </p:txBody>
      </p:sp>
      <p:sp>
        <p:nvSpPr>
          <p:cNvPr id="9" name="Text 7"/>
          <p:cNvSpPr txBox="1"/>
          <p:nvPr/>
        </p:nvSpPr>
        <p:spPr>
          <a:xfrm>
            <a:off x="804672" y="2249424"/>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"I will create fake data that looks real." It starts from random noise and slowly learns to produce something convincing.</a:t>
            </a:r>
            <a:endParaRPr lang="en-US" sz="1200"/>
          </a:p>
        </p:txBody>
      </p:sp>
      <p:sp>
        <p:nvSpPr>
          <p:cNvPr id="10" name="Shape 8"/>
          <p:cNvSpPr/>
          <p:nvPr/>
        </p:nvSpPr>
        <p:spPr>
          <a:xfrm>
            <a:off x="566928" y="2907792"/>
            <a:ext cx="11064240" cy="1115568"/>
          </a:xfrm>
          <a:prstGeom prst="roundRect">
            <a:avLst>
              <a:gd name="adj" fmla="val 5926"/>
            </a:avLst>
          </a:prstGeom>
          <a:solidFill>
            <a:srgbClr val="EEF1F8"/>
          </a:solidFill>
          <a:ln w="15875">
            <a:solidFill>
              <a:srgbClr val="DCE6FA"/>
            </a:solidFill>
            <a:prstDash val="solid"/>
          </a:ln>
        </p:spPr>
      </p:sp>
      <p:sp>
        <p:nvSpPr>
          <p:cNvPr id="11" name="Shape 9"/>
          <p:cNvSpPr/>
          <p:nvPr/>
        </p:nvSpPr>
        <p:spPr>
          <a:xfrm>
            <a:off x="768096" y="3054096"/>
            <a:ext cx="384048" cy="384048"/>
          </a:xfrm>
          <a:prstGeom prst="ellipse">
            <a:avLst/>
          </a:prstGeom>
          <a:solidFill>
            <a:srgbClr val="2E3A8C"/>
          </a:solidFill>
          <a:ln w="12700">
            <a:solidFill>
              <a:srgbClr val="2E3A8C"/>
            </a:solidFill>
            <a:prstDash val="solid"/>
          </a:ln>
        </p:spPr>
      </p:sp>
      <p:sp>
        <p:nvSpPr>
          <p:cNvPr id="12" name="Text 10"/>
          <p:cNvSpPr txBox="1"/>
          <p:nvPr/>
        </p:nvSpPr>
        <p:spPr>
          <a:xfrm>
            <a:off x="768096" y="3054096"/>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3" name="Text 11"/>
          <p:cNvSpPr txBox="1"/>
          <p:nvPr/>
        </p:nvSpPr>
        <p:spPr>
          <a:xfrm>
            <a:off x="1280160" y="3026664"/>
            <a:ext cx="10149840" cy="438912"/>
          </a:xfrm>
          <a:prstGeom prst="rect">
            <a:avLst/>
          </a:prstGeom>
          <a:noFill/>
          <a:ln/>
        </p:spPr>
        <p:txBody>
          <a:bodyPr wrap="square" lIns="0" tIns="0" rIns="0" bIns="0" rtlCol="0" anchor="ctr"/>
          <a:lstStyle/>
          <a:p>
            <a:pPr marL="0" indent="0">
              <a:buNone/>
            </a:pPr>
            <a:r>
              <a:rPr lang="en-US" sz="1500" b="1">
                <a:solidFill>
                  <a:srgbClr val="2E3A8C"/>
                </a:solidFill>
                <a:latin typeface="Calibri" pitchFamily="34" charset="0"/>
                <a:ea typeface="Calibri" pitchFamily="34" charset="-122"/>
                <a:cs typeface="Calibri" pitchFamily="34" charset="-120"/>
              </a:rPr>
              <a:t>The Discriminator</a:t>
            </a:r>
            <a:endParaRPr lang="en-US" sz="1500"/>
          </a:p>
        </p:txBody>
      </p:sp>
      <p:sp>
        <p:nvSpPr>
          <p:cNvPr id="14" name="Text 12"/>
          <p:cNvSpPr txBox="1"/>
          <p:nvPr/>
        </p:nvSpPr>
        <p:spPr>
          <a:xfrm>
            <a:off x="804672" y="3511296"/>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"I will try to catch the fake data." It looks at real and generated examples side by side and learns to tell them apart.</a:t>
            </a:r>
            <a:endParaRPr lang="en-US" sz="1200"/>
          </a:p>
        </p:txBody>
      </p:sp>
      <p:sp>
        <p:nvSpPr>
          <p:cNvPr id="15" name="Shape 13"/>
          <p:cNvSpPr/>
          <p:nvPr/>
        </p:nvSpPr>
        <p:spPr>
          <a:xfrm>
            <a:off x="566928" y="4169664"/>
            <a:ext cx="11064240" cy="1115568"/>
          </a:xfrm>
          <a:prstGeom prst="roundRect">
            <a:avLst>
              <a:gd name="adj" fmla="val 5926"/>
            </a:avLst>
          </a:prstGeom>
          <a:solidFill>
            <a:srgbClr val="FBEADB"/>
          </a:solidFill>
          <a:ln w="15875">
            <a:solidFill>
              <a:srgbClr val="D9822B"/>
            </a:solidFill>
            <a:prstDash val="solid"/>
          </a:ln>
        </p:spPr>
      </p:sp>
      <p:sp>
        <p:nvSpPr>
          <p:cNvPr id="16" name="Shape 14"/>
          <p:cNvSpPr/>
          <p:nvPr/>
        </p:nvSpPr>
        <p:spPr>
          <a:xfrm>
            <a:off x="768096" y="4315968"/>
            <a:ext cx="384048" cy="384048"/>
          </a:xfrm>
          <a:prstGeom prst="ellipse">
            <a:avLst/>
          </a:prstGeom>
          <a:solidFill>
            <a:srgbClr val="D9822B"/>
          </a:solidFill>
          <a:ln w="12700">
            <a:solidFill>
              <a:srgbClr val="D9822B"/>
            </a:solidFill>
            <a:prstDash val="solid"/>
          </a:ln>
        </p:spPr>
      </p:sp>
      <p:sp>
        <p:nvSpPr>
          <p:cNvPr id="17" name="Text 15"/>
          <p:cNvSpPr txBox="1"/>
          <p:nvPr/>
        </p:nvSpPr>
        <p:spPr>
          <a:xfrm>
            <a:off x="768096" y="4315968"/>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txBox="1"/>
          <p:nvPr/>
        </p:nvSpPr>
        <p:spPr>
          <a:xfrm>
            <a:off x="1280160" y="4288536"/>
            <a:ext cx="10149840" cy="438912"/>
          </a:xfrm>
          <a:prstGeom prst="rect">
            <a:avLst/>
          </a:prstGeom>
          <a:noFill/>
          <a:ln/>
        </p:spPr>
        <p:txBody>
          <a:bodyPr wrap="square" lIns="0" tIns="0" rIns="0" bIns="0" rtlCol="0" anchor="ctr"/>
          <a:lstStyle/>
          <a:p>
            <a:pPr marL="0" indent="0">
              <a:buNone/>
            </a:pPr>
            <a:r>
              <a:rPr lang="en-US" sz="1500" b="1">
                <a:solidFill>
                  <a:srgbClr val="D9822B"/>
                </a:solidFill>
                <a:latin typeface="Calibri" pitchFamily="34" charset="0"/>
                <a:ea typeface="Calibri" pitchFamily="34" charset="-122"/>
                <a:cs typeface="Calibri" pitchFamily="34" charset="-120"/>
              </a:rPr>
              <a:t>The arms race</a:t>
            </a:r>
            <a:endParaRPr lang="en-US" sz="1500"/>
          </a:p>
        </p:txBody>
      </p:sp>
      <p:sp>
        <p:nvSpPr>
          <p:cNvPr id="19" name="Text 17"/>
          <p:cNvSpPr txBox="1"/>
          <p:nvPr/>
        </p:nvSpPr>
        <p:spPr>
          <a:xfrm>
            <a:off x="804672" y="477316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As the Discriminator gets better at spotting fakes, the Generator is forced to get better at fooling it — and vice versa.</a:t>
            </a:r>
            <a:endParaRPr lang="en-US" sz="1200"/>
          </a:p>
        </p:txBody>
      </p:sp>
      <p:sp>
        <p:nvSpPr>
          <p:cNvPr id="20" name="Shape 18"/>
          <p:cNvSpPr/>
          <p:nvPr/>
        </p:nvSpPr>
        <p:spPr>
          <a:xfrm>
            <a:off x="566928" y="5468112"/>
            <a:ext cx="11064240" cy="731520"/>
          </a:xfrm>
          <a:prstGeom prst="roundRect">
            <a:avLst>
              <a:gd name="adj" fmla="val 11111"/>
            </a:avLst>
          </a:prstGeom>
          <a:solidFill>
            <a:srgbClr val="0E1330"/>
          </a:solidFill>
          <a:ln w="15875">
            <a:solidFill>
              <a:srgbClr val="0E1330"/>
            </a:solidFill>
            <a:prstDash val="solid"/>
          </a:ln>
        </p:spPr>
      </p:sp>
      <p:sp>
        <p:nvSpPr>
          <p:cNvPr id="21" name="Text 19"/>
          <p:cNvSpPr txBox="1"/>
          <p:nvPr/>
        </p:nvSpPr>
        <p:spPr>
          <a:xfrm>
            <a:off x="804672" y="5559552"/>
            <a:ext cx="10588752" cy="548640"/>
          </a:xfrm>
          <a:prstGeom prst="rect">
            <a:avLst/>
          </a:prstGeom>
          <a:noFill/>
          <a:ln/>
        </p:spPr>
        <p:txBody>
          <a:bodyPr wrap="square" lIns="0" tIns="0" rIns="0" bIns="0" rtlCol="0" anchor="t"/>
          <a:lstStyle/>
          <a:p>
            <a:pPr marL="0" indent="0">
              <a:lnSpc>
                <a:spcPct val="112000"/>
              </a:lnSpc>
              <a:buNone/>
            </a:pPr>
            <a:r>
              <a:rPr lang="en-US" sz="1250">
                <a:solidFill>
                  <a:srgbClr val="E4E8F4"/>
                </a:solidFill>
                <a:latin typeface="Calibri" pitchFamily="34" charset="0"/>
                <a:ea typeface="Calibri" pitchFamily="34" charset="-122"/>
                <a:cs typeface="Calibri" pitchFamily="34" charset="-120"/>
              </a:rPr>
              <a:t>In practice, look at the output, not just the loss: if the generator finds one sample the discriminator cannot reject, everything starts to look alike (mode collapse) while the loss looks healthy [41]. The formal maths is in the Advanced appendix.</a:t>
            </a:r>
            <a:endParaRPr lang="en-US" sz="1250"/>
          </a:p>
        </p:txBody>
      </p:sp>
      <p:sp>
        <p:nvSpPr>
          <p:cNvPr id="22" name="Text 2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A conceptual summary — formal treatment in the Advanced appendix</a:t>
            </a:r>
            <a:endParaRPr lang="en-US" sz="1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5 · IN SIMPLE WORDS</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VAEs in simple words</a:t>
            </a:r>
            <a:endParaRPr lang="en-US" sz="3000"/>
          </a:p>
        </p:txBody>
      </p:sp>
      <p:sp>
        <p:nvSpPr>
          <p:cNvPr id="5" name="Shape 3"/>
          <p:cNvSpPr/>
          <p:nvPr/>
        </p:nvSpPr>
        <p:spPr>
          <a:xfrm>
            <a:off x="566928" y="1645920"/>
            <a:ext cx="11064240" cy="1115568"/>
          </a:xfrm>
          <a:prstGeom prst="roundRect">
            <a:avLst>
              <a:gd name="adj" fmla="val 5926"/>
            </a:avLst>
          </a:prstGeom>
          <a:solidFill>
            <a:srgbClr val="D6F2EC"/>
          </a:solidFill>
          <a:ln w="15875">
            <a:solidFill>
              <a:srgbClr val="00A896"/>
            </a:solidFill>
            <a:prstDash val="solid"/>
          </a:ln>
        </p:spPr>
      </p:sp>
      <p:sp>
        <p:nvSpPr>
          <p:cNvPr id="6" name="Shape 4"/>
          <p:cNvSpPr/>
          <p:nvPr/>
        </p:nvSpPr>
        <p:spPr>
          <a:xfrm>
            <a:off x="768096" y="1792224"/>
            <a:ext cx="384048" cy="384048"/>
          </a:xfrm>
          <a:prstGeom prst="ellipse">
            <a:avLst/>
          </a:prstGeom>
          <a:solidFill>
            <a:srgbClr val="00A896"/>
          </a:solidFill>
          <a:ln w="12700">
            <a:solidFill>
              <a:srgbClr val="00A896"/>
            </a:solidFill>
            <a:prstDash val="solid"/>
          </a:ln>
        </p:spPr>
      </p:sp>
      <p:sp>
        <p:nvSpPr>
          <p:cNvPr id="7" name="Text 5"/>
          <p:cNvSpPr txBox="1"/>
          <p:nvPr/>
        </p:nvSpPr>
        <p:spPr>
          <a:xfrm>
            <a:off x="768096" y="1792224"/>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280160" y="1764792"/>
            <a:ext cx="10149840"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Compress</a:t>
            </a:r>
            <a:endParaRPr lang="en-US" sz="1500"/>
          </a:p>
        </p:txBody>
      </p:sp>
      <p:sp>
        <p:nvSpPr>
          <p:cNvPr id="9" name="Text 7"/>
          <p:cNvSpPr txBox="1"/>
          <p:nvPr/>
        </p:nvSpPr>
        <p:spPr>
          <a:xfrm>
            <a:off x="804672" y="2249424"/>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An encoder squeezes each real example down into a small, dense summary — a latent representation of what matters about it.</a:t>
            </a:r>
            <a:endParaRPr lang="en-US" sz="1200"/>
          </a:p>
        </p:txBody>
      </p:sp>
      <p:sp>
        <p:nvSpPr>
          <p:cNvPr id="10" name="Shape 8"/>
          <p:cNvSpPr/>
          <p:nvPr/>
        </p:nvSpPr>
        <p:spPr>
          <a:xfrm>
            <a:off x="566928" y="2907792"/>
            <a:ext cx="11064240" cy="1115568"/>
          </a:xfrm>
          <a:prstGeom prst="roundRect">
            <a:avLst>
              <a:gd name="adj" fmla="val 5926"/>
            </a:avLst>
          </a:prstGeom>
          <a:solidFill>
            <a:srgbClr val="EEF1F8"/>
          </a:solidFill>
          <a:ln w="15875">
            <a:solidFill>
              <a:srgbClr val="DCE6FA"/>
            </a:solidFill>
            <a:prstDash val="solid"/>
          </a:ln>
        </p:spPr>
      </p:sp>
      <p:sp>
        <p:nvSpPr>
          <p:cNvPr id="11" name="Shape 9"/>
          <p:cNvSpPr/>
          <p:nvPr/>
        </p:nvSpPr>
        <p:spPr>
          <a:xfrm>
            <a:off x="768096" y="3054096"/>
            <a:ext cx="384048" cy="384048"/>
          </a:xfrm>
          <a:prstGeom prst="ellipse">
            <a:avLst/>
          </a:prstGeom>
          <a:solidFill>
            <a:srgbClr val="2E3A8C"/>
          </a:solidFill>
          <a:ln w="12700">
            <a:solidFill>
              <a:srgbClr val="2E3A8C"/>
            </a:solidFill>
            <a:prstDash val="solid"/>
          </a:ln>
        </p:spPr>
      </p:sp>
      <p:sp>
        <p:nvSpPr>
          <p:cNvPr id="12" name="Text 10"/>
          <p:cNvSpPr txBox="1"/>
          <p:nvPr/>
        </p:nvSpPr>
        <p:spPr>
          <a:xfrm>
            <a:off x="768096" y="3054096"/>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3" name="Text 11"/>
          <p:cNvSpPr txBox="1"/>
          <p:nvPr/>
        </p:nvSpPr>
        <p:spPr>
          <a:xfrm>
            <a:off x="1280160" y="3026664"/>
            <a:ext cx="10149840" cy="438912"/>
          </a:xfrm>
          <a:prstGeom prst="rect">
            <a:avLst/>
          </a:prstGeom>
          <a:noFill/>
          <a:ln/>
        </p:spPr>
        <p:txBody>
          <a:bodyPr wrap="square" lIns="0" tIns="0" rIns="0" bIns="0" rtlCol="0" anchor="ctr"/>
          <a:lstStyle/>
          <a:p>
            <a:pPr marL="0" indent="0">
              <a:buNone/>
            </a:pPr>
            <a:r>
              <a:rPr lang="en-US" sz="1500" b="1">
                <a:solidFill>
                  <a:srgbClr val="2E3A8C"/>
                </a:solidFill>
                <a:latin typeface="Calibri" pitchFamily="34" charset="0"/>
                <a:ea typeface="Calibri" pitchFamily="34" charset="-122"/>
                <a:cs typeface="Calibri" pitchFamily="34" charset="-120"/>
              </a:rPr>
              <a:t>Sample</a:t>
            </a:r>
            <a:endParaRPr lang="en-US" sz="1500"/>
          </a:p>
        </p:txBody>
      </p:sp>
      <p:sp>
        <p:nvSpPr>
          <p:cNvPr id="14" name="Text 12"/>
          <p:cNvSpPr txBox="1"/>
          <p:nvPr/>
        </p:nvSpPr>
        <p:spPr>
          <a:xfrm>
            <a:off x="804672" y="3511296"/>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Instead of one fixed summary, the model learns a range of plausible summaries and draws a new point from that range at random.</a:t>
            </a:r>
            <a:endParaRPr lang="en-US" sz="1200"/>
          </a:p>
        </p:txBody>
      </p:sp>
      <p:sp>
        <p:nvSpPr>
          <p:cNvPr id="15" name="Shape 13"/>
          <p:cNvSpPr/>
          <p:nvPr/>
        </p:nvSpPr>
        <p:spPr>
          <a:xfrm>
            <a:off x="566928" y="4169664"/>
            <a:ext cx="11064240" cy="1115568"/>
          </a:xfrm>
          <a:prstGeom prst="roundRect">
            <a:avLst>
              <a:gd name="adj" fmla="val 5926"/>
            </a:avLst>
          </a:prstGeom>
          <a:solidFill>
            <a:srgbClr val="FBEADB"/>
          </a:solidFill>
          <a:ln w="15875">
            <a:solidFill>
              <a:srgbClr val="D9822B"/>
            </a:solidFill>
            <a:prstDash val="solid"/>
          </a:ln>
        </p:spPr>
      </p:sp>
      <p:sp>
        <p:nvSpPr>
          <p:cNvPr id="16" name="Shape 14"/>
          <p:cNvSpPr/>
          <p:nvPr/>
        </p:nvSpPr>
        <p:spPr>
          <a:xfrm>
            <a:off x="768096" y="4315968"/>
            <a:ext cx="384048" cy="384048"/>
          </a:xfrm>
          <a:prstGeom prst="ellipse">
            <a:avLst/>
          </a:prstGeom>
          <a:solidFill>
            <a:srgbClr val="D9822B"/>
          </a:solidFill>
          <a:ln w="12700">
            <a:solidFill>
              <a:srgbClr val="D9822B"/>
            </a:solidFill>
            <a:prstDash val="solid"/>
          </a:ln>
        </p:spPr>
      </p:sp>
      <p:sp>
        <p:nvSpPr>
          <p:cNvPr id="17" name="Text 15"/>
          <p:cNvSpPr txBox="1"/>
          <p:nvPr/>
        </p:nvSpPr>
        <p:spPr>
          <a:xfrm>
            <a:off x="768096" y="4315968"/>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txBox="1"/>
          <p:nvPr/>
        </p:nvSpPr>
        <p:spPr>
          <a:xfrm>
            <a:off x="1280160" y="4288536"/>
            <a:ext cx="10149840" cy="438912"/>
          </a:xfrm>
          <a:prstGeom prst="rect">
            <a:avLst/>
          </a:prstGeom>
          <a:noFill/>
          <a:ln/>
        </p:spPr>
        <p:txBody>
          <a:bodyPr wrap="square" lIns="0" tIns="0" rIns="0" bIns="0" rtlCol="0" anchor="ctr"/>
          <a:lstStyle/>
          <a:p>
            <a:pPr marL="0" indent="0">
              <a:buNone/>
            </a:pPr>
            <a:r>
              <a:rPr lang="en-US" sz="1500" b="1">
                <a:solidFill>
                  <a:srgbClr val="D9822B"/>
                </a:solidFill>
                <a:latin typeface="Calibri" pitchFamily="34" charset="0"/>
                <a:ea typeface="Calibri" pitchFamily="34" charset="-122"/>
                <a:cs typeface="Calibri" pitchFamily="34" charset="-120"/>
              </a:rPr>
              <a:t>Reconstruct / generate</a:t>
            </a:r>
            <a:endParaRPr lang="en-US" sz="1500"/>
          </a:p>
        </p:txBody>
      </p:sp>
      <p:sp>
        <p:nvSpPr>
          <p:cNvPr id="19" name="Text 17"/>
          <p:cNvSpPr txBox="1"/>
          <p:nvPr/>
        </p:nvSpPr>
        <p:spPr>
          <a:xfrm>
            <a:off x="804672" y="477316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A decoder expands the sampled point back out into something in the shape of the original data — a reconstruction, or a brand-new example.</a:t>
            </a:r>
            <a:endParaRPr lang="en-US" sz="1200"/>
          </a:p>
        </p:txBody>
      </p:sp>
      <p:sp>
        <p:nvSpPr>
          <p:cNvPr id="20" name="Shape 18"/>
          <p:cNvSpPr/>
          <p:nvPr/>
        </p:nvSpPr>
        <p:spPr>
          <a:xfrm>
            <a:off x="566928" y="5468112"/>
            <a:ext cx="11064240" cy="731520"/>
          </a:xfrm>
          <a:prstGeom prst="roundRect">
            <a:avLst>
              <a:gd name="adj" fmla="val 11111"/>
            </a:avLst>
          </a:prstGeom>
          <a:solidFill>
            <a:srgbClr val="0E1330"/>
          </a:solidFill>
          <a:ln w="15875">
            <a:solidFill>
              <a:srgbClr val="0E1330"/>
            </a:solidFill>
            <a:prstDash val="solid"/>
          </a:ln>
        </p:spPr>
      </p:sp>
      <p:sp>
        <p:nvSpPr>
          <p:cNvPr id="21" name="Text 19"/>
          <p:cNvSpPr txBox="1"/>
          <p:nvPr/>
        </p:nvSpPr>
        <p:spPr>
          <a:xfrm>
            <a:off x="804672" y="5559552"/>
            <a:ext cx="10588752" cy="548640"/>
          </a:xfrm>
          <a:prstGeom prst="rect">
            <a:avLst/>
          </a:prstGeom>
          <a:noFill/>
          <a:ln/>
        </p:spPr>
        <p:txBody>
          <a:bodyPr wrap="square" lIns="0" tIns="0" rIns="0" bIns="0" rtlCol="0" anchor="t"/>
          <a:lstStyle/>
          <a:p>
            <a:pPr marL="0" indent="0">
              <a:lnSpc>
                <a:spcPct val="112000"/>
              </a:lnSpc>
              <a:buNone/>
            </a:pPr>
            <a:r>
              <a:rPr lang="en-US" sz="1250">
                <a:solidFill>
                  <a:srgbClr val="E4E8F4"/>
                </a:solidFill>
                <a:latin typeface="Calibri" pitchFamily="34" charset="0"/>
                <a:ea typeface="Calibri" pitchFamily="34" charset="-122"/>
                <a:cs typeface="Calibri" pitchFamily="34" charset="-120"/>
              </a:rPr>
              <a:t>That is the whole idea: compress, sample, rebuild. Because the decoder can rebuild from any sampled point, it can generate new examples. The formal maths (ELBO, reparameterisation) is in the Advanced appendix.</a:t>
            </a:r>
            <a:endParaRPr lang="en-US" sz="1250"/>
          </a:p>
        </p:txBody>
      </p:sp>
      <p:sp>
        <p:nvSpPr>
          <p:cNvPr id="22" name="Text 2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A conceptual summary — formal treatment in the Advanced appendix</a:t>
            </a:r>
            <a:endParaRPr lang="en-US" sz="1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5</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VAEs: what you gain, what you give up</a:t>
            </a:r>
            <a:endParaRPr lang="en-US" sz="3000"/>
          </a:p>
        </p:txBody>
      </p:sp>
      <p:sp>
        <p:nvSpPr>
          <p:cNvPr id="5" name="Shape 3"/>
          <p:cNvSpPr/>
          <p:nvPr/>
        </p:nvSpPr>
        <p:spPr>
          <a:xfrm>
            <a:off x="566928" y="1664208"/>
            <a:ext cx="5440680" cy="1600200"/>
          </a:xfrm>
          <a:prstGeom prst="roundRect">
            <a:avLst>
              <a:gd name="adj" fmla="val 3636"/>
            </a:avLst>
          </a:prstGeom>
          <a:solidFill>
            <a:srgbClr val="D6F2EC"/>
          </a:solidFill>
          <a:ln w="15875">
            <a:solidFill>
              <a:srgbClr val="00A896"/>
            </a:solidFill>
            <a:prstDash val="solid"/>
          </a:ln>
        </p:spPr>
      </p:sp>
      <p:sp>
        <p:nvSpPr>
          <p:cNvPr id="6" name="Text 4"/>
          <p:cNvSpPr txBox="1"/>
          <p:nvPr/>
        </p:nvSpPr>
        <p:spPr>
          <a:xfrm>
            <a:off x="804672" y="1819656"/>
            <a:ext cx="4965192"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Advantages</a:t>
            </a:r>
            <a:endParaRPr lang="en-US" sz="1500"/>
          </a:p>
        </p:txBody>
      </p:sp>
      <p:sp>
        <p:nvSpPr>
          <p:cNvPr id="7" name="Text 5"/>
          <p:cNvSpPr txBox="1"/>
          <p:nvPr/>
        </p:nvSpPr>
        <p:spPr>
          <a:xfrm>
            <a:off x="804672" y="2322576"/>
            <a:ext cx="4965192" cy="120700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Stable, non-adversarial training. A smooth latent space that supports interpolation, conditioning and anomaly scoring [4] [7].</a:t>
            </a:r>
            <a:endParaRPr lang="en-US" sz="1200"/>
          </a:p>
        </p:txBody>
      </p:sp>
      <p:sp>
        <p:nvSpPr>
          <p:cNvPr id="8" name="Shape 6"/>
          <p:cNvSpPr/>
          <p:nvPr/>
        </p:nvSpPr>
        <p:spPr>
          <a:xfrm>
            <a:off x="6190488" y="1664208"/>
            <a:ext cx="5440680" cy="1600200"/>
          </a:xfrm>
          <a:prstGeom prst="roundRect">
            <a:avLst>
              <a:gd name="adj" fmla="val 3636"/>
            </a:avLst>
          </a:prstGeom>
          <a:solidFill>
            <a:srgbClr val="FBEADB"/>
          </a:solidFill>
          <a:ln w="15875">
            <a:solidFill>
              <a:srgbClr val="D9822B"/>
            </a:solidFill>
            <a:prstDash val="solid"/>
          </a:ln>
        </p:spPr>
      </p:sp>
      <p:sp>
        <p:nvSpPr>
          <p:cNvPr id="9" name="Text 7"/>
          <p:cNvSpPr txBox="1"/>
          <p:nvPr/>
        </p:nvSpPr>
        <p:spPr>
          <a:xfrm>
            <a:off x="6428232" y="1819656"/>
            <a:ext cx="4965192" cy="438912"/>
          </a:xfrm>
          <a:prstGeom prst="rect">
            <a:avLst/>
          </a:prstGeom>
          <a:noFill/>
          <a:ln/>
        </p:spPr>
        <p:txBody>
          <a:bodyPr wrap="square" lIns="0" tIns="0" rIns="0" bIns="0" rtlCol="0" anchor="ctr"/>
          <a:lstStyle/>
          <a:p>
            <a:pPr marL="0" indent="0">
              <a:buNone/>
            </a:pPr>
            <a:r>
              <a:rPr lang="en-US" sz="1500" b="1">
                <a:solidFill>
                  <a:srgbClr val="D9822B"/>
                </a:solidFill>
                <a:latin typeface="Calibri" pitchFamily="34" charset="0"/>
                <a:ea typeface="Calibri" pitchFamily="34" charset="-122"/>
                <a:cs typeface="Calibri" pitchFamily="34" charset="-120"/>
              </a:rPr>
              <a:t>Limitations</a:t>
            </a:r>
            <a:endParaRPr lang="en-US" sz="1500"/>
          </a:p>
        </p:txBody>
      </p:sp>
      <p:sp>
        <p:nvSpPr>
          <p:cNvPr id="10" name="Text 8"/>
          <p:cNvSpPr txBox="1"/>
          <p:nvPr/>
        </p:nvSpPr>
        <p:spPr>
          <a:xfrm>
            <a:off x="6428232" y="2322576"/>
            <a:ext cx="4965192" cy="120700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Averaging over plausible outputs produces blurred images and over-smoothed numeric columns. Some latent dimensions can end up unused [7] [38].</a:t>
            </a:r>
            <a:endParaRPr lang="en-US" sz="120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3611880"/>
          <a:ext cx="11064240" cy="1371600"/>
        </p:xfrm>
        <a:graphic>
          <a:graphicData uri="http://schemas.openxmlformats.org/drawingml/2006/table">
            <a:tbl>
              <a:tblPr/>
              <a:tblGrid>
                <a:gridCol w="20116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457200">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Variant</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Modification</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Use case</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0E1330"/>
                    </a:solidFill>
                  </a:tcPr>
                </a:tc>
                <a:extLst>
                  <a:ext uri="{0D108BD9-81ED-4DB2-BD59-A6C34878D82A}">
                    <a16:rowId xmlns:a16="http://schemas.microsoft.com/office/drawing/2014/main" val="10000"/>
                  </a:ext>
                </a:extLst>
              </a:tr>
              <a:tr h="45720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Conditional VAE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Conditions encoder and decoder on a label</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Generating a specified class — the VAE analogue of a conditional GAN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45720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TVAE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Tabular encoding with mode-specific normalisation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Frequently matches or beats CTGAN with far less tuning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2" name="Text 9"/>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[4] [7] [11] [38]</a:t>
            </a:r>
            <a:endParaRPr lang="en-US" sz="1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6</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Diffusion models: destroy, then learn to rebuild</a:t>
            </a:r>
            <a:endParaRPr lang="en-US" sz="3000"/>
          </a:p>
        </p:txBody>
      </p:sp>
      <p:pic>
        <p:nvPicPr>
          <p:cNvPr id="5" name="Image 0" descr="img/diffusion.png"/>
          <p:cNvPicPr>
            <a:picLocks noChangeAspect="1"/>
          </p:cNvPicPr>
          <p:nvPr/>
        </p:nvPicPr>
        <p:blipFill>
          <a:blip r:embed="rId3"/>
          <a:stretch>
            <a:fillRect/>
          </a:stretch>
        </p:blipFill>
        <p:spPr>
          <a:xfrm>
            <a:off x="566928" y="2240280"/>
            <a:ext cx="11064240" cy="1722899"/>
          </a:xfrm>
          <a:prstGeom prst="rect">
            <a:avLst/>
          </a:prstGeom>
        </p:spPr>
      </p:pic>
      <p:sp>
        <p:nvSpPr>
          <p:cNvPr id="6" name="Text 3"/>
          <p:cNvSpPr txBox="1"/>
          <p:nvPr/>
        </p:nvSpPr>
        <p:spPr>
          <a:xfrm>
            <a:off x="566928" y="5074920"/>
            <a:ext cx="10881360" cy="731520"/>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To generate new data, start from pure noise and run the learned reverse steps. The forward process has no learned parameters — the only thing the model learns is how to remove noise [5] [6].</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[5] [6]</a:t>
            </a:r>
            <a:endParaRPr lang="en-US" sz="1000"/>
          </a:p>
        </p:txBody>
      </p:sp>
      <p:sp>
        <p:nvSpPr>
          <p:cNvPr id="8" name="Label"/>
          <p:cNvSpPr txBox="1"/>
          <p:nvPr/>
        </p:nvSpPr>
        <p:spPr>
          <a:xfrm>
            <a:off x="566928" y="1691640"/>
            <a:ext cx="11064240" cy="365760"/>
          </a:xfrm>
          <a:prstGeom prst="rect">
            <a:avLst/>
          </a:prstGeom>
          <a:noFill/>
          <a:ln/>
        </p:spPr>
        <p:txBody>
          <a:bodyPr wrap="square" lIns="0" tIns="0" rIns="0" bIns="0" rtlCol="0" anchor="ctr"/>
          <a:lstStyle/>
          <a:p>
            <a:pPr marL="0" indent="0">
              <a:buNone/>
            </a:pPr>
            <a:r>
              <a:rPr lang="en-US" sz="1500" b="1">
                <a:solidFill>
                  <a:srgbClr val="E08A3A"/>
                </a:solidFill>
                <a:latin typeface="Calibri" pitchFamily="34" charset="0"/>
                <a:ea typeface="Calibri" pitchFamily="34" charset="-122"/>
                <a:cs typeface="Calibri" pitchFamily="34" charset="-120"/>
              </a:rPr>
              <a:t>Forward process (fixed): gradually add noise until nothing is left  →</a:t>
            </a:r>
            <a:endParaRPr lang="en-US" sz="1500"/>
          </a:p>
        </p:txBody>
      </p:sp>
      <p:sp>
        <p:nvSpPr>
          <p:cNvPr id="9" name="Label"/>
          <p:cNvSpPr txBox="1"/>
          <p:nvPr/>
        </p:nvSpPr>
        <p:spPr>
          <a:xfrm>
            <a:off x="566928" y="4480560"/>
            <a:ext cx="11064240" cy="365760"/>
          </a:xfrm>
          <a:prstGeom prst="rect">
            <a:avLst/>
          </a:prstGeom>
          <a:noFill/>
          <a:ln/>
        </p:spPr>
        <p:txBody>
          <a:bodyPr wrap="square" lIns="0" tIns="0" rIns="0" bIns="0" rtlCol="0" anchor="ctr"/>
          <a:lstStyle/>
          <a:p>
            <a:pPr marL="0" indent="0" algn="r">
              <a:buNone/>
            </a:pPr>
            <a:r>
              <a:rPr lang="en-US" sz="1500" b="1">
                <a:solidFill>
                  <a:srgbClr val="2E3A8C"/>
                </a:solidFill>
                <a:latin typeface="Calibri" pitchFamily="34" charset="0"/>
                <a:ea typeface="Calibri" pitchFamily="34" charset="-122"/>
                <a:cs typeface="Calibri" pitchFamily="34" charset="-120"/>
              </a:rPr>
              <a:t>←  Reverse process (learned): a network removes a little noise at each step</a:t>
            </a:r>
            <a:endParaRPr lang="en-US" sz="1500"/>
          </a:p>
        </p:txBody>
      </p:sp>
      <p:sp>
        <p:nvSpPr>
          <p:cNvPr id="10" name="Label"/>
          <p:cNvSpPr txBox="1"/>
          <p:nvPr/>
        </p:nvSpPr>
        <p:spPr>
          <a:xfrm>
            <a:off x="566928" y="3959352"/>
            <a:ext cx="2286000" cy="365760"/>
          </a:xfrm>
          <a:prstGeom prst="rect">
            <a:avLst/>
          </a:prstGeom>
          <a:noFill/>
          <a:ln/>
        </p:spPr>
        <p:txBody>
          <a:bodyPr wrap="square" lIns="0" tIns="0" rIns="0" bIns="0" rtlCol="0" anchor="ctr"/>
          <a:lstStyle/>
          <a:p>
            <a:pPr marL="0" indent="0">
              <a:buNone/>
            </a:pPr>
            <a:r>
              <a:rPr lang="en-US" sz="1500" b="1">
                <a:solidFill>
                  <a:srgbClr val="0E1330"/>
                </a:solidFill>
                <a:latin typeface="Calibri" pitchFamily="34" charset="0"/>
                <a:ea typeface="Calibri" pitchFamily="34" charset="-122"/>
                <a:cs typeface="Calibri" pitchFamily="34" charset="-120"/>
              </a:rPr>
              <a:t>Real data</a:t>
            </a:r>
            <a:endParaRPr lang="en-US" sz="1500"/>
          </a:p>
        </p:txBody>
      </p:sp>
      <p:sp>
        <p:nvSpPr>
          <p:cNvPr id="11" name="Label"/>
          <p:cNvSpPr txBox="1"/>
          <p:nvPr/>
        </p:nvSpPr>
        <p:spPr>
          <a:xfrm>
            <a:off x="9345168" y="3959352"/>
            <a:ext cx="2286000" cy="365760"/>
          </a:xfrm>
          <a:prstGeom prst="rect">
            <a:avLst/>
          </a:prstGeom>
          <a:noFill/>
          <a:ln/>
        </p:spPr>
        <p:txBody>
          <a:bodyPr wrap="square" lIns="0" tIns="0" rIns="0" bIns="0" rtlCol="0" anchor="ctr"/>
          <a:lstStyle/>
          <a:p>
            <a:pPr marL="0" indent="0" algn="r">
              <a:buNone/>
            </a:pPr>
            <a:r>
              <a:rPr lang="en-US" sz="1500" b="1">
                <a:solidFill>
                  <a:srgbClr val="0E1330"/>
                </a:solidFill>
                <a:latin typeface="Calibri" pitchFamily="34" charset="0"/>
                <a:ea typeface="Calibri" pitchFamily="34" charset="-122"/>
                <a:cs typeface="Calibri" pitchFamily="34" charset="-120"/>
              </a:rPr>
              <a:t>Pure noise</a:t>
            </a:r>
            <a:endParaRPr lang="en-US" sz="15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TOPIC 6</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Steering diffusion, and what it costs</a:t>
            </a:r>
            <a:endParaRPr lang="en-US" sz="3000"/>
          </a:p>
        </p:txBody>
      </p:sp>
      <p:sp>
        <p:nvSpPr>
          <p:cNvPr id="5" name="Shape 3"/>
          <p:cNvSpPr/>
          <p:nvPr/>
        </p:nvSpPr>
        <p:spPr>
          <a:xfrm>
            <a:off x="566928" y="1691640"/>
            <a:ext cx="11064240" cy="1234440"/>
          </a:xfrm>
          <a:prstGeom prst="roundRect">
            <a:avLst>
              <a:gd name="adj" fmla="val 7407"/>
            </a:avLst>
          </a:prstGeom>
          <a:solidFill>
            <a:srgbClr val="EEF1F8"/>
          </a:solidFill>
          <a:ln w="15875">
            <a:solidFill>
              <a:srgbClr val="DCE6FA"/>
            </a:solidFill>
            <a:prstDash val="solid"/>
          </a:ln>
        </p:spPr>
      </p:sp>
      <p:sp>
        <p:nvSpPr>
          <p:cNvPr id="6" name="Shape 4"/>
          <p:cNvSpPr/>
          <p:nvPr/>
        </p:nvSpPr>
        <p:spPr>
          <a:xfrm>
            <a:off x="768096" y="1837944"/>
            <a:ext cx="384048" cy="384048"/>
          </a:xfrm>
          <a:prstGeom prst="ellipse">
            <a:avLst/>
          </a:prstGeom>
          <a:solidFill>
            <a:srgbClr val="2E3A8C"/>
          </a:solidFill>
          <a:ln w="12700">
            <a:solidFill>
              <a:srgbClr val="2E3A8C"/>
            </a:solidFill>
            <a:prstDash val="solid"/>
          </a:ln>
        </p:spPr>
      </p:sp>
      <p:sp>
        <p:nvSpPr>
          <p:cNvPr id="7" name="Text 5"/>
          <p:cNvSpPr txBox="1"/>
          <p:nvPr/>
        </p:nvSpPr>
        <p:spPr>
          <a:xfrm>
            <a:off x="768096" y="1837944"/>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280160" y="1810512"/>
            <a:ext cx="10149840" cy="438912"/>
          </a:xfrm>
          <a:prstGeom prst="rect">
            <a:avLst/>
          </a:prstGeom>
          <a:noFill/>
          <a:ln/>
        </p:spPr>
        <p:txBody>
          <a:bodyPr wrap="square" lIns="0" tIns="0" rIns="0" bIns="0" rtlCol="0" anchor="ctr"/>
          <a:lstStyle/>
          <a:p>
            <a:pPr marL="0" indent="0">
              <a:buNone/>
            </a:pPr>
            <a:r>
              <a:rPr lang="en-US" sz="1400" b="1">
                <a:solidFill>
                  <a:srgbClr val="2E3A8C"/>
                </a:solidFill>
                <a:latin typeface="Calibri" pitchFamily="34" charset="0"/>
                <a:ea typeface="Calibri" pitchFamily="34" charset="-122"/>
                <a:cs typeface="Calibri" pitchFamily="34" charset="-120"/>
              </a:rPr>
              <a:t>Conditioning</a:t>
            </a:r>
            <a:endParaRPr lang="en-US" sz="1400"/>
          </a:p>
        </p:txBody>
      </p:sp>
      <p:sp>
        <p:nvSpPr>
          <p:cNvPr id="9" name="Text 7"/>
          <p:cNvSpPr txBox="1"/>
          <p:nvPr/>
        </p:nvSpPr>
        <p:spPr>
          <a:xfrm>
            <a:off x="804672" y="2295144"/>
            <a:ext cx="10588752" cy="45720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Give the model a class label or a partial record while it generates, so the output is steered toward what you asked for [8] [40].</a:t>
            </a:r>
            <a:endParaRPr lang="en-US" sz="1150"/>
          </a:p>
        </p:txBody>
      </p:sp>
      <p:sp>
        <p:nvSpPr>
          <p:cNvPr id="10" name="Shape 8"/>
          <p:cNvSpPr/>
          <p:nvPr/>
        </p:nvSpPr>
        <p:spPr>
          <a:xfrm>
            <a:off x="566928" y="3154680"/>
            <a:ext cx="11064240" cy="1234440"/>
          </a:xfrm>
          <a:prstGeom prst="roundRect">
            <a:avLst>
              <a:gd name="adj" fmla="val 7407"/>
            </a:avLst>
          </a:prstGeom>
          <a:solidFill>
            <a:srgbClr val="D6F2EC"/>
          </a:solidFill>
          <a:ln w="15875">
            <a:solidFill>
              <a:srgbClr val="00A896"/>
            </a:solidFill>
            <a:prstDash val="solid"/>
          </a:ln>
        </p:spPr>
      </p:sp>
      <p:sp>
        <p:nvSpPr>
          <p:cNvPr id="11" name="Shape 9"/>
          <p:cNvSpPr/>
          <p:nvPr/>
        </p:nvSpPr>
        <p:spPr>
          <a:xfrm>
            <a:off x="768096" y="3300984"/>
            <a:ext cx="384048" cy="384048"/>
          </a:xfrm>
          <a:prstGeom prst="ellipse">
            <a:avLst/>
          </a:prstGeom>
          <a:solidFill>
            <a:srgbClr val="00A896"/>
          </a:solidFill>
          <a:ln w="12700">
            <a:solidFill>
              <a:srgbClr val="00A896"/>
            </a:solidFill>
            <a:prstDash val="solid"/>
          </a:ln>
        </p:spPr>
      </p:sp>
      <p:sp>
        <p:nvSpPr>
          <p:cNvPr id="12" name="Text 10"/>
          <p:cNvSpPr txBox="1"/>
          <p:nvPr/>
        </p:nvSpPr>
        <p:spPr>
          <a:xfrm>
            <a:off x="768096" y="3300984"/>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3" name="Text 11"/>
          <p:cNvSpPr txBox="1"/>
          <p:nvPr/>
        </p:nvSpPr>
        <p:spPr>
          <a:xfrm>
            <a:off x="1280160" y="3273552"/>
            <a:ext cx="10149840" cy="438912"/>
          </a:xfrm>
          <a:prstGeom prst="rect">
            <a:avLst/>
          </a:prstGeom>
          <a:noFill/>
          <a:ln/>
        </p:spPr>
        <p:txBody>
          <a:bodyPr wrap="square" lIns="0" tIns="0" rIns="0" bIns="0" rtlCol="0" anchor="ctr"/>
          <a:lstStyle/>
          <a:p>
            <a:pPr marL="0" indent="0">
              <a:buNone/>
            </a:pPr>
            <a:r>
              <a:rPr lang="en-US" sz="1400" b="1">
                <a:solidFill>
                  <a:srgbClr val="00A896"/>
                </a:solidFill>
                <a:latin typeface="Calibri" pitchFamily="34" charset="0"/>
                <a:ea typeface="Calibri" pitchFamily="34" charset="-122"/>
                <a:cs typeface="Calibri" pitchFamily="34" charset="-120"/>
              </a:rPr>
              <a:t>Sampling cost</a:t>
            </a:r>
            <a:endParaRPr lang="en-US" sz="1400"/>
          </a:p>
        </p:txBody>
      </p:sp>
      <p:sp>
        <p:nvSpPr>
          <p:cNvPr id="14" name="Text 12"/>
          <p:cNvSpPr txBox="1"/>
          <p:nvPr/>
        </p:nvSpPr>
        <p:spPr>
          <a:xfrm>
            <a:off x="804672" y="3758184"/>
            <a:ext cx="10588752" cy="45720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Generating needs many sequential network passes — the main practical drawback against GANs, and the reason the trilemma bites [5] [33].</a:t>
            </a:r>
            <a:endParaRPr lang="en-US" sz="1150"/>
          </a:p>
        </p:txBody>
      </p:sp>
      <p:sp>
        <p:nvSpPr>
          <p:cNvPr id="15" name="Shape 13"/>
          <p:cNvSpPr/>
          <p:nvPr/>
        </p:nvSpPr>
        <p:spPr>
          <a:xfrm>
            <a:off x="566928" y="4617720"/>
            <a:ext cx="11064240" cy="1234440"/>
          </a:xfrm>
          <a:prstGeom prst="roundRect">
            <a:avLst>
              <a:gd name="adj" fmla="val 7407"/>
            </a:avLst>
          </a:prstGeom>
          <a:solidFill>
            <a:srgbClr val="FBEADB"/>
          </a:solidFill>
          <a:ln w="15875">
            <a:solidFill>
              <a:srgbClr val="D9822B"/>
            </a:solidFill>
            <a:prstDash val="solid"/>
          </a:ln>
        </p:spPr>
      </p:sp>
      <p:sp>
        <p:nvSpPr>
          <p:cNvPr id="16" name="Shape 14"/>
          <p:cNvSpPr/>
          <p:nvPr/>
        </p:nvSpPr>
        <p:spPr>
          <a:xfrm>
            <a:off x="768096" y="4764024"/>
            <a:ext cx="384048" cy="384048"/>
          </a:xfrm>
          <a:prstGeom prst="ellipse">
            <a:avLst/>
          </a:prstGeom>
          <a:solidFill>
            <a:srgbClr val="D9822B"/>
          </a:solidFill>
          <a:ln w="12700">
            <a:solidFill>
              <a:srgbClr val="D9822B"/>
            </a:solidFill>
            <a:prstDash val="solid"/>
          </a:ln>
        </p:spPr>
      </p:sp>
      <p:sp>
        <p:nvSpPr>
          <p:cNvPr id="17" name="Text 15"/>
          <p:cNvSpPr txBox="1"/>
          <p:nvPr/>
        </p:nvSpPr>
        <p:spPr>
          <a:xfrm>
            <a:off x="768096" y="4764024"/>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txBox="1"/>
          <p:nvPr/>
        </p:nvSpPr>
        <p:spPr>
          <a:xfrm>
            <a:off x="1280160" y="4736592"/>
            <a:ext cx="10149840" cy="438912"/>
          </a:xfrm>
          <a:prstGeom prst="rect">
            <a:avLst/>
          </a:prstGeom>
          <a:noFill/>
          <a:ln/>
        </p:spPr>
        <p:txBody>
          <a:bodyPr wrap="square" lIns="0" tIns="0" rIns="0" bIns="0" rtlCol="0" anchor="ctr"/>
          <a:lstStyle/>
          <a:p>
            <a:pPr marL="0" indent="0">
              <a:buNone/>
            </a:pPr>
            <a:r>
              <a:rPr lang="en-US" sz="1400" b="1">
                <a:solidFill>
                  <a:srgbClr val="D9822B"/>
                </a:solidFill>
                <a:latin typeface="Calibri" pitchFamily="34" charset="0"/>
                <a:ea typeface="Calibri" pitchFamily="34" charset="-122"/>
                <a:cs typeface="Calibri" pitchFamily="34" charset="-120"/>
              </a:rPr>
              <a:t>Diffusion for tables: TabDDPM</a:t>
            </a:r>
            <a:endParaRPr lang="en-US" sz="1400"/>
          </a:p>
        </p:txBody>
      </p:sp>
      <p:sp>
        <p:nvSpPr>
          <p:cNvPr id="19" name="Text 17"/>
          <p:cNvSpPr txBox="1"/>
          <p:nvPr/>
        </p:nvSpPr>
        <p:spPr>
          <a:xfrm>
            <a:off x="804672" y="5221224"/>
            <a:ext cx="10588752" cy="45720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TabDDPM handles numeric and categorical columns with two kinds of noise, and reports better results than GAN and VAE alternatives across benchmarks [12].</a:t>
            </a:r>
            <a:endParaRPr lang="en-US" sz="1150"/>
          </a:p>
        </p:txBody>
      </p:sp>
      <p:sp>
        <p:nvSpPr>
          <p:cNvPr id="27" name="Text 25"/>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[5] [8] [12] [33] [40]</a:t>
            </a:r>
            <a:endParaRPr lang="en-US" sz="1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LEARNING CHECK</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Five-minute check: compare the families</a:t>
            </a:r>
            <a:endParaRPr lang="en-US" sz="3000"/>
          </a:p>
        </p:txBody>
      </p:sp>
      <p:sp>
        <p:nvSpPr>
          <p:cNvPr id="5" name="Shape 3"/>
          <p:cNvSpPr/>
          <p:nvPr/>
        </p:nvSpPr>
        <p:spPr>
          <a:xfrm>
            <a:off x="566928" y="1737360"/>
            <a:ext cx="11064240" cy="1234440"/>
          </a:xfrm>
          <a:prstGeom prst="roundRect">
            <a:avLst>
              <a:gd name="adj" fmla="val 5926"/>
            </a:avLst>
          </a:prstGeom>
          <a:solidFill>
            <a:srgbClr val="D6F2EC"/>
          </a:solidFill>
          <a:ln w="15875">
            <a:solidFill>
              <a:srgbClr val="00A896"/>
            </a:solidFill>
            <a:prstDash val="solid"/>
          </a:ln>
        </p:spPr>
      </p:sp>
      <p:sp>
        <p:nvSpPr>
          <p:cNvPr id="6" name="Shape 4"/>
          <p:cNvSpPr/>
          <p:nvPr/>
        </p:nvSpPr>
        <p:spPr>
          <a:xfrm>
            <a:off x="768096" y="1920240"/>
            <a:ext cx="384048" cy="384048"/>
          </a:xfrm>
          <a:prstGeom prst="ellipse">
            <a:avLst/>
          </a:prstGeom>
          <a:solidFill>
            <a:srgbClr val="00A896"/>
          </a:solidFill>
          <a:ln w="12700">
            <a:solidFill>
              <a:srgbClr val="00A896"/>
            </a:solidFill>
            <a:prstDash val="solid"/>
          </a:ln>
        </p:spPr>
      </p:sp>
      <p:sp>
        <p:nvSpPr>
          <p:cNvPr id="7" name="Text 5"/>
          <p:cNvSpPr txBox="1"/>
          <p:nvPr/>
        </p:nvSpPr>
        <p:spPr>
          <a:xfrm>
            <a:off x="768096" y="192024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280160" y="1892808"/>
            <a:ext cx="10149840"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The question</a:t>
            </a:r>
            <a:endParaRPr lang="en-US" sz="1500"/>
          </a:p>
        </p:txBody>
      </p:sp>
      <p:sp>
        <p:nvSpPr>
          <p:cNvPr id="9" name="Text 7"/>
          <p:cNvSpPr txBox="1"/>
          <p:nvPr/>
        </p:nvSpPr>
        <p:spPr>
          <a:xfrm>
            <a:off x="804672" y="239572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Why does diffusion generally need many more sampling steps to generate one example than a GAN does?</a:t>
            </a:r>
            <a:endParaRPr lang="en-US" sz="1200"/>
          </a:p>
        </p:txBody>
      </p:sp>
      <p:sp>
        <p:nvSpPr>
          <p:cNvPr id="10" name="Shape 8"/>
          <p:cNvSpPr/>
          <p:nvPr/>
        </p:nvSpPr>
        <p:spPr>
          <a:xfrm>
            <a:off x="566928" y="3154680"/>
            <a:ext cx="11064240" cy="1234440"/>
          </a:xfrm>
          <a:prstGeom prst="roundRect">
            <a:avLst>
              <a:gd name="adj" fmla="val 5926"/>
            </a:avLst>
          </a:prstGeom>
          <a:solidFill>
            <a:srgbClr val="EEF1F8"/>
          </a:solidFill>
          <a:ln w="15875">
            <a:solidFill>
              <a:srgbClr val="DCE6FA"/>
            </a:solidFill>
            <a:prstDash val="solid"/>
          </a:ln>
        </p:spPr>
      </p:sp>
      <p:sp>
        <p:nvSpPr>
          <p:cNvPr id="11" name="Shape 9"/>
          <p:cNvSpPr/>
          <p:nvPr/>
        </p:nvSpPr>
        <p:spPr>
          <a:xfrm>
            <a:off x="768096" y="3337560"/>
            <a:ext cx="384048" cy="384048"/>
          </a:xfrm>
          <a:prstGeom prst="ellipse">
            <a:avLst/>
          </a:prstGeom>
          <a:solidFill>
            <a:srgbClr val="2E3A8C"/>
          </a:solidFill>
          <a:ln w="12700">
            <a:solidFill>
              <a:srgbClr val="2E3A8C"/>
            </a:solidFill>
            <a:prstDash val="solid"/>
          </a:ln>
        </p:spPr>
      </p:sp>
      <p:sp>
        <p:nvSpPr>
          <p:cNvPr id="12" name="Text 10"/>
          <p:cNvSpPr txBox="1"/>
          <p:nvPr/>
        </p:nvSpPr>
        <p:spPr>
          <a:xfrm>
            <a:off x="768096" y="333756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3" name="Text 11"/>
          <p:cNvSpPr txBox="1"/>
          <p:nvPr/>
        </p:nvSpPr>
        <p:spPr>
          <a:xfrm>
            <a:off x="1280160" y="3310128"/>
            <a:ext cx="10149840" cy="438912"/>
          </a:xfrm>
          <a:prstGeom prst="rect">
            <a:avLst/>
          </a:prstGeom>
          <a:noFill/>
          <a:ln/>
        </p:spPr>
        <p:txBody>
          <a:bodyPr wrap="square" lIns="0" tIns="0" rIns="0" bIns="0" rtlCol="0" anchor="ctr"/>
          <a:lstStyle/>
          <a:p>
            <a:pPr marL="0" indent="0">
              <a:buNone/>
            </a:pPr>
            <a:r>
              <a:rPr lang="en-US" sz="1500" b="1">
                <a:solidFill>
                  <a:srgbClr val="2E3A8C"/>
                </a:solidFill>
                <a:latin typeface="Calibri" pitchFamily="34" charset="0"/>
                <a:ea typeface="Calibri" pitchFamily="34" charset="-122"/>
                <a:cs typeface="Calibri" pitchFamily="34" charset="-120"/>
              </a:rPr>
              <a:t>Work it through</a:t>
            </a:r>
            <a:endParaRPr lang="en-US" sz="1500"/>
          </a:p>
        </p:txBody>
      </p:sp>
      <p:sp>
        <p:nvSpPr>
          <p:cNvPr id="14" name="Text 12"/>
          <p:cNvSpPr txBox="1"/>
          <p:nvPr/>
        </p:nvSpPr>
        <p:spPr>
          <a:xfrm>
            <a:off x="804672" y="381304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Think back to how each family generates a sample: a GAN runs the Generator once. Diffusion reverses noise step by step — how many steps does that take?</a:t>
            </a:r>
            <a:endParaRPr lang="en-US" sz="1200"/>
          </a:p>
        </p:txBody>
      </p:sp>
      <p:sp>
        <p:nvSpPr>
          <p:cNvPr id="15" name="Shape 13"/>
          <p:cNvSpPr/>
          <p:nvPr/>
        </p:nvSpPr>
        <p:spPr>
          <a:xfrm>
            <a:off x="566928" y="4572000"/>
            <a:ext cx="11064240" cy="1234440"/>
          </a:xfrm>
          <a:prstGeom prst="roundRect">
            <a:avLst>
              <a:gd name="adj" fmla="val 5926"/>
            </a:avLst>
          </a:prstGeom>
          <a:solidFill>
            <a:srgbClr val="FBEADB"/>
          </a:solidFill>
          <a:ln w="15875">
            <a:solidFill>
              <a:srgbClr val="D9822B"/>
            </a:solidFill>
            <a:prstDash val="solid"/>
          </a:ln>
        </p:spPr>
      </p:sp>
      <p:sp>
        <p:nvSpPr>
          <p:cNvPr id="16" name="Shape 14"/>
          <p:cNvSpPr/>
          <p:nvPr/>
        </p:nvSpPr>
        <p:spPr>
          <a:xfrm>
            <a:off x="768096" y="4754880"/>
            <a:ext cx="384048" cy="384048"/>
          </a:xfrm>
          <a:prstGeom prst="ellipse">
            <a:avLst/>
          </a:prstGeom>
          <a:solidFill>
            <a:srgbClr val="D9822B"/>
          </a:solidFill>
          <a:ln w="12700">
            <a:solidFill>
              <a:srgbClr val="D9822B"/>
            </a:solidFill>
            <a:prstDash val="solid"/>
          </a:ln>
        </p:spPr>
      </p:sp>
      <p:sp>
        <p:nvSpPr>
          <p:cNvPr id="17" name="Text 15"/>
          <p:cNvSpPr txBox="1"/>
          <p:nvPr/>
        </p:nvSpPr>
        <p:spPr>
          <a:xfrm>
            <a:off x="768096" y="47548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txBox="1"/>
          <p:nvPr/>
        </p:nvSpPr>
        <p:spPr>
          <a:xfrm>
            <a:off x="1280160" y="4727448"/>
            <a:ext cx="10149840" cy="438912"/>
          </a:xfrm>
          <a:prstGeom prst="rect">
            <a:avLst/>
          </a:prstGeom>
          <a:noFill/>
          <a:ln/>
        </p:spPr>
        <p:txBody>
          <a:bodyPr wrap="square" lIns="0" tIns="0" rIns="0" bIns="0" rtlCol="0" anchor="ctr"/>
          <a:lstStyle/>
          <a:p>
            <a:pPr marL="0" indent="0">
              <a:buNone/>
            </a:pPr>
            <a:r>
              <a:rPr lang="en-US" sz="1500" b="1">
                <a:solidFill>
                  <a:srgbClr val="D9822B"/>
                </a:solidFill>
                <a:latin typeface="Calibri" pitchFamily="34" charset="0"/>
                <a:ea typeface="Calibri" pitchFamily="34" charset="-122"/>
                <a:cs typeface="Calibri" pitchFamily="34" charset="-120"/>
              </a:rPr>
              <a:t>Connect it back</a:t>
            </a:r>
            <a:endParaRPr lang="en-US" sz="1500"/>
          </a:p>
        </p:txBody>
      </p:sp>
      <p:sp>
        <p:nvSpPr>
          <p:cNvPr id="19" name="Text 17"/>
          <p:cNvSpPr txBox="1"/>
          <p:nvPr/>
        </p:nvSpPr>
        <p:spPr>
          <a:xfrm>
            <a:off x="804672" y="523036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Which corner of the generative trilemma is diffusion trading away to win on quality and coverage?</a:t>
            </a:r>
            <a:endParaRPr lang="en-US" sz="1200"/>
          </a:p>
        </p:txBody>
      </p:sp>
      <p:sp>
        <p:nvSpPr>
          <p:cNvPr id="20" name="Shape 18"/>
          <p:cNvSpPr/>
          <p:nvPr/>
        </p:nvSpPr>
        <p:spPr>
          <a:xfrm>
            <a:off x="566928" y="5486400"/>
            <a:ext cx="11064240" cy="658368"/>
          </a:xfrm>
          <a:prstGeom prst="roundRect">
            <a:avLst>
              <a:gd name="adj" fmla="val 11111"/>
            </a:avLst>
          </a:prstGeom>
          <a:solidFill>
            <a:schemeClr val="accent1">
              <a:lumMod val="75000"/>
            </a:schemeClr>
          </a:solidFill>
          <a:ln w="15875">
            <a:noFill/>
            <a:prstDash val="solid"/>
          </a:ln>
        </p:spPr>
      </p:sp>
      <p:sp>
        <p:nvSpPr>
          <p:cNvPr id="21" name="Text 19"/>
          <p:cNvSpPr txBox="1"/>
          <p:nvPr/>
        </p:nvSpPr>
        <p:spPr>
          <a:xfrm>
            <a:off x="804672" y="5669280"/>
            <a:ext cx="10588752" cy="329184"/>
          </a:xfrm>
          <a:prstGeom prst="rect">
            <a:avLst/>
          </a:prstGeom>
          <a:noFill/>
          <a:ln/>
        </p:spPr>
        <p:txBody>
          <a:bodyPr wrap="square" lIns="0" tIns="0" rIns="0" bIns="0" rtlCol="0" anchor="t"/>
          <a:lstStyle/>
          <a:p>
            <a:pPr marL="0" indent="0">
              <a:lnSpc>
                <a:spcPct val="112000"/>
              </a:lnSpc>
              <a:buNone/>
            </a:pPr>
            <a:r>
              <a:rPr lang="en-US" sz="1250">
                <a:solidFill>
                  <a:srgbClr val="E4E8F4"/>
                </a:solidFill>
                <a:latin typeface="Calibri" pitchFamily="34" charset="0"/>
                <a:ea typeface="Calibri" pitchFamily="34" charset="-122"/>
                <a:cs typeface="Calibri" pitchFamily="34" charset="-120"/>
              </a:rPr>
              <a:t>This sampling cost is exactly why the trilemma slide put diffusion and GANs on opposite sides of the speed trade-off.</a:t>
            </a:r>
            <a:endParaRPr lang="en-US" sz="1250"/>
          </a:p>
        </p:txBody>
      </p:sp>
      <p:sp>
        <p:nvSpPr>
          <p:cNvPr id="22" name="Text 2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Discussion — no citations required</a:t>
            </a:r>
            <a:endParaRPr lang="en-US" sz="1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2 · LAB</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Hands-on: train CTGAN, then watch the rest</a:t>
            </a:r>
            <a:endParaRPr lang="en-US" sz="3000"/>
          </a:p>
        </p:txBody>
      </p:sp>
      <p:sp>
        <p:nvSpPr>
          <p:cNvPr id="5" name="Shape 3"/>
          <p:cNvSpPr/>
          <p:nvPr/>
        </p:nvSpPr>
        <p:spPr>
          <a:xfrm>
            <a:off x="566928" y="1691640"/>
            <a:ext cx="11064240" cy="822960"/>
          </a:xfrm>
          <a:prstGeom prst="roundRect">
            <a:avLst>
              <a:gd name="adj" fmla="val 8889"/>
            </a:avLst>
          </a:prstGeom>
          <a:solidFill>
            <a:srgbClr val="EEF1F8"/>
          </a:solidFill>
          <a:ln w="15875">
            <a:solidFill>
              <a:srgbClr val="DCE6FA"/>
            </a:solidFill>
            <a:prstDash val="solid"/>
          </a:ln>
        </p:spPr>
        <p:txBody>
          <a:bodyPr/>
          <a:lstStyle/>
          <a:p>
            <a:endParaRPr/>
          </a:p>
        </p:txBody>
      </p:sp>
      <p:sp>
        <p:nvSpPr>
          <p:cNvPr id="6" name="Shape 4"/>
          <p:cNvSpPr/>
          <p:nvPr/>
        </p:nvSpPr>
        <p:spPr>
          <a:xfrm>
            <a:off x="786384" y="1911096"/>
            <a:ext cx="384048" cy="384048"/>
          </a:xfrm>
          <a:prstGeom prst="ellipse">
            <a:avLst/>
          </a:prstGeom>
          <a:solidFill>
            <a:srgbClr val="2E3A8C"/>
          </a:solidFill>
          <a:ln w="12700">
            <a:solidFill>
              <a:srgbClr val="2E3A8C"/>
            </a:solidFill>
            <a:prstDash val="solid"/>
          </a:ln>
        </p:spPr>
        <p:txBody>
          <a:bodyPr/>
          <a:lstStyle/>
          <a:p>
            <a:endParaRPr/>
          </a:p>
        </p:txBody>
      </p:sp>
      <p:sp>
        <p:nvSpPr>
          <p:cNvPr id="7" name="Text 5"/>
          <p:cNvSpPr txBox="1"/>
          <p:nvPr/>
        </p:nvSpPr>
        <p:spPr>
          <a:xfrm>
            <a:off x="786384" y="191109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1</a:t>
            </a:r>
            <a:endParaRPr lang="en-US" sz="1250"/>
          </a:p>
        </p:txBody>
      </p:sp>
      <p:sp>
        <p:nvSpPr>
          <p:cNvPr id="8" name="Text 6"/>
          <p:cNvSpPr txBox="1"/>
          <p:nvPr/>
        </p:nvSpPr>
        <p:spPr>
          <a:xfrm>
            <a:off x="1316736" y="1783080"/>
            <a:ext cx="10076688" cy="640080"/>
          </a:xfrm>
          <a:prstGeom prst="rect">
            <a:avLst/>
          </a:prstGeom>
          <a:noFill/>
          <a:ln/>
        </p:spPr>
        <p:txBody>
          <a:bodyPr wrap="square" lIns="0" tIns="0" rIns="0" bIns="0" rtlCol="0" anchor="ctr"/>
          <a:lstStyle/>
          <a:p>
            <a:pPr marL="0" indent="0">
              <a:lnSpc>
                <a:spcPct val="110000"/>
              </a:lnSpc>
              <a:buNone/>
            </a:pPr>
            <a:r>
              <a:rPr lang="en-US" sz="1150" b="1">
                <a:solidFill>
                  <a:srgbClr val="2E3A8C"/>
                </a:solidFill>
                <a:latin typeface="Calibri" pitchFamily="34" charset="0"/>
                <a:ea typeface="Calibri" pitchFamily="34" charset="-122"/>
                <a:cs typeface="Calibri" pitchFamily="34" charset="-120"/>
              </a:rPr>
              <a:t>Load and inspect —  </a:t>
            </a:r>
            <a:r>
              <a:rPr lang="en-US" sz="1150">
                <a:solidFill>
                  <a:srgbClr val="0E1330"/>
                </a:solidFill>
                <a:latin typeface="Calibri" pitchFamily="34" charset="0"/>
                <a:ea typeface="Calibri" pitchFamily="34" charset="-122"/>
                <a:cs typeface="Calibri" pitchFamily="34" charset="-120"/>
              </a:rPr>
              <a:t>Load Day 1's dataset into a dataframe. Check column types, value ranges and missing values before any model sees it [11].</a:t>
            </a:r>
            <a:endParaRPr lang="en-US" sz="1150"/>
          </a:p>
        </p:txBody>
      </p:sp>
      <p:sp>
        <p:nvSpPr>
          <p:cNvPr id="9" name="Shape 7"/>
          <p:cNvSpPr/>
          <p:nvPr/>
        </p:nvSpPr>
        <p:spPr>
          <a:xfrm>
            <a:off x="566928" y="2606040"/>
            <a:ext cx="11064240" cy="822960"/>
          </a:xfrm>
          <a:prstGeom prst="roundRect">
            <a:avLst>
              <a:gd name="adj" fmla="val 8889"/>
            </a:avLst>
          </a:prstGeom>
          <a:solidFill>
            <a:srgbClr val="D6F2EC"/>
          </a:solidFill>
          <a:ln w="15875">
            <a:solidFill>
              <a:srgbClr val="00A896"/>
            </a:solidFill>
            <a:prstDash val="solid"/>
          </a:ln>
        </p:spPr>
        <p:txBody>
          <a:bodyPr/>
          <a:lstStyle/>
          <a:p>
            <a:endParaRPr/>
          </a:p>
        </p:txBody>
      </p:sp>
      <p:sp>
        <p:nvSpPr>
          <p:cNvPr id="10" name="Shape 8"/>
          <p:cNvSpPr/>
          <p:nvPr/>
        </p:nvSpPr>
        <p:spPr>
          <a:xfrm>
            <a:off x="786384" y="2825496"/>
            <a:ext cx="384048" cy="384048"/>
          </a:xfrm>
          <a:prstGeom prst="ellipse">
            <a:avLst/>
          </a:prstGeom>
          <a:solidFill>
            <a:srgbClr val="00A896"/>
          </a:solidFill>
          <a:ln w="12700">
            <a:solidFill>
              <a:srgbClr val="00A896"/>
            </a:solidFill>
            <a:prstDash val="solid"/>
          </a:ln>
        </p:spPr>
        <p:txBody>
          <a:bodyPr/>
          <a:lstStyle/>
          <a:p>
            <a:endParaRPr/>
          </a:p>
        </p:txBody>
      </p:sp>
      <p:sp>
        <p:nvSpPr>
          <p:cNvPr id="11" name="Text 9"/>
          <p:cNvSpPr txBox="1"/>
          <p:nvPr/>
        </p:nvSpPr>
        <p:spPr>
          <a:xfrm>
            <a:off x="786384" y="282549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2</a:t>
            </a:r>
            <a:endParaRPr lang="en-US" sz="1250"/>
          </a:p>
        </p:txBody>
      </p:sp>
      <p:sp>
        <p:nvSpPr>
          <p:cNvPr id="12" name="Text 10"/>
          <p:cNvSpPr txBox="1"/>
          <p:nvPr/>
        </p:nvSpPr>
        <p:spPr>
          <a:xfrm>
            <a:off x="1316736" y="2697480"/>
            <a:ext cx="10076688" cy="640080"/>
          </a:xfrm>
          <a:prstGeom prst="rect">
            <a:avLst/>
          </a:prstGeom>
          <a:noFill/>
          <a:ln/>
        </p:spPr>
        <p:txBody>
          <a:bodyPr wrap="square" lIns="0" tIns="0" rIns="0" bIns="0" rtlCol="0" anchor="ctr"/>
          <a:lstStyle/>
          <a:p>
            <a:pPr marL="0" indent="0">
              <a:lnSpc>
                <a:spcPct val="110000"/>
              </a:lnSpc>
              <a:buNone/>
            </a:pPr>
            <a:r>
              <a:rPr lang="en-US" sz="1150" b="1">
                <a:solidFill>
                  <a:srgbClr val="00A896"/>
                </a:solidFill>
                <a:latin typeface="Calibri" pitchFamily="34" charset="0"/>
                <a:ea typeface="Calibri" pitchFamily="34" charset="-122"/>
                <a:cs typeface="Calibri" pitchFamily="34" charset="-120"/>
              </a:rPr>
              <a:t>Train CTGAN —  </a:t>
            </a:r>
            <a:r>
              <a:rPr lang="en-US" sz="1150">
                <a:solidFill>
                  <a:srgbClr val="0E1330"/>
                </a:solidFill>
                <a:latin typeface="Calibri" pitchFamily="34" charset="0"/>
                <a:ea typeface="Calibri" pitchFamily="34" charset="-122"/>
                <a:cs typeface="Calibri" pitchFamily="34" charset="-120"/>
              </a:rPr>
              <a:t>Fit the conditional tabular GAN with the provided default settings. Log the generator and discriminator loss as training runs [11] [35].</a:t>
            </a:r>
            <a:endParaRPr lang="en-US" sz="1150"/>
          </a:p>
        </p:txBody>
      </p:sp>
      <p:sp>
        <p:nvSpPr>
          <p:cNvPr id="13" name="Shape 11"/>
          <p:cNvSpPr/>
          <p:nvPr/>
        </p:nvSpPr>
        <p:spPr>
          <a:xfrm>
            <a:off x="566928" y="3520440"/>
            <a:ext cx="11064240" cy="822960"/>
          </a:xfrm>
          <a:prstGeom prst="roundRect">
            <a:avLst>
              <a:gd name="adj" fmla="val 8889"/>
            </a:avLst>
          </a:prstGeom>
          <a:solidFill>
            <a:srgbClr val="FBEADB"/>
          </a:solidFill>
          <a:ln w="15875">
            <a:solidFill>
              <a:srgbClr val="D9822B"/>
            </a:solidFill>
            <a:prstDash val="solid"/>
          </a:ln>
        </p:spPr>
        <p:txBody>
          <a:bodyPr/>
          <a:lstStyle/>
          <a:p>
            <a:endParaRPr/>
          </a:p>
        </p:txBody>
      </p:sp>
      <p:sp>
        <p:nvSpPr>
          <p:cNvPr id="14" name="Shape 12"/>
          <p:cNvSpPr/>
          <p:nvPr/>
        </p:nvSpPr>
        <p:spPr>
          <a:xfrm>
            <a:off x="786384" y="3739896"/>
            <a:ext cx="384048" cy="384048"/>
          </a:xfrm>
          <a:prstGeom prst="ellipse">
            <a:avLst/>
          </a:prstGeom>
          <a:solidFill>
            <a:srgbClr val="D9822B"/>
          </a:solidFill>
          <a:ln w="12700">
            <a:solidFill>
              <a:srgbClr val="D9822B"/>
            </a:solidFill>
            <a:prstDash val="solid"/>
          </a:ln>
        </p:spPr>
        <p:txBody>
          <a:bodyPr/>
          <a:lstStyle/>
          <a:p>
            <a:endParaRPr/>
          </a:p>
        </p:txBody>
      </p:sp>
      <p:sp>
        <p:nvSpPr>
          <p:cNvPr id="15" name="Text 13"/>
          <p:cNvSpPr txBox="1"/>
          <p:nvPr/>
        </p:nvSpPr>
        <p:spPr>
          <a:xfrm>
            <a:off x="786384" y="373989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3</a:t>
            </a:r>
            <a:endParaRPr lang="en-US" sz="1250"/>
          </a:p>
        </p:txBody>
      </p:sp>
      <p:sp>
        <p:nvSpPr>
          <p:cNvPr id="16" name="Text 14"/>
          <p:cNvSpPr txBox="1"/>
          <p:nvPr/>
        </p:nvSpPr>
        <p:spPr>
          <a:xfrm>
            <a:off x="1316736" y="3611880"/>
            <a:ext cx="10076688" cy="640080"/>
          </a:xfrm>
          <a:prstGeom prst="rect">
            <a:avLst/>
          </a:prstGeom>
          <a:noFill/>
          <a:ln/>
        </p:spPr>
        <p:txBody>
          <a:bodyPr wrap="square" lIns="0" tIns="0" rIns="0" bIns="0" rtlCol="0" anchor="ctr"/>
          <a:lstStyle/>
          <a:p>
            <a:pPr marL="0" indent="0">
              <a:lnSpc>
                <a:spcPct val="110000"/>
              </a:lnSpc>
              <a:buNone/>
            </a:pPr>
            <a:r>
              <a:rPr lang="en-US" sz="1150" b="1">
                <a:solidFill>
                  <a:srgbClr val="D9822B"/>
                </a:solidFill>
                <a:latin typeface="Calibri" pitchFamily="34" charset="0"/>
                <a:ea typeface="Calibri" pitchFamily="34" charset="-122"/>
                <a:cs typeface="Calibri" pitchFamily="34" charset="-120"/>
              </a:rPr>
              <a:t>Generate and compare —  Generate an equal-sized synthetic dataset and compare it with the real dataset, column by column [11].</a:t>
            </a:r>
            <a:endParaRPr lang="en-US" sz="1150"/>
          </a:p>
        </p:txBody>
      </p:sp>
      <p:sp>
        <p:nvSpPr>
          <p:cNvPr id="17" name="Shape 15"/>
          <p:cNvSpPr/>
          <p:nvPr/>
        </p:nvSpPr>
        <p:spPr>
          <a:xfrm>
            <a:off x="566928" y="4434840"/>
            <a:ext cx="11064240" cy="822960"/>
          </a:xfrm>
          <a:prstGeom prst="roundRect">
            <a:avLst>
              <a:gd name="adj" fmla="val 8889"/>
            </a:avLst>
          </a:prstGeom>
          <a:solidFill>
            <a:srgbClr val="EEF1F8"/>
          </a:solidFill>
          <a:ln w="15875">
            <a:solidFill>
              <a:srgbClr val="DCE6FA"/>
            </a:solidFill>
            <a:prstDash val="solid"/>
          </a:ln>
        </p:spPr>
      </p:sp>
      <p:sp>
        <p:nvSpPr>
          <p:cNvPr id="18" name="Shape 16"/>
          <p:cNvSpPr/>
          <p:nvPr/>
        </p:nvSpPr>
        <p:spPr>
          <a:xfrm>
            <a:off x="786384" y="4654296"/>
            <a:ext cx="384048" cy="384048"/>
          </a:xfrm>
          <a:prstGeom prst="ellipse">
            <a:avLst/>
          </a:prstGeom>
          <a:solidFill>
            <a:srgbClr val="2E3A8C"/>
          </a:solidFill>
          <a:ln w="12700">
            <a:solidFill>
              <a:srgbClr val="2E3A8C"/>
            </a:solidFill>
            <a:prstDash val="solid"/>
          </a:ln>
        </p:spPr>
      </p:sp>
      <p:sp>
        <p:nvSpPr>
          <p:cNvPr id="19" name="Text 17"/>
          <p:cNvSpPr txBox="1"/>
          <p:nvPr/>
        </p:nvSpPr>
        <p:spPr>
          <a:xfrm>
            <a:off x="786384" y="465429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4</a:t>
            </a:r>
            <a:endParaRPr lang="en-US" sz="1250"/>
          </a:p>
        </p:txBody>
      </p:sp>
      <p:sp>
        <p:nvSpPr>
          <p:cNvPr id="20" name="Text 18"/>
          <p:cNvSpPr txBox="1"/>
          <p:nvPr/>
        </p:nvSpPr>
        <p:spPr>
          <a:xfrm>
            <a:off x="1316736" y="4526280"/>
            <a:ext cx="10076688" cy="640080"/>
          </a:xfrm>
          <a:prstGeom prst="rect">
            <a:avLst/>
          </a:prstGeom>
          <a:noFill/>
          <a:ln/>
        </p:spPr>
        <p:txBody>
          <a:bodyPr wrap="square" lIns="0" tIns="0" rIns="0" bIns="0" rtlCol="0" anchor="ctr"/>
          <a:lstStyle/>
          <a:p>
            <a:pPr marL="0" indent="0">
              <a:lnSpc>
                <a:spcPct val="110000"/>
              </a:lnSpc>
              <a:buNone/>
            </a:pPr>
            <a:r>
              <a:rPr lang="en-US" sz="1150" b="1">
                <a:solidFill>
                  <a:srgbClr val="2E3A8C"/>
                </a:solidFill>
                <a:latin typeface="Calibri" pitchFamily="34" charset="0"/>
                <a:ea typeface="Calibri" pitchFamily="34" charset="-122"/>
                <a:cs typeface="Calibri" pitchFamily="34" charset="-120"/>
              </a:rPr>
              <a:t>Visualise and check correlations —  </a:t>
            </a:r>
            <a:r>
              <a:rPr lang="en-US" sz="1150">
                <a:solidFill>
                  <a:srgbClr val="0E1330"/>
                </a:solidFill>
                <a:latin typeface="Calibri" pitchFamily="34" charset="0"/>
                <a:ea typeface="Calibri" pitchFamily="34" charset="-122"/>
                <a:cs typeface="Calibri" pitchFamily="34" charset="-120"/>
              </a:rPr>
              <a:t>Plot marginal distributions side by side and inspect the correlation matrix for anything that drifted [11].</a:t>
            </a:r>
            <a:endParaRPr lang="en-US" sz="1150"/>
          </a:p>
        </p:txBody>
      </p:sp>
      <p:sp>
        <p:nvSpPr>
          <p:cNvPr id="21" name="Shape 19"/>
          <p:cNvSpPr/>
          <p:nvPr/>
        </p:nvSpPr>
        <p:spPr>
          <a:xfrm>
            <a:off x="566928" y="5349240"/>
            <a:ext cx="11064240" cy="822960"/>
          </a:xfrm>
          <a:prstGeom prst="roundRect">
            <a:avLst>
              <a:gd name="adj" fmla="val 8889"/>
            </a:avLst>
          </a:prstGeom>
          <a:solidFill>
            <a:srgbClr val="D6F2EC"/>
          </a:solidFill>
          <a:ln w="15875">
            <a:solidFill>
              <a:srgbClr val="00A896"/>
            </a:solidFill>
            <a:prstDash val="solid"/>
          </a:ln>
        </p:spPr>
      </p:sp>
      <p:sp>
        <p:nvSpPr>
          <p:cNvPr id="22" name="Shape 20"/>
          <p:cNvSpPr/>
          <p:nvPr/>
        </p:nvSpPr>
        <p:spPr>
          <a:xfrm>
            <a:off x="786384" y="5568696"/>
            <a:ext cx="384048" cy="384048"/>
          </a:xfrm>
          <a:prstGeom prst="ellipse">
            <a:avLst/>
          </a:prstGeom>
          <a:solidFill>
            <a:srgbClr val="00A896"/>
          </a:solidFill>
          <a:ln w="12700">
            <a:solidFill>
              <a:srgbClr val="00A896"/>
            </a:solidFill>
            <a:prstDash val="solid"/>
          </a:ln>
        </p:spPr>
      </p:sp>
      <p:sp>
        <p:nvSpPr>
          <p:cNvPr id="23" name="Text 21"/>
          <p:cNvSpPr txBox="1"/>
          <p:nvPr/>
        </p:nvSpPr>
        <p:spPr>
          <a:xfrm>
            <a:off x="786384" y="556869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5</a:t>
            </a:r>
            <a:endParaRPr lang="en-US" sz="1250"/>
          </a:p>
        </p:txBody>
      </p:sp>
      <p:sp>
        <p:nvSpPr>
          <p:cNvPr id="24" name="Text 22"/>
          <p:cNvSpPr txBox="1"/>
          <p:nvPr/>
        </p:nvSpPr>
        <p:spPr>
          <a:xfrm>
            <a:off x="1316736" y="5440680"/>
            <a:ext cx="10076688" cy="640080"/>
          </a:xfrm>
          <a:prstGeom prst="rect">
            <a:avLst/>
          </a:prstGeom>
          <a:noFill/>
          <a:ln/>
        </p:spPr>
        <p:txBody>
          <a:bodyPr wrap="square" lIns="0" tIns="0" rIns="0" bIns="0" rtlCol="0" anchor="ctr"/>
          <a:lstStyle/>
          <a:p>
            <a:pPr marL="0" indent="0">
              <a:lnSpc>
                <a:spcPct val="110000"/>
              </a:lnSpc>
              <a:buNone/>
            </a:pPr>
            <a:r>
              <a:rPr lang="en-US" sz="1150" b="1">
                <a:solidFill>
                  <a:srgbClr val="00A896"/>
                </a:solidFill>
                <a:latin typeface="Calibri" pitchFamily="34" charset="0"/>
                <a:ea typeface="Calibri" pitchFamily="34" charset="-122"/>
                <a:cs typeface="Calibri" pitchFamily="34" charset="-120"/>
              </a:rPr>
              <a:t>Instructor demo —  </a:t>
            </a:r>
            <a:r>
              <a:rPr lang="en-US" sz="1150">
                <a:solidFill>
                  <a:srgbClr val="0E1330"/>
                </a:solidFill>
                <a:latin typeface="Calibri" pitchFamily="34" charset="0"/>
                <a:ea typeface="Calibri" pitchFamily="34" charset="-122"/>
                <a:cs typeface="Calibri" pitchFamily="34" charset="-120"/>
              </a:rPr>
              <a:t>Watch TVAE and TabDDPM fit on the same data, and conditional sampling balance a minority class. Keep today's comparison table — Day 3 adds the utility and privacy columns [11] [12].</a:t>
            </a:r>
            <a:endParaRPr lang="en-US" sz="1150"/>
          </a:p>
        </p:txBody>
      </p:sp>
      <p:sp>
        <p:nvSpPr>
          <p:cNvPr id="25" name="Text 2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[11] [12] [35]</a:t>
            </a:r>
            <a:endParaRPr lang="en-US" sz="1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name="Slide 43">
    <p:bg>
      <p:bgPr>
        <a:solidFill>
          <a:srgbClr val="0E1330"/>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A896"/>
                </a:solidFill>
                <a:latin typeface="Calibri" pitchFamily="34" charset="0"/>
                <a:ea typeface="Calibri" pitchFamily="34" charset="-122"/>
                <a:cs typeface="Calibri" pitchFamily="34" charset="-120"/>
              </a:rPr>
              <a:t>DAY 2</a:t>
            </a:r>
            <a:endParaRPr lang="en-US" sz="1150"/>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What we built today</a:t>
            </a:r>
            <a:endParaRPr lang="en-US" sz="3000"/>
          </a:p>
        </p:txBody>
      </p:sp>
      <p:sp>
        <p:nvSpPr>
          <p:cNvPr id="5" name="Shape 3"/>
          <p:cNvSpPr/>
          <p:nvPr/>
        </p:nvSpPr>
        <p:spPr>
          <a:xfrm>
            <a:off x="566928" y="1691640"/>
            <a:ext cx="11064240" cy="932688"/>
          </a:xfrm>
          <a:prstGeom prst="roundRect">
            <a:avLst>
              <a:gd name="adj" fmla="val 7843"/>
            </a:avLst>
          </a:prstGeom>
          <a:solidFill>
            <a:srgbClr val="1B2145"/>
          </a:solidFill>
          <a:ln w="12700">
            <a:solidFill>
              <a:srgbClr val="39406B"/>
            </a:solidFill>
            <a:prstDash val="solid"/>
          </a:ln>
        </p:spPr>
      </p:sp>
      <p:sp>
        <p:nvSpPr>
          <p:cNvPr id="6" name="Shape 4"/>
          <p:cNvSpPr/>
          <p:nvPr/>
        </p:nvSpPr>
        <p:spPr>
          <a:xfrm>
            <a:off x="804672" y="1901952"/>
            <a:ext cx="420624" cy="420624"/>
          </a:xfrm>
          <a:prstGeom prst="ellipse">
            <a:avLst/>
          </a:prstGeom>
          <a:solidFill>
            <a:srgbClr val="00A896"/>
          </a:solidFill>
          <a:ln w="12700">
            <a:solidFill>
              <a:srgbClr val="00A896"/>
            </a:solidFill>
            <a:prstDash val="solid"/>
          </a:ln>
        </p:spPr>
      </p:sp>
      <p:sp>
        <p:nvSpPr>
          <p:cNvPr id="7" name="Text 5"/>
          <p:cNvSpPr txBox="1"/>
          <p:nvPr/>
        </p:nvSpPr>
        <p:spPr>
          <a:xfrm>
            <a:off x="804672" y="1901952"/>
            <a:ext cx="420624" cy="420624"/>
          </a:xfrm>
          <a:prstGeom prst="rect">
            <a:avLst/>
          </a:prstGeom>
          <a:noFill/>
          <a:ln/>
        </p:spPr>
        <p:txBody>
          <a:bodyPr wrap="square" lIns="0" tIns="0" rIns="0" bIns="0" rtlCol="0" anchor="ctr"/>
          <a:lstStyle/>
          <a:p>
            <a:pPr marL="0" indent="0" algn="ctr">
              <a:buNone/>
            </a:pPr>
            <a:r>
              <a:rPr lang="en-US" sz="1300" b="1">
                <a:solidFill>
                  <a:srgbClr val="0E1330"/>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417320" y="1783080"/>
            <a:ext cx="9966960" cy="749808"/>
          </a:xfrm>
          <a:prstGeom prst="rect">
            <a:avLst/>
          </a:prstGeom>
          <a:noFill/>
          <a:ln/>
        </p:spPr>
        <p:txBody>
          <a:bodyPr wrap="square" lIns="0" tIns="0" rIns="0" bIns="0" rtlCol="0" anchor="ctr"/>
          <a:lstStyle/>
          <a:p>
            <a:pPr marL="0" indent="0">
              <a:lnSpc>
                <a:spcPct val="108000"/>
              </a:lnSpc>
              <a:buNone/>
            </a:pPr>
            <a:r>
              <a:rPr lang="en-US" sz="1300">
                <a:solidFill>
                  <a:srgbClr val="FFFFFF"/>
                </a:solidFill>
                <a:latin typeface="Calibri" pitchFamily="34" charset="0"/>
                <a:ea typeface="Calibri" pitchFamily="34" charset="-122"/>
                <a:cs typeface="Calibri" pitchFamily="34" charset="-120"/>
              </a:rPr>
              <a:t>Tabular synthesis is a constraint problem as much as a modelling problem: mode-specific normalisation and conditional sampling exist because naive training fails [11].</a:t>
            </a:r>
            <a:endParaRPr lang="en-US" sz="1300"/>
          </a:p>
        </p:txBody>
      </p:sp>
      <p:sp>
        <p:nvSpPr>
          <p:cNvPr id="9" name="Shape 7"/>
          <p:cNvSpPr/>
          <p:nvPr/>
        </p:nvSpPr>
        <p:spPr>
          <a:xfrm>
            <a:off x="566928" y="2770632"/>
            <a:ext cx="11064240" cy="932688"/>
          </a:xfrm>
          <a:prstGeom prst="roundRect">
            <a:avLst>
              <a:gd name="adj" fmla="val 7843"/>
            </a:avLst>
          </a:prstGeom>
          <a:solidFill>
            <a:srgbClr val="1B2145"/>
          </a:solidFill>
          <a:ln w="12700">
            <a:solidFill>
              <a:srgbClr val="39406B"/>
            </a:solidFill>
            <a:prstDash val="solid"/>
          </a:ln>
        </p:spPr>
      </p:sp>
      <p:sp>
        <p:nvSpPr>
          <p:cNvPr id="10" name="Shape 8"/>
          <p:cNvSpPr/>
          <p:nvPr/>
        </p:nvSpPr>
        <p:spPr>
          <a:xfrm>
            <a:off x="804672" y="2980944"/>
            <a:ext cx="420624" cy="420624"/>
          </a:xfrm>
          <a:prstGeom prst="ellipse">
            <a:avLst/>
          </a:prstGeom>
          <a:solidFill>
            <a:srgbClr val="00A896"/>
          </a:solidFill>
          <a:ln w="12700">
            <a:solidFill>
              <a:srgbClr val="00A896"/>
            </a:solidFill>
            <a:prstDash val="solid"/>
          </a:ln>
        </p:spPr>
      </p:sp>
      <p:sp>
        <p:nvSpPr>
          <p:cNvPr id="11" name="Text 9"/>
          <p:cNvSpPr txBox="1"/>
          <p:nvPr/>
        </p:nvSpPr>
        <p:spPr>
          <a:xfrm>
            <a:off x="804672" y="2980944"/>
            <a:ext cx="420624" cy="420624"/>
          </a:xfrm>
          <a:prstGeom prst="rect">
            <a:avLst/>
          </a:prstGeom>
          <a:noFill/>
          <a:ln/>
        </p:spPr>
        <p:txBody>
          <a:bodyPr wrap="square" lIns="0" tIns="0" rIns="0" bIns="0" rtlCol="0" anchor="ctr"/>
          <a:lstStyle/>
          <a:p>
            <a:pPr marL="0" indent="0" algn="ctr">
              <a:buNone/>
            </a:pPr>
            <a:r>
              <a:rPr lang="en-US" sz="1300" b="1">
                <a:solidFill>
                  <a:srgbClr val="0E1330"/>
                </a:solidFill>
                <a:latin typeface="Calibri" pitchFamily="34" charset="0"/>
                <a:ea typeface="Calibri" pitchFamily="34" charset="-122"/>
                <a:cs typeface="Calibri" pitchFamily="34" charset="-120"/>
              </a:rPr>
              <a:t>2</a:t>
            </a:r>
            <a:endParaRPr lang="en-US" sz="1300"/>
          </a:p>
        </p:txBody>
      </p:sp>
      <p:sp>
        <p:nvSpPr>
          <p:cNvPr id="12" name="Text 10"/>
          <p:cNvSpPr txBox="1"/>
          <p:nvPr/>
        </p:nvSpPr>
        <p:spPr>
          <a:xfrm>
            <a:off x="1417320" y="2862072"/>
            <a:ext cx="9966960" cy="749808"/>
          </a:xfrm>
          <a:prstGeom prst="rect">
            <a:avLst/>
          </a:prstGeom>
          <a:noFill/>
          <a:ln/>
        </p:spPr>
        <p:txBody>
          <a:bodyPr wrap="square" lIns="0" tIns="0" rIns="0" bIns="0" rtlCol="0" anchor="ctr"/>
          <a:lstStyle/>
          <a:p>
            <a:pPr marL="0" indent="0">
              <a:lnSpc>
                <a:spcPct val="108000"/>
              </a:lnSpc>
              <a:buNone/>
            </a:pPr>
            <a:r>
              <a:rPr lang="en-US" sz="1300">
                <a:solidFill>
                  <a:srgbClr val="FFFFFF"/>
                </a:solidFill>
                <a:latin typeface="Calibri" pitchFamily="34" charset="0"/>
                <a:ea typeface="Calibri" pitchFamily="34" charset="-122"/>
                <a:cs typeface="Calibri" pitchFamily="34" charset="-120"/>
              </a:rPr>
              <a:t>Text generation moved to autoregressive models because discrete tokens block adversarial gradients — and the hard part is now filtering, not generating [16].</a:t>
            </a:r>
            <a:endParaRPr lang="en-US" sz="1300"/>
          </a:p>
        </p:txBody>
      </p:sp>
      <p:sp>
        <p:nvSpPr>
          <p:cNvPr id="13" name="Shape 11"/>
          <p:cNvSpPr/>
          <p:nvPr/>
        </p:nvSpPr>
        <p:spPr>
          <a:xfrm>
            <a:off x="566928" y="3849624"/>
            <a:ext cx="11064240" cy="932688"/>
          </a:xfrm>
          <a:prstGeom prst="roundRect">
            <a:avLst>
              <a:gd name="adj" fmla="val 7843"/>
            </a:avLst>
          </a:prstGeom>
          <a:solidFill>
            <a:srgbClr val="1B2145"/>
          </a:solidFill>
          <a:ln w="12700">
            <a:solidFill>
              <a:srgbClr val="39406B"/>
            </a:solidFill>
            <a:prstDash val="solid"/>
          </a:ln>
        </p:spPr>
      </p:sp>
      <p:sp>
        <p:nvSpPr>
          <p:cNvPr id="14" name="Shape 12"/>
          <p:cNvSpPr/>
          <p:nvPr/>
        </p:nvSpPr>
        <p:spPr>
          <a:xfrm>
            <a:off x="804672" y="4059936"/>
            <a:ext cx="420624" cy="420624"/>
          </a:xfrm>
          <a:prstGeom prst="ellipse">
            <a:avLst/>
          </a:prstGeom>
          <a:solidFill>
            <a:srgbClr val="00A896"/>
          </a:solidFill>
          <a:ln w="12700">
            <a:solidFill>
              <a:srgbClr val="00A896"/>
            </a:solidFill>
            <a:prstDash val="solid"/>
          </a:ln>
        </p:spPr>
      </p:sp>
      <p:sp>
        <p:nvSpPr>
          <p:cNvPr id="15" name="Text 13"/>
          <p:cNvSpPr txBox="1"/>
          <p:nvPr/>
        </p:nvSpPr>
        <p:spPr>
          <a:xfrm>
            <a:off x="804672" y="4059936"/>
            <a:ext cx="420624" cy="420624"/>
          </a:xfrm>
          <a:prstGeom prst="rect">
            <a:avLst/>
          </a:prstGeom>
          <a:noFill/>
          <a:ln/>
        </p:spPr>
        <p:txBody>
          <a:bodyPr wrap="square" lIns="0" tIns="0" rIns="0" bIns="0" rtlCol="0" anchor="ctr"/>
          <a:lstStyle/>
          <a:p>
            <a:pPr marL="0" indent="0" algn="ctr">
              <a:buNone/>
            </a:pPr>
            <a:r>
              <a:rPr lang="en-US" sz="1300" b="1">
                <a:solidFill>
                  <a:srgbClr val="0E1330"/>
                </a:solidFill>
                <a:latin typeface="Calibri" pitchFamily="34" charset="0"/>
                <a:ea typeface="Calibri" pitchFamily="34" charset="-122"/>
                <a:cs typeface="Calibri" pitchFamily="34" charset="-120"/>
              </a:rPr>
              <a:t>3</a:t>
            </a:r>
            <a:endParaRPr lang="en-US" sz="1300"/>
          </a:p>
        </p:txBody>
      </p:sp>
      <p:sp>
        <p:nvSpPr>
          <p:cNvPr id="16" name="Text 14"/>
          <p:cNvSpPr txBox="1"/>
          <p:nvPr/>
        </p:nvSpPr>
        <p:spPr>
          <a:xfrm>
            <a:off x="1417320" y="3941064"/>
            <a:ext cx="9966960" cy="749808"/>
          </a:xfrm>
          <a:prstGeom prst="rect">
            <a:avLst/>
          </a:prstGeom>
          <a:noFill/>
          <a:ln/>
        </p:spPr>
        <p:txBody>
          <a:bodyPr wrap="square" lIns="0" tIns="0" rIns="0" bIns="0" rtlCol="0" anchor="ctr"/>
          <a:lstStyle/>
          <a:p>
            <a:pPr marL="0" indent="0">
              <a:lnSpc>
                <a:spcPct val="108000"/>
              </a:lnSpc>
              <a:buNone/>
            </a:pPr>
            <a:r>
              <a:rPr lang="en-US" sz="1300">
                <a:solidFill>
                  <a:srgbClr val="FFFFFF"/>
                </a:solidFill>
                <a:latin typeface="Calibri" pitchFamily="34" charset="0"/>
                <a:ea typeface="Calibri" pitchFamily="34" charset="-122"/>
                <a:cs typeface="Calibri" pitchFamily="34" charset="-120"/>
              </a:rPr>
              <a:t>Image synthesis splits into simulation, which gives free exact labels, and learned generation, which gives photorealism. The domain gap decides which you need [21] [22].</a:t>
            </a:r>
            <a:endParaRPr lang="en-US" sz="1300"/>
          </a:p>
        </p:txBody>
      </p:sp>
      <p:sp>
        <p:nvSpPr>
          <p:cNvPr id="17" name="Shape 15"/>
          <p:cNvSpPr/>
          <p:nvPr/>
        </p:nvSpPr>
        <p:spPr>
          <a:xfrm>
            <a:off x="566928" y="4928616"/>
            <a:ext cx="11064240" cy="932688"/>
          </a:xfrm>
          <a:prstGeom prst="roundRect">
            <a:avLst>
              <a:gd name="adj" fmla="val 7843"/>
            </a:avLst>
          </a:prstGeom>
          <a:solidFill>
            <a:srgbClr val="1B2145"/>
          </a:solidFill>
          <a:ln w="12700">
            <a:solidFill>
              <a:srgbClr val="39406B"/>
            </a:solidFill>
            <a:prstDash val="solid"/>
          </a:ln>
        </p:spPr>
      </p:sp>
      <p:sp>
        <p:nvSpPr>
          <p:cNvPr id="18" name="Shape 16"/>
          <p:cNvSpPr/>
          <p:nvPr/>
        </p:nvSpPr>
        <p:spPr>
          <a:xfrm>
            <a:off x="804672" y="5138928"/>
            <a:ext cx="420624" cy="420624"/>
          </a:xfrm>
          <a:prstGeom prst="ellipse">
            <a:avLst/>
          </a:prstGeom>
          <a:solidFill>
            <a:srgbClr val="00A896"/>
          </a:solidFill>
          <a:ln w="12700">
            <a:solidFill>
              <a:srgbClr val="00A896"/>
            </a:solidFill>
            <a:prstDash val="solid"/>
          </a:ln>
        </p:spPr>
      </p:sp>
      <p:sp>
        <p:nvSpPr>
          <p:cNvPr id="19" name="Text 17"/>
          <p:cNvSpPr txBox="1"/>
          <p:nvPr/>
        </p:nvSpPr>
        <p:spPr>
          <a:xfrm>
            <a:off x="804672" y="5138928"/>
            <a:ext cx="420624" cy="420624"/>
          </a:xfrm>
          <a:prstGeom prst="rect">
            <a:avLst/>
          </a:prstGeom>
          <a:noFill/>
          <a:ln/>
        </p:spPr>
        <p:txBody>
          <a:bodyPr wrap="square" lIns="0" tIns="0" rIns="0" bIns="0" rtlCol="0" anchor="ctr"/>
          <a:lstStyle/>
          <a:p>
            <a:pPr marL="0" indent="0" algn="ctr">
              <a:buNone/>
            </a:pPr>
            <a:r>
              <a:rPr lang="en-US" sz="1300" b="1">
                <a:solidFill>
                  <a:srgbClr val="0E1330"/>
                </a:solidFill>
                <a:latin typeface="Calibri" pitchFamily="34" charset="0"/>
                <a:ea typeface="Calibri" pitchFamily="34" charset="-122"/>
                <a:cs typeface="Calibri" pitchFamily="34" charset="-120"/>
              </a:rPr>
              <a:t>4</a:t>
            </a:r>
            <a:endParaRPr lang="en-US" sz="1300"/>
          </a:p>
        </p:txBody>
      </p:sp>
      <p:sp>
        <p:nvSpPr>
          <p:cNvPr id="20" name="Text 18"/>
          <p:cNvSpPr txBox="1"/>
          <p:nvPr/>
        </p:nvSpPr>
        <p:spPr>
          <a:xfrm>
            <a:off x="1417320" y="5020056"/>
            <a:ext cx="9966960" cy="749808"/>
          </a:xfrm>
          <a:prstGeom prst="rect">
            <a:avLst/>
          </a:prstGeom>
          <a:noFill/>
          <a:ln/>
        </p:spPr>
        <p:txBody>
          <a:bodyPr wrap="square" lIns="0" tIns="0" rIns="0" bIns="0" rtlCol="0" anchor="ctr"/>
          <a:lstStyle/>
          <a:p>
            <a:pPr marL="0" indent="0">
              <a:lnSpc>
                <a:spcPct val="108000"/>
              </a:lnSpc>
              <a:buNone/>
            </a:pPr>
            <a:r>
              <a:rPr lang="en-US" sz="1300">
                <a:solidFill>
                  <a:srgbClr val="FFFFFF"/>
                </a:solidFill>
                <a:latin typeface="Calibri" pitchFamily="34" charset="0"/>
                <a:ea typeface="Calibri" pitchFamily="34" charset="-122"/>
                <a:cs typeface="Calibri" pitchFamily="34" charset="-120"/>
              </a:rPr>
              <a:t>GANs, VAEs and diffusion fail in characteristic ways — collapse, blur and latency respectively — and every one of those is predictable from the training objective [3] [4] [5].</a:t>
            </a:r>
            <a:endParaRPr lang="en-US" sz="1300"/>
          </a:p>
        </p:txBody>
      </p:sp>
      <p:sp>
        <p:nvSpPr>
          <p:cNvPr id="21" name="Text 19"/>
          <p:cNvSpPr txBox="1"/>
          <p:nvPr/>
        </p:nvSpPr>
        <p:spPr>
          <a:xfrm>
            <a:off x="566928" y="6053328"/>
            <a:ext cx="8229600" cy="320040"/>
          </a:xfrm>
          <a:prstGeom prst="rect">
            <a:avLst/>
          </a:prstGeom>
          <a:noFill/>
          <a:ln/>
        </p:spPr>
        <p:txBody>
          <a:bodyPr wrap="square" lIns="0" tIns="0" rIns="0" bIns="0" rtlCol="0" anchor="ctr"/>
          <a:lstStyle/>
          <a:p>
            <a:pPr marL="0" indent="0">
              <a:buNone/>
            </a:pPr>
            <a:r>
              <a:rPr lang="en-US" sz="1300" i="1">
                <a:solidFill>
                  <a:srgbClr val="00A896"/>
                </a:solidFill>
                <a:latin typeface="Calibri" pitchFamily="34" charset="0"/>
                <a:ea typeface="Calibri" pitchFamily="34" charset="-122"/>
                <a:cs typeface="Calibri" pitchFamily="34" charset="-120"/>
              </a:rPr>
              <a:t>Tomorrow: we find out whether any of it is good enough to release.</a:t>
            </a:r>
            <a:endParaRPr lang="en-US" sz="1300"/>
          </a:p>
        </p:txBody>
      </p:sp>
      <p:sp>
        <p:nvSpPr>
          <p:cNvPr id="22" name="Text 2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8C93B5"/>
                </a:solidFill>
                <a:latin typeface="Calibri" pitchFamily="34" charset="0"/>
                <a:ea typeface="Calibri" pitchFamily="34" charset="-122"/>
                <a:cs typeface="Calibri" pitchFamily="34" charset="-120"/>
              </a:rPr>
              <a:t>Sources: [3] [4] [5] [11] [16] [21] [22]</a:t>
            </a:r>
            <a:endParaRPr lang="en-US" sz="1000"/>
          </a:p>
        </p:txBody>
      </p:sp>
      <p:pic>
        <p:nvPicPr>
          <p:cNvPr id="25" name="Picture 24">
            <a:extLst>
              <a:ext uri="{FF2B5EF4-FFF2-40B4-BE49-F238E27FC236}">
                <a16:creationId xmlns:a16="http://schemas.microsoft.com/office/drawing/2014/main" id="{8EBA0634-6D23-D14A-B0FD-47144AD16994}"/>
              </a:ext>
            </a:extLst>
          </p:cNvPr>
          <p:cNvPicPr>
            <a:picLocks noChangeAspect="1"/>
          </p:cNvPicPr>
          <p:nvPr/>
        </p:nvPicPr>
        <p:blipFill>
          <a:blip r:embed="rId3"/>
          <a:stretch>
            <a:fillRect/>
          </a:stretch>
        </p:blipFill>
        <p:spPr>
          <a:xfrm>
            <a:off x="10542494" y="238595"/>
            <a:ext cx="1489412" cy="402716"/>
          </a:xfrm>
          <a:prstGeom prst="rect">
            <a:avLst/>
          </a:prstGeom>
        </p:spPr>
      </p:pic>
      <p:pic>
        <p:nvPicPr>
          <p:cNvPr id="26" name="Picture 25">
            <a:extLst>
              <a:ext uri="{FF2B5EF4-FFF2-40B4-BE49-F238E27FC236}">
                <a16:creationId xmlns:a16="http://schemas.microsoft.com/office/drawing/2014/main" id="{012A115D-C3AB-E142-BD1D-AD12F6048923}"/>
              </a:ext>
            </a:extLst>
          </p:cNvPr>
          <p:cNvPicPr>
            <a:picLocks noChangeAspect="1"/>
          </p:cNvPicPr>
          <p:nvPr/>
        </p:nvPicPr>
        <p:blipFill>
          <a:blip r:embed="rId4"/>
          <a:stretch>
            <a:fillRect/>
          </a:stretch>
        </p:blipFill>
        <p:spPr>
          <a:xfrm>
            <a:off x="8778588" y="55155"/>
            <a:ext cx="1578751" cy="769596"/>
          </a:xfrm>
          <a:prstGeom prst="rect">
            <a:avLst/>
          </a:prstGeom>
        </p:spPr>
      </p:pic>
      <p:cxnSp>
        <p:nvCxnSpPr>
          <p:cNvPr id="27" name="Straight Connector 26">
            <a:extLst>
              <a:ext uri="{FF2B5EF4-FFF2-40B4-BE49-F238E27FC236}">
                <a16:creationId xmlns:a16="http://schemas.microsoft.com/office/drawing/2014/main" id="{68D740D3-3983-DE41-B7BD-5A9B9215E0E4}"/>
              </a:ext>
            </a:extLst>
          </p:cNvPr>
          <p:cNvCxnSpPr/>
          <p:nvPr/>
        </p:nvCxnSpPr>
        <p:spPr>
          <a:xfrm>
            <a:off x="10419057" y="200957"/>
            <a:ext cx="0" cy="4779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name="Slide 44">
    <p:bg>
      <p:bgPr>
        <a:solidFill>
          <a:srgbClr val="0E1330"/>
        </a:solidFill>
        <a:effectLst/>
      </p:bgPr>
    </p:bg>
    <p:spTree>
      <p:nvGrpSpPr>
        <p:cNvPr id="1" name=""/>
        <p:cNvGrpSpPr/>
        <p:nvPr/>
      </p:nvGrpSpPr>
      <p:grpSpPr>
        <a:xfrm>
          <a:off x="0" y="0"/>
          <a:ext cx="0" cy="0"/>
          <a:chOff x="0" y="0"/>
          <a:chExt cx="0" cy="0"/>
        </a:xfrm>
      </p:grpSpPr>
      <p:sp>
        <p:nvSpPr>
          <p:cNvPr id="2" name="Text 0"/>
          <p:cNvSpPr txBox="1"/>
          <p:nvPr/>
        </p:nvSpPr>
        <p:spPr>
          <a:xfrm>
            <a:off x="777240" y="1188720"/>
            <a:ext cx="5486400" cy="365760"/>
          </a:xfrm>
          <a:prstGeom prst="rect">
            <a:avLst/>
          </a:prstGeom>
          <a:noFill/>
          <a:ln/>
        </p:spPr>
        <p:txBody>
          <a:bodyPr wrap="square" lIns="0" tIns="0" rIns="0" bIns="0" rtlCol="0" anchor="ctr"/>
          <a:lstStyle/>
          <a:p>
            <a:pPr marL="0" indent="0">
              <a:buNone/>
            </a:pPr>
            <a:r>
              <a:rPr lang="en-US" sz="1300" b="1" kern="0" spc="200">
                <a:solidFill>
                  <a:srgbClr val="00A896"/>
                </a:solidFill>
                <a:latin typeface="Calibri" pitchFamily="34" charset="0"/>
                <a:ea typeface="Calibri" pitchFamily="34" charset="-122"/>
                <a:cs typeface="Calibri" pitchFamily="34" charset="-120"/>
              </a:rPr>
              <a:t>DAY 3</a:t>
            </a:r>
            <a:endParaRPr lang="en-US" sz="1300"/>
          </a:p>
        </p:txBody>
      </p:sp>
      <p:sp>
        <p:nvSpPr>
          <p:cNvPr id="3" name="Text 1"/>
          <p:cNvSpPr txBox="1"/>
          <p:nvPr/>
        </p:nvSpPr>
        <p:spPr>
          <a:xfrm>
            <a:off x="777240" y="1627632"/>
            <a:ext cx="10607040" cy="1371600"/>
          </a:xfrm>
          <a:prstGeom prst="rect">
            <a:avLst/>
          </a:prstGeom>
          <a:noFill/>
          <a:ln/>
        </p:spPr>
        <p:txBody>
          <a:bodyPr wrap="square" lIns="0" tIns="0" rIns="0" bIns="0" rtlCol="0" anchor="ctr"/>
          <a:lstStyle/>
          <a:p>
            <a:pPr marL="0" indent="0">
              <a:buNone/>
            </a:pPr>
            <a:r>
              <a:rPr lang="en-US" sz="4000" b="1">
                <a:solidFill>
                  <a:srgbClr val="FFFFFF"/>
                </a:solidFill>
                <a:latin typeface="Cambria" pitchFamily="34" charset="0"/>
                <a:ea typeface="Cambria" pitchFamily="34" charset="-122"/>
                <a:cs typeface="Cambria" pitchFamily="34" charset="-120"/>
              </a:rPr>
              <a:t>Quality, Validation, Privacy &amp; Industry Applications</a:t>
            </a:r>
            <a:endParaRPr lang="en-US" sz="4000"/>
          </a:p>
        </p:txBody>
      </p:sp>
      <p:sp>
        <p:nvSpPr>
          <p:cNvPr id="4" name="Text 2"/>
          <p:cNvSpPr txBox="1"/>
          <p:nvPr/>
        </p:nvSpPr>
        <p:spPr>
          <a:xfrm>
            <a:off x="777240" y="2971800"/>
            <a:ext cx="8961120" cy="457200"/>
          </a:xfrm>
          <a:prstGeom prst="rect">
            <a:avLst/>
          </a:prstGeom>
          <a:noFill/>
          <a:ln/>
        </p:spPr>
        <p:txBody>
          <a:bodyPr wrap="square" lIns="0" tIns="0" rIns="0" bIns="0" rtlCol="0" anchor="ctr"/>
          <a:lstStyle/>
          <a:p>
            <a:pPr marL="0" indent="0">
              <a:buNone/>
            </a:pPr>
            <a:r>
              <a:rPr lang="en-US" sz="1500">
                <a:solidFill>
                  <a:srgbClr val="C3C9E0"/>
                </a:solidFill>
                <a:latin typeface="Calibri" pitchFamily="34" charset="0"/>
                <a:ea typeface="Calibri" pitchFamily="34" charset="-122"/>
                <a:cs typeface="Calibri" pitchFamily="34" charset="-120"/>
              </a:rPr>
              <a:t>Deciding whether a synthetic dataset is fit to release — and proving it.</a:t>
            </a:r>
            <a:endParaRPr lang="en-US" sz="1500"/>
          </a:p>
        </p:txBody>
      </p:sp>
      <p:sp>
        <p:nvSpPr>
          <p:cNvPr id="5" name="Shape 3"/>
          <p:cNvSpPr/>
          <p:nvPr/>
        </p:nvSpPr>
        <p:spPr>
          <a:xfrm>
            <a:off x="777240" y="3931920"/>
            <a:ext cx="3352800" cy="1371600"/>
          </a:xfrm>
          <a:prstGeom prst="roundRect">
            <a:avLst>
              <a:gd name="adj" fmla="val 5333"/>
            </a:avLst>
          </a:prstGeom>
          <a:solidFill>
            <a:srgbClr val="1B2145"/>
          </a:solidFill>
          <a:ln w="12700">
            <a:solidFill>
              <a:srgbClr val="39406B"/>
            </a:solidFill>
            <a:prstDash val="solid"/>
          </a:ln>
        </p:spPr>
      </p:sp>
      <p:sp>
        <p:nvSpPr>
          <p:cNvPr id="6" name="Text 4"/>
          <p:cNvSpPr txBox="1"/>
          <p:nvPr/>
        </p:nvSpPr>
        <p:spPr>
          <a:xfrm>
            <a:off x="960120" y="4069080"/>
            <a:ext cx="548640" cy="320040"/>
          </a:xfrm>
          <a:prstGeom prst="rect">
            <a:avLst/>
          </a:prstGeom>
          <a:noFill/>
          <a:ln/>
        </p:spPr>
        <p:txBody>
          <a:bodyPr wrap="square" lIns="0" tIns="0" rIns="0" bIns="0" rtlCol="0" anchor="ctr"/>
          <a:lstStyle/>
          <a:p>
            <a:pPr marL="0" indent="0">
              <a:buNone/>
            </a:pPr>
            <a:r>
              <a:rPr lang="en-US" sz="2500" b="1">
                <a:solidFill>
                  <a:srgbClr val="00B0F0"/>
                </a:solidFill>
                <a:latin typeface="Calibri" pitchFamily="34" charset="0"/>
                <a:ea typeface="Calibri" pitchFamily="34" charset="-122"/>
                <a:cs typeface="Calibri" pitchFamily="34" charset="-120"/>
              </a:rPr>
              <a:t>1</a:t>
            </a:r>
            <a:endParaRPr lang="en-US" sz="2500">
              <a:solidFill>
                <a:srgbClr val="00B0F0"/>
              </a:solidFill>
            </a:endParaRPr>
          </a:p>
        </p:txBody>
      </p:sp>
      <p:sp>
        <p:nvSpPr>
          <p:cNvPr id="7" name="Text 5"/>
          <p:cNvSpPr txBox="1"/>
          <p:nvPr/>
        </p:nvSpPr>
        <p:spPr>
          <a:xfrm>
            <a:off x="960120" y="4407408"/>
            <a:ext cx="298704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Synthetic data quality</a:t>
            </a:r>
            <a:endParaRPr lang="en-US" sz="1200"/>
          </a:p>
        </p:txBody>
      </p:sp>
      <p:sp>
        <p:nvSpPr>
          <p:cNvPr id="8" name="Shape 6"/>
          <p:cNvSpPr/>
          <p:nvPr/>
        </p:nvSpPr>
        <p:spPr>
          <a:xfrm>
            <a:off x="4404360" y="3931920"/>
            <a:ext cx="3352800" cy="1371600"/>
          </a:xfrm>
          <a:prstGeom prst="roundRect">
            <a:avLst>
              <a:gd name="adj" fmla="val 5333"/>
            </a:avLst>
          </a:prstGeom>
          <a:solidFill>
            <a:srgbClr val="1B2145"/>
          </a:solidFill>
          <a:ln w="12700">
            <a:solidFill>
              <a:srgbClr val="39406B"/>
            </a:solidFill>
            <a:prstDash val="solid"/>
          </a:ln>
        </p:spPr>
      </p:sp>
      <p:sp>
        <p:nvSpPr>
          <p:cNvPr id="9" name="Text 7"/>
          <p:cNvSpPr txBox="1"/>
          <p:nvPr/>
        </p:nvSpPr>
        <p:spPr>
          <a:xfrm>
            <a:off x="4587240" y="4069080"/>
            <a:ext cx="548640" cy="320040"/>
          </a:xfrm>
          <a:prstGeom prst="rect">
            <a:avLst/>
          </a:prstGeom>
          <a:noFill/>
          <a:ln/>
        </p:spPr>
        <p:txBody>
          <a:bodyPr wrap="square" lIns="0" tIns="0" rIns="0" bIns="0" rtlCol="0" anchor="ctr"/>
          <a:lstStyle/>
          <a:p>
            <a:pPr marL="0" indent="0">
              <a:buNone/>
            </a:pPr>
            <a:r>
              <a:rPr lang="en-US" sz="2500" b="1">
                <a:solidFill>
                  <a:srgbClr val="00B0F0"/>
                </a:solidFill>
                <a:latin typeface="Calibri" pitchFamily="34" charset="0"/>
                <a:ea typeface="Calibri" pitchFamily="34" charset="-122"/>
                <a:cs typeface="Calibri" pitchFamily="34" charset="-120"/>
              </a:rPr>
              <a:t>2</a:t>
            </a:r>
            <a:endParaRPr lang="en-US" sz="2500">
              <a:solidFill>
                <a:srgbClr val="00B0F0"/>
              </a:solidFill>
            </a:endParaRPr>
          </a:p>
        </p:txBody>
      </p:sp>
      <p:sp>
        <p:nvSpPr>
          <p:cNvPr id="10" name="Text 8"/>
          <p:cNvSpPr txBox="1"/>
          <p:nvPr/>
        </p:nvSpPr>
        <p:spPr>
          <a:xfrm>
            <a:off x="4587240" y="4407408"/>
            <a:ext cx="298704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Privacy</a:t>
            </a:r>
            <a:endParaRPr lang="en-US" sz="1200"/>
          </a:p>
        </p:txBody>
      </p:sp>
      <p:sp>
        <p:nvSpPr>
          <p:cNvPr id="11" name="Shape 9"/>
          <p:cNvSpPr/>
          <p:nvPr/>
        </p:nvSpPr>
        <p:spPr>
          <a:xfrm>
            <a:off x="8031480" y="3931920"/>
            <a:ext cx="3352800" cy="1371600"/>
          </a:xfrm>
          <a:prstGeom prst="roundRect">
            <a:avLst>
              <a:gd name="adj" fmla="val 5333"/>
            </a:avLst>
          </a:prstGeom>
          <a:solidFill>
            <a:srgbClr val="1B2145"/>
          </a:solidFill>
          <a:ln w="12700">
            <a:solidFill>
              <a:srgbClr val="39406B"/>
            </a:solidFill>
            <a:prstDash val="solid"/>
          </a:ln>
        </p:spPr>
      </p:sp>
      <p:sp>
        <p:nvSpPr>
          <p:cNvPr id="12" name="Text 10"/>
          <p:cNvSpPr txBox="1"/>
          <p:nvPr/>
        </p:nvSpPr>
        <p:spPr>
          <a:xfrm>
            <a:off x="8214360" y="4069080"/>
            <a:ext cx="548640" cy="320040"/>
          </a:xfrm>
          <a:prstGeom prst="rect">
            <a:avLst/>
          </a:prstGeom>
          <a:noFill/>
          <a:ln/>
        </p:spPr>
        <p:txBody>
          <a:bodyPr wrap="square" lIns="0" tIns="0" rIns="0" bIns="0" rtlCol="0" anchor="ctr"/>
          <a:lstStyle/>
          <a:p>
            <a:pPr marL="0" indent="0">
              <a:buNone/>
            </a:pPr>
            <a:r>
              <a:rPr lang="en-US" sz="2500" b="1">
                <a:solidFill>
                  <a:srgbClr val="00B0F0"/>
                </a:solidFill>
                <a:latin typeface="Calibri" pitchFamily="34" charset="0"/>
                <a:ea typeface="Calibri" pitchFamily="34" charset="-122"/>
                <a:cs typeface="Calibri" pitchFamily="34" charset="-120"/>
              </a:rPr>
              <a:t>3</a:t>
            </a:r>
            <a:endParaRPr lang="en-US" sz="2500">
              <a:solidFill>
                <a:srgbClr val="00B0F0"/>
              </a:solidFill>
            </a:endParaRPr>
          </a:p>
        </p:txBody>
      </p:sp>
      <p:sp>
        <p:nvSpPr>
          <p:cNvPr id="13" name="Text 11"/>
          <p:cNvSpPr txBox="1"/>
          <p:nvPr/>
        </p:nvSpPr>
        <p:spPr>
          <a:xfrm>
            <a:off x="8214360" y="4407408"/>
            <a:ext cx="298704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Illustrative Stixis-style use case</a:t>
            </a:r>
            <a:endParaRPr lang="en-US" sz="1200"/>
          </a:p>
        </p:txBody>
      </p:sp>
      <p:sp>
        <p:nvSpPr>
          <p:cNvPr id="14" name="Text 12"/>
          <p:cNvSpPr txBox="1"/>
          <p:nvPr/>
        </p:nvSpPr>
        <p:spPr>
          <a:xfrm>
            <a:off x="777240" y="5577840"/>
            <a:ext cx="7315200" cy="365760"/>
          </a:xfrm>
          <a:prstGeom prst="rect">
            <a:avLst/>
          </a:prstGeom>
          <a:noFill/>
          <a:ln/>
        </p:spPr>
        <p:txBody>
          <a:bodyPr wrap="square" lIns="0" tIns="0" rIns="0" bIns="0" rtlCol="0" anchor="ctr"/>
          <a:lstStyle/>
          <a:p>
            <a:pPr marL="0" indent="0">
              <a:buNone/>
            </a:pPr>
            <a:r>
              <a:rPr lang="en-US" sz="1250" i="1">
                <a:solidFill>
                  <a:srgbClr val="8C93B5"/>
                </a:solidFill>
                <a:latin typeface="Calibri" pitchFamily="34" charset="0"/>
                <a:ea typeface="Calibri" pitchFamily="34" charset="-122"/>
                <a:cs typeface="Calibri" pitchFamily="34" charset="-120"/>
              </a:rPr>
              <a:t>Theory 3 hours   ·   Hands-on lab 2 hours</a:t>
            </a:r>
            <a:endParaRPr lang="en-US" sz="1250"/>
          </a:p>
        </p:txBody>
      </p:sp>
      <p:pic>
        <p:nvPicPr>
          <p:cNvPr id="18" name="Picture 17">
            <a:extLst>
              <a:ext uri="{FF2B5EF4-FFF2-40B4-BE49-F238E27FC236}">
                <a16:creationId xmlns:a16="http://schemas.microsoft.com/office/drawing/2014/main" id="{EF0FED7D-7844-AD49-A16F-23FA1713FDD2}"/>
              </a:ext>
            </a:extLst>
          </p:cNvPr>
          <p:cNvPicPr>
            <a:picLocks noChangeAspect="1"/>
          </p:cNvPicPr>
          <p:nvPr/>
        </p:nvPicPr>
        <p:blipFill>
          <a:blip r:embed="rId3"/>
          <a:stretch>
            <a:fillRect/>
          </a:stretch>
        </p:blipFill>
        <p:spPr>
          <a:xfrm>
            <a:off x="10542494" y="238595"/>
            <a:ext cx="1489412" cy="402716"/>
          </a:xfrm>
          <a:prstGeom prst="rect">
            <a:avLst/>
          </a:prstGeom>
        </p:spPr>
      </p:pic>
      <p:pic>
        <p:nvPicPr>
          <p:cNvPr id="19" name="Picture 18">
            <a:extLst>
              <a:ext uri="{FF2B5EF4-FFF2-40B4-BE49-F238E27FC236}">
                <a16:creationId xmlns:a16="http://schemas.microsoft.com/office/drawing/2014/main" id="{EF77AE9C-F4CD-654E-B454-3BF5C4933EC1}"/>
              </a:ext>
            </a:extLst>
          </p:cNvPr>
          <p:cNvPicPr>
            <a:picLocks noChangeAspect="1"/>
          </p:cNvPicPr>
          <p:nvPr/>
        </p:nvPicPr>
        <p:blipFill>
          <a:blip r:embed="rId4"/>
          <a:stretch>
            <a:fillRect/>
          </a:stretch>
        </p:blipFill>
        <p:spPr>
          <a:xfrm>
            <a:off x="8778588" y="55155"/>
            <a:ext cx="1578751" cy="769596"/>
          </a:xfrm>
          <a:prstGeom prst="rect">
            <a:avLst/>
          </a:prstGeom>
        </p:spPr>
      </p:pic>
      <p:cxnSp>
        <p:nvCxnSpPr>
          <p:cNvPr id="20" name="Straight Connector 19">
            <a:extLst>
              <a:ext uri="{FF2B5EF4-FFF2-40B4-BE49-F238E27FC236}">
                <a16:creationId xmlns:a16="http://schemas.microsoft.com/office/drawing/2014/main" id="{41FD9407-8FA8-D44E-A6BC-3078098CD2FF}"/>
              </a:ext>
            </a:extLst>
          </p:cNvPr>
          <p:cNvCxnSpPr/>
          <p:nvPr/>
        </p:nvCxnSpPr>
        <p:spPr>
          <a:xfrm>
            <a:off x="10419057" y="200957"/>
            <a:ext cx="0" cy="4779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Quality is three gates, not one score</a:t>
            </a:r>
            <a:endParaRPr lang="en-US" sz="3000"/>
          </a:p>
        </p:txBody>
      </p:sp>
      <p:pic>
        <p:nvPicPr>
          <p:cNvPr id="5" name="Image 0" descr="img/evalflow.png"/>
          <p:cNvPicPr>
            <a:picLocks noChangeAspect="1"/>
          </p:cNvPicPr>
          <p:nvPr/>
        </p:nvPicPr>
        <p:blipFill>
          <a:blip r:embed="rId3"/>
          <a:stretch>
            <a:fillRect/>
          </a:stretch>
        </p:blipFill>
        <p:spPr>
          <a:xfrm>
            <a:off x="978357" y="1554480"/>
            <a:ext cx="10241381" cy="4114800"/>
          </a:xfrm>
          <a:prstGeom prst="rect">
            <a:avLst/>
          </a:prstGeom>
        </p:spPr>
      </p:pic>
      <p:sp>
        <p:nvSpPr>
          <p:cNvPr id="6" name="Text 3"/>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Report all three together, always. A single headline number invites the reader to assume the other two were fine [27] [30].</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[10] [27] [28] [29] [30] [31]</a:t>
            </a:r>
            <a:endParaRPr lang="en-US" sz="10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Gate 1 — Fidelity: does it look like the real thing?</a:t>
            </a:r>
            <a:endParaRPr lang="en-US" sz="3000"/>
          </a:p>
        </p:txBody>
      </p:sp>
      <p:pic>
        <p:nvPicPr>
          <p:cNvPr id="5" name="Image 0" descr="img/fidelity.png"/>
          <p:cNvPicPr>
            <a:picLocks noChangeAspect="1"/>
          </p:cNvPicPr>
          <p:nvPr/>
        </p:nvPicPr>
        <p:blipFill>
          <a:blip r:embed="rId3"/>
          <a:stretch>
            <a:fillRect/>
          </a:stretch>
        </p:blipFill>
        <p:spPr>
          <a:xfrm>
            <a:off x="3187598" y="1517904"/>
            <a:ext cx="5822899" cy="2487168"/>
          </a:xfrm>
          <a:prstGeom prst="rect">
            <a:avLst/>
          </a:prstGeom>
        </p:spPr>
      </p:pic>
      <p:graphicFrame>
        <p:nvGraphicFramePr>
          <p:cNvPr id="47" name="Table 0"/>
          <p:cNvGraphicFramePr>
            <a:graphicFrameLocks noGrp="1"/>
          </p:cNvGraphicFramePr>
          <p:nvPr>
            <p:extLst>
              <p:ext uri="{D42A27DB-BD31-4B8C-83A1-F6EECF244321}">
                <p14:modId xmlns:p14="http://schemas.microsoft.com/office/powerpoint/2010/main" val="1185908170"/>
              </p:ext>
            </p:extLst>
          </p:nvPr>
        </p:nvGraphicFramePr>
        <p:xfrm>
          <a:off x="566928" y="4133088"/>
          <a:ext cx="11064240" cy="2023872"/>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02336">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Level</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Metric</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What a failure looks like</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Marginal (per column)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Kolmogorov–Smirnov statistic; total variation distance for categoricals [29]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 column's distribution is shifted or has lost a mode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Joint (pairwise)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Correlation / mutual-information delta matrix [9] [29]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Every column is right on its own, but the relationships between them are gone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Distributional</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Classifier two-sample test (C2ST); FID for images [42]</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 simple classifier separates real from synthetic almost perfectly</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Sample-level</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Realism score (α-precision) — the share of synthetic points that look like plausible real ones [27]</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 minority of synthetic records are outright implausible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[9] [27] [29] [42]</a:t>
            </a:r>
            <a:endParaRPr lang="en-US" sz="10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Gate 2 — Utility: does a model trained on it work?</a:t>
            </a:r>
            <a:endParaRPr lang="en-US" sz="3000"/>
          </a:p>
        </p:txBody>
      </p:sp>
      <p:pic>
        <p:nvPicPr>
          <p:cNvPr id="5" name="Image 0" descr="img/tstr.png"/>
          <p:cNvPicPr>
            <a:picLocks noChangeAspect="1"/>
          </p:cNvPicPr>
          <p:nvPr/>
        </p:nvPicPr>
        <p:blipFill>
          <a:blip r:embed="rId3"/>
          <a:stretch>
            <a:fillRect/>
          </a:stretch>
        </p:blipFill>
        <p:spPr>
          <a:xfrm>
            <a:off x="566928" y="1644055"/>
            <a:ext cx="6035040" cy="3844210"/>
          </a:xfrm>
          <a:prstGeom prst="rect">
            <a:avLst/>
          </a:prstGeom>
        </p:spPr>
      </p:pic>
      <p:sp>
        <p:nvSpPr>
          <p:cNvPr id="6" name="Shape 3"/>
          <p:cNvSpPr/>
          <p:nvPr/>
        </p:nvSpPr>
        <p:spPr>
          <a:xfrm>
            <a:off x="6766560" y="1691640"/>
            <a:ext cx="4864608" cy="1691640"/>
          </a:xfrm>
          <a:prstGeom prst="roundRect">
            <a:avLst>
              <a:gd name="adj" fmla="val 4324"/>
            </a:avLst>
          </a:prstGeom>
          <a:solidFill>
            <a:srgbClr val="D6F2EC"/>
          </a:solidFill>
          <a:ln w="15875">
            <a:solidFill>
              <a:srgbClr val="00A896"/>
            </a:solidFill>
            <a:prstDash val="solid"/>
          </a:ln>
        </p:spPr>
      </p:sp>
      <p:sp>
        <p:nvSpPr>
          <p:cNvPr id="7" name="Text 4"/>
          <p:cNvSpPr txBox="1"/>
          <p:nvPr/>
        </p:nvSpPr>
        <p:spPr>
          <a:xfrm>
            <a:off x="7004304" y="1847088"/>
            <a:ext cx="4389120" cy="438912"/>
          </a:xfrm>
          <a:prstGeom prst="rect">
            <a:avLst/>
          </a:prstGeom>
          <a:noFill/>
          <a:ln/>
        </p:spPr>
        <p:txBody>
          <a:bodyPr wrap="square" lIns="0" tIns="0" rIns="0" bIns="0" rtlCol="0" anchor="ctr"/>
          <a:lstStyle/>
          <a:p>
            <a:pPr marL="0" indent="0">
              <a:buNone/>
            </a:pPr>
            <a:r>
              <a:rPr lang="en-US" sz="1450" b="1">
                <a:solidFill>
                  <a:srgbClr val="00A896"/>
                </a:solidFill>
                <a:latin typeface="Calibri" pitchFamily="34" charset="0"/>
                <a:ea typeface="Calibri" pitchFamily="34" charset="-122"/>
                <a:cs typeface="Calibri" pitchFamily="34" charset="-120"/>
              </a:rPr>
              <a:t>TSTR, the core protocol</a:t>
            </a:r>
            <a:endParaRPr lang="en-US" sz="1450"/>
          </a:p>
        </p:txBody>
      </p:sp>
      <p:sp>
        <p:nvSpPr>
          <p:cNvPr id="8" name="Text 5"/>
          <p:cNvSpPr txBox="1"/>
          <p:nvPr/>
        </p:nvSpPr>
        <p:spPr>
          <a:xfrm>
            <a:off x="7004304" y="2350008"/>
            <a:ext cx="4389120" cy="8869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Train the downstream model on synthetic data only, then test it on a real hold-out set. Compare against TRTR — the same model trained on real data. The gap is the utility cost [10] [28].</a:t>
            </a:r>
            <a:endParaRPr lang="en-US" sz="1200"/>
          </a:p>
        </p:txBody>
      </p:sp>
      <p:sp>
        <p:nvSpPr>
          <p:cNvPr id="9" name="Shape 6"/>
          <p:cNvSpPr/>
          <p:nvPr/>
        </p:nvSpPr>
        <p:spPr>
          <a:xfrm>
            <a:off x="6766560" y="3520440"/>
            <a:ext cx="4864608" cy="1207008"/>
          </a:xfrm>
          <a:prstGeom prst="roundRect">
            <a:avLst>
              <a:gd name="adj" fmla="val 6061"/>
            </a:avLst>
          </a:prstGeom>
          <a:solidFill>
            <a:srgbClr val="EEF1F8"/>
          </a:solidFill>
          <a:ln w="15875">
            <a:solidFill>
              <a:srgbClr val="DCE6FA"/>
            </a:solidFill>
            <a:prstDash val="solid"/>
          </a:ln>
        </p:spPr>
      </p:sp>
      <p:sp>
        <p:nvSpPr>
          <p:cNvPr id="10" name="Text 7"/>
          <p:cNvSpPr txBox="1"/>
          <p:nvPr/>
        </p:nvSpPr>
        <p:spPr>
          <a:xfrm>
            <a:off x="7004304" y="3675888"/>
            <a:ext cx="4389120" cy="438912"/>
          </a:xfrm>
          <a:prstGeom prst="rect">
            <a:avLst/>
          </a:prstGeom>
          <a:noFill/>
          <a:ln/>
        </p:spPr>
        <p:txBody>
          <a:bodyPr wrap="square" lIns="0" tIns="0" rIns="0" bIns="0" rtlCol="0" anchor="ctr"/>
          <a:lstStyle/>
          <a:p>
            <a:pPr marL="0" indent="0">
              <a:buNone/>
            </a:pPr>
            <a:r>
              <a:rPr lang="en-US" sz="1400" b="1">
                <a:solidFill>
                  <a:srgbClr val="2E3A8C"/>
                </a:solidFill>
                <a:latin typeface="Calibri" pitchFamily="34" charset="0"/>
                <a:ea typeface="Calibri" pitchFamily="34" charset="-122"/>
                <a:cs typeface="Calibri" pitchFamily="34" charset="-120"/>
              </a:rPr>
              <a:t>Also run TRTS</a:t>
            </a:r>
            <a:endParaRPr lang="en-US" sz="1400"/>
          </a:p>
        </p:txBody>
      </p:sp>
      <p:sp>
        <p:nvSpPr>
          <p:cNvPr id="11" name="Text 8"/>
          <p:cNvSpPr txBox="1"/>
          <p:nvPr/>
        </p:nvSpPr>
        <p:spPr>
          <a:xfrm>
            <a:off x="7004304" y="4178808"/>
            <a:ext cx="4389120" cy="402336"/>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Train on real, test on synthetic. A large TRTS gap flags synthetic records that no real-data model recognises [10].</a:t>
            </a:r>
            <a:endParaRPr lang="en-US" sz="1150"/>
          </a:p>
        </p:txBody>
      </p:sp>
      <p:sp>
        <p:nvSpPr>
          <p:cNvPr id="12" name="Shape 9"/>
          <p:cNvSpPr/>
          <p:nvPr/>
        </p:nvSpPr>
        <p:spPr>
          <a:xfrm>
            <a:off x="6766560" y="4800600"/>
            <a:ext cx="4864608" cy="1234440"/>
          </a:xfrm>
          <a:prstGeom prst="roundRect">
            <a:avLst>
              <a:gd name="adj" fmla="val 5926"/>
            </a:avLst>
          </a:prstGeom>
          <a:solidFill>
            <a:srgbClr val="FBEADB"/>
          </a:solidFill>
          <a:ln w="15875">
            <a:solidFill>
              <a:srgbClr val="D9822B"/>
            </a:solidFill>
            <a:prstDash val="solid"/>
          </a:ln>
        </p:spPr>
      </p:sp>
      <p:sp>
        <p:nvSpPr>
          <p:cNvPr id="13" name="Text 10"/>
          <p:cNvSpPr txBox="1"/>
          <p:nvPr/>
        </p:nvSpPr>
        <p:spPr>
          <a:xfrm>
            <a:off x="7004304" y="4956048"/>
            <a:ext cx="4389120" cy="438912"/>
          </a:xfrm>
          <a:prstGeom prst="rect">
            <a:avLst/>
          </a:prstGeom>
          <a:noFill/>
          <a:ln/>
        </p:spPr>
        <p:txBody>
          <a:bodyPr wrap="square" lIns="0" tIns="0" rIns="0" bIns="0" rtlCol="0" anchor="ctr"/>
          <a:lstStyle/>
          <a:p>
            <a:pPr marL="0" indent="0">
              <a:buNone/>
            </a:pPr>
            <a:r>
              <a:rPr lang="en-US" sz="1400" b="1">
                <a:solidFill>
                  <a:srgbClr val="D9822B"/>
                </a:solidFill>
                <a:latin typeface="Calibri" pitchFamily="34" charset="0"/>
                <a:ea typeface="Calibri" pitchFamily="34" charset="-122"/>
                <a:cs typeface="Calibri" pitchFamily="34" charset="-120"/>
              </a:rPr>
              <a:t>The trap</a:t>
            </a:r>
            <a:endParaRPr lang="en-US" sz="1400"/>
          </a:p>
        </p:txBody>
      </p:sp>
      <p:sp>
        <p:nvSpPr>
          <p:cNvPr id="14" name="Text 11"/>
          <p:cNvSpPr txBox="1"/>
          <p:nvPr/>
        </p:nvSpPr>
        <p:spPr>
          <a:xfrm>
            <a:off x="7004304" y="5458968"/>
            <a:ext cx="4389120" cy="42976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A near-zero utility gap can mean the generator memorised the training set. Always read utility alongside Gate 3 [27] [30].</a:t>
            </a:r>
            <a:endParaRPr lang="en-US" sz="1150"/>
          </a:p>
        </p:txBody>
      </p:sp>
      <p:sp>
        <p:nvSpPr>
          <p:cNvPr id="15" name="Text 12"/>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[10] [27] [28] [30]</a:t>
            </a:r>
            <a:endParaRPr lang="en-US" sz="10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Fidelity is not enough: coverage and authenticity</a:t>
            </a:r>
            <a:endParaRPr lang="en-US" sz="3000"/>
          </a:p>
        </p:txBody>
      </p:sp>
      <p:sp>
        <p:nvSpPr>
          <p:cNvPr id="5" name="Shape 3"/>
          <p:cNvSpPr/>
          <p:nvPr/>
        </p:nvSpPr>
        <p:spPr>
          <a:xfrm>
            <a:off x="566928" y="1664208"/>
            <a:ext cx="3520440" cy="2286000"/>
          </a:xfrm>
          <a:prstGeom prst="roundRect">
            <a:avLst>
              <a:gd name="adj" fmla="val 3200"/>
            </a:avLst>
          </a:prstGeom>
          <a:solidFill>
            <a:srgbClr val="EEF1F8"/>
          </a:solidFill>
          <a:ln w="15875">
            <a:solidFill>
              <a:srgbClr val="DCE6FA"/>
            </a:solidFill>
            <a:prstDash val="solid"/>
          </a:ln>
        </p:spPr>
      </p:sp>
      <p:sp>
        <p:nvSpPr>
          <p:cNvPr id="6" name="Text 4"/>
          <p:cNvSpPr txBox="1"/>
          <p:nvPr/>
        </p:nvSpPr>
        <p:spPr>
          <a:xfrm>
            <a:off x="804672" y="1819656"/>
            <a:ext cx="3044952" cy="438912"/>
          </a:xfrm>
          <a:prstGeom prst="rect">
            <a:avLst/>
          </a:prstGeom>
          <a:noFill/>
          <a:ln/>
        </p:spPr>
        <p:txBody>
          <a:bodyPr wrap="square" lIns="0" tIns="0" rIns="0" bIns="0" rtlCol="0" anchor="ctr"/>
          <a:lstStyle/>
          <a:p>
            <a:pPr marL="0" indent="0">
              <a:buNone/>
            </a:pPr>
            <a:r>
              <a:rPr lang="en-US" sz="1700" b="1">
                <a:solidFill>
                  <a:srgbClr val="2E3A8C"/>
                </a:solidFill>
                <a:latin typeface="Calibri" pitchFamily="34" charset="0"/>
                <a:ea typeface="Calibri" pitchFamily="34" charset="-122"/>
                <a:cs typeface="Calibri" pitchFamily="34" charset="-120"/>
              </a:rPr>
              <a:t>Realism (α-precision)</a:t>
            </a:r>
            <a:endParaRPr lang="en-US" sz="1700"/>
          </a:p>
        </p:txBody>
      </p:sp>
      <p:sp>
        <p:nvSpPr>
          <p:cNvPr id="7" name="Text 5"/>
          <p:cNvSpPr txBox="1"/>
          <p:nvPr/>
        </p:nvSpPr>
        <p:spPr>
          <a:xfrm>
            <a:off x="804672" y="2322576"/>
            <a:ext cx="3044952" cy="148132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Fidelity. What share of the synthetic records look like plausible real ones? [27]</a:t>
            </a:r>
            <a:endParaRPr lang="en-US" sz="1200"/>
          </a:p>
        </p:txBody>
      </p:sp>
      <p:sp>
        <p:nvSpPr>
          <p:cNvPr id="8" name="Shape 6"/>
          <p:cNvSpPr/>
          <p:nvPr/>
        </p:nvSpPr>
        <p:spPr>
          <a:xfrm>
            <a:off x="4334256" y="1664208"/>
            <a:ext cx="3520440" cy="2286000"/>
          </a:xfrm>
          <a:prstGeom prst="roundRect">
            <a:avLst>
              <a:gd name="adj" fmla="val 3200"/>
            </a:avLst>
          </a:prstGeom>
          <a:solidFill>
            <a:srgbClr val="D6F2EC"/>
          </a:solidFill>
          <a:ln w="15875">
            <a:solidFill>
              <a:srgbClr val="00A896"/>
            </a:solidFill>
            <a:prstDash val="solid"/>
          </a:ln>
        </p:spPr>
      </p:sp>
      <p:sp>
        <p:nvSpPr>
          <p:cNvPr id="9" name="Text 7"/>
          <p:cNvSpPr txBox="1"/>
          <p:nvPr/>
        </p:nvSpPr>
        <p:spPr>
          <a:xfrm>
            <a:off x="4572000" y="1819656"/>
            <a:ext cx="3044952" cy="438912"/>
          </a:xfrm>
          <a:prstGeom prst="rect">
            <a:avLst/>
          </a:prstGeom>
          <a:noFill/>
          <a:ln/>
        </p:spPr>
        <p:txBody>
          <a:bodyPr wrap="square" lIns="0" tIns="0" rIns="0" bIns="0" rtlCol="0" anchor="ctr"/>
          <a:lstStyle/>
          <a:p>
            <a:pPr marL="0" indent="0">
              <a:buNone/>
            </a:pPr>
            <a:r>
              <a:rPr lang="en-US" sz="1700" b="1">
                <a:solidFill>
                  <a:srgbClr val="00A896"/>
                </a:solidFill>
                <a:latin typeface="Calibri" pitchFamily="34" charset="0"/>
                <a:ea typeface="Calibri" pitchFamily="34" charset="-122"/>
                <a:cs typeface="Calibri" pitchFamily="34" charset="-120"/>
              </a:rPr>
              <a:t>Diversity (β-recall)</a:t>
            </a:r>
            <a:endParaRPr lang="en-US" sz="1700"/>
          </a:p>
        </p:txBody>
      </p:sp>
      <p:sp>
        <p:nvSpPr>
          <p:cNvPr id="10" name="Text 8"/>
          <p:cNvSpPr txBox="1"/>
          <p:nvPr/>
        </p:nvSpPr>
        <p:spPr>
          <a:xfrm>
            <a:off x="4572000" y="2322576"/>
            <a:ext cx="3044952" cy="148132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Coverage. How much of the real data's variety does the synthetic data reproduce — did we lose any subpopulations? [27]</a:t>
            </a:r>
            <a:endParaRPr lang="en-US" sz="1200"/>
          </a:p>
        </p:txBody>
      </p:sp>
      <p:sp>
        <p:nvSpPr>
          <p:cNvPr id="11" name="Shape 9"/>
          <p:cNvSpPr/>
          <p:nvPr/>
        </p:nvSpPr>
        <p:spPr>
          <a:xfrm>
            <a:off x="8101584" y="1664208"/>
            <a:ext cx="3529584" cy="2286000"/>
          </a:xfrm>
          <a:prstGeom prst="roundRect">
            <a:avLst>
              <a:gd name="adj" fmla="val 3200"/>
            </a:avLst>
          </a:prstGeom>
          <a:solidFill>
            <a:srgbClr val="FBEADB"/>
          </a:solidFill>
          <a:ln w="15875">
            <a:solidFill>
              <a:srgbClr val="D9822B"/>
            </a:solidFill>
            <a:prstDash val="solid"/>
          </a:ln>
        </p:spPr>
      </p:sp>
      <p:sp>
        <p:nvSpPr>
          <p:cNvPr id="12" name="Text 10"/>
          <p:cNvSpPr txBox="1"/>
          <p:nvPr/>
        </p:nvSpPr>
        <p:spPr>
          <a:xfrm>
            <a:off x="8339328" y="1819656"/>
            <a:ext cx="3054096" cy="438912"/>
          </a:xfrm>
          <a:prstGeom prst="rect">
            <a:avLst/>
          </a:prstGeom>
          <a:noFill/>
          <a:ln/>
        </p:spPr>
        <p:txBody>
          <a:bodyPr wrap="square" lIns="0" tIns="0" rIns="0" bIns="0" rtlCol="0" anchor="ctr"/>
          <a:lstStyle/>
          <a:p>
            <a:pPr marL="0" indent="0">
              <a:buNone/>
            </a:pPr>
            <a:r>
              <a:rPr lang="en-US" sz="1700" b="1">
                <a:solidFill>
                  <a:srgbClr val="D9822B"/>
                </a:solidFill>
                <a:latin typeface="Calibri" pitchFamily="34" charset="0"/>
                <a:ea typeface="Calibri" pitchFamily="34" charset="-122"/>
                <a:cs typeface="Calibri" pitchFamily="34" charset="-120"/>
              </a:rPr>
              <a:t>Authenticity</a:t>
            </a:r>
            <a:endParaRPr lang="en-US" sz="1700"/>
          </a:p>
        </p:txBody>
      </p:sp>
      <p:sp>
        <p:nvSpPr>
          <p:cNvPr id="13" name="Text 11"/>
          <p:cNvSpPr txBox="1"/>
          <p:nvPr/>
        </p:nvSpPr>
        <p:spPr>
          <a:xfrm>
            <a:off x="8339328" y="2322576"/>
            <a:ext cx="3054096" cy="148132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Novelty. What share of the synthetic records are genuinely new, rather than copies of training records? [27]</a:t>
            </a:r>
            <a:endParaRPr lang="en-US" sz="1200"/>
          </a:p>
        </p:txBody>
      </p:sp>
      <p:sp>
        <p:nvSpPr>
          <p:cNvPr id="14" name="Shape 12"/>
          <p:cNvSpPr/>
          <p:nvPr/>
        </p:nvSpPr>
        <p:spPr>
          <a:xfrm>
            <a:off x="566928" y="4114800"/>
            <a:ext cx="11064240" cy="1188720"/>
          </a:xfrm>
          <a:prstGeom prst="roundRect">
            <a:avLst>
              <a:gd name="adj" fmla="val 6154"/>
            </a:avLst>
          </a:prstGeom>
          <a:solidFill>
            <a:schemeClr val="accent1">
              <a:lumMod val="75000"/>
            </a:schemeClr>
          </a:solidFill>
          <a:ln w="15875">
            <a:noFill/>
            <a:prstDash val="solid"/>
          </a:ln>
        </p:spPr>
      </p:sp>
      <p:sp>
        <p:nvSpPr>
          <p:cNvPr id="15" name="Text 13"/>
          <p:cNvSpPr txBox="1"/>
          <p:nvPr/>
        </p:nvSpPr>
        <p:spPr>
          <a:xfrm>
            <a:off x="804672" y="4270248"/>
            <a:ext cx="10588752" cy="438912"/>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Why this three-way split is the right frame</a:t>
            </a:r>
            <a:endParaRPr lang="en-US" sz="1400"/>
          </a:p>
        </p:txBody>
      </p:sp>
      <p:sp>
        <p:nvSpPr>
          <p:cNvPr id="16" name="Text 14"/>
          <p:cNvSpPr txBox="1"/>
          <p:nvPr/>
        </p:nvSpPr>
        <p:spPr>
          <a:xfrm>
            <a:off x="804672" y="4773168"/>
            <a:ext cx="10588752" cy="384048"/>
          </a:xfrm>
          <a:prstGeom prst="rect">
            <a:avLst/>
          </a:prstGeom>
          <a:noFill/>
          <a:ln/>
        </p:spPr>
        <p:txBody>
          <a:bodyPr wrap="square" lIns="0" tIns="0" rIns="0" bIns="0" rtlCol="0" anchor="t"/>
          <a:lstStyle/>
          <a:p>
            <a:pPr marL="0" indent="0">
              <a:lnSpc>
                <a:spcPct val="112000"/>
              </a:lnSpc>
              <a:buNone/>
            </a:pPr>
            <a:r>
              <a:rPr lang="en-US" sz="1250">
                <a:solidFill>
                  <a:srgbClr val="E4E8F4"/>
                </a:solidFill>
                <a:latin typeface="Calibri" pitchFamily="34" charset="0"/>
                <a:ea typeface="Calibri" pitchFamily="34" charset="-122"/>
                <a:cs typeface="Calibri" pitchFamily="34" charset="-120"/>
              </a:rPr>
              <a:t>These are independent axes. A </a:t>
            </a:r>
            <a:r>
              <a:rPr lang="en-US" sz="1250" err="1">
                <a:solidFill>
                  <a:srgbClr val="E4E8F4"/>
                </a:solidFill>
                <a:latin typeface="Calibri" pitchFamily="34" charset="0"/>
                <a:ea typeface="Calibri" pitchFamily="34" charset="-122"/>
                <a:cs typeface="Calibri" pitchFamily="34" charset="-120"/>
              </a:rPr>
              <a:t>memorising</a:t>
            </a:r>
            <a:r>
              <a:rPr lang="en-US" sz="1250">
                <a:solidFill>
                  <a:srgbClr val="E4E8F4"/>
                </a:solidFill>
                <a:latin typeface="Calibri" pitchFamily="34" charset="0"/>
                <a:ea typeface="Calibri" pitchFamily="34" charset="-122"/>
                <a:cs typeface="Calibri" pitchFamily="34" charset="-120"/>
              </a:rPr>
              <a:t> generator scores perfectly on precision and recall while scoring zero on authenticity   which is exactly the case that a two-axis metric cannot detect, and exactly the case that leaks [27].</a:t>
            </a:r>
            <a:endParaRPr lang="en-US" sz="1250"/>
          </a:p>
        </p:txBody>
      </p:sp>
      <p:sp>
        <p:nvSpPr>
          <p:cNvPr id="17" name="Text 15"/>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Practical consequence: authenticity is the bridge between the quality gate and the privacy gate — it is a quality metric that measures a privacy property.</a:t>
            </a:r>
            <a:endParaRPr lang="en-US" sz="1100"/>
          </a:p>
        </p:txBody>
      </p:sp>
      <p:sp>
        <p:nvSpPr>
          <p:cNvPr id="18" name="Text 16"/>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[27]</a:t>
            </a:r>
            <a:endParaRPr lang="en-US" sz="10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2</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Gate 3 — Privacy: what an attacker actually tries</a:t>
            </a:r>
            <a:endParaRPr lang="en-US" sz="3000"/>
          </a:p>
        </p:txBody>
      </p:sp>
      <p:pic>
        <p:nvPicPr>
          <p:cNvPr id="5" name="Image 0" descr="img/attacks.png"/>
          <p:cNvPicPr>
            <a:picLocks noChangeAspect="1"/>
          </p:cNvPicPr>
          <p:nvPr/>
        </p:nvPicPr>
        <p:blipFill>
          <a:blip r:embed="rId3"/>
          <a:stretch>
            <a:fillRect/>
          </a:stretch>
        </p:blipFill>
        <p:spPr>
          <a:xfrm>
            <a:off x="1254252" y="1554480"/>
            <a:ext cx="9689592" cy="4023360"/>
          </a:xfrm>
          <a:prstGeom prst="rect">
            <a:avLst/>
          </a:prstGeom>
        </p:spPr>
      </p:pic>
      <p:sp>
        <p:nvSpPr>
          <p:cNvPr id="6" name="Text 3"/>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None of these attacks needs access to the generator. They operate on the released synthetic dataset, which is the threat model that matters for publication [30].</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[27] [29] [30] [31]</a:t>
            </a:r>
            <a:endParaRPr lang="en-US" sz="1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2</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Differential privacy: the only formal guarantee on offer</a:t>
            </a:r>
            <a:endParaRPr lang="en-US" sz="3000"/>
          </a:p>
        </p:txBody>
      </p:sp>
      <p:pic>
        <p:nvPicPr>
          <p:cNvPr id="5" name="Image 0" descr="img/dp.png"/>
          <p:cNvPicPr>
            <a:picLocks noChangeAspect="1"/>
          </p:cNvPicPr>
          <p:nvPr/>
        </p:nvPicPr>
        <p:blipFill>
          <a:blip r:embed="rId3"/>
          <a:stretch>
            <a:fillRect/>
          </a:stretch>
        </p:blipFill>
        <p:spPr>
          <a:xfrm>
            <a:off x="1432408" y="1508760"/>
            <a:ext cx="9326880" cy="3464270"/>
          </a:xfrm>
          <a:prstGeom prst="rect">
            <a:avLst/>
          </a:prstGeom>
        </p:spPr>
      </p:pic>
      <p:sp>
        <p:nvSpPr>
          <p:cNvPr id="6" name="Shape 3"/>
          <p:cNvSpPr/>
          <p:nvPr/>
        </p:nvSpPr>
        <p:spPr>
          <a:xfrm>
            <a:off x="566928" y="5257800"/>
            <a:ext cx="5440680" cy="777240"/>
          </a:xfrm>
          <a:prstGeom prst="roundRect">
            <a:avLst>
              <a:gd name="adj" fmla="val 9412"/>
            </a:avLst>
          </a:prstGeom>
          <a:solidFill>
            <a:srgbClr val="EEF1F8"/>
          </a:solidFill>
          <a:ln w="15875">
            <a:solidFill>
              <a:srgbClr val="DCE6FA"/>
            </a:solidFill>
            <a:prstDash val="solid"/>
          </a:ln>
        </p:spPr>
      </p:sp>
      <p:sp>
        <p:nvSpPr>
          <p:cNvPr id="7" name="Text 4"/>
          <p:cNvSpPr txBox="1"/>
          <p:nvPr/>
        </p:nvSpPr>
        <p:spPr>
          <a:xfrm>
            <a:off x="804672" y="5440680"/>
            <a:ext cx="4965192" cy="448056"/>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ε sets how similar the two outputs must be. Smaller ε means stronger protection but more noise, and utility can collapse [25] [26].</a:t>
            </a:r>
            <a:endParaRPr lang="en-US" sz="1150"/>
          </a:p>
        </p:txBody>
      </p:sp>
      <p:sp>
        <p:nvSpPr>
          <p:cNvPr id="8" name="Shape 5"/>
          <p:cNvSpPr/>
          <p:nvPr/>
        </p:nvSpPr>
        <p:spPr>
          <a:xfrm>
            <a:off x="6190488" y="5257800"/>
            <a:ext cx="5440680" cy="777240"/>
          </a:xfrm>
          <a:prstGeom prst="roundRect">
            <a:avLst>
              <a:gd name="adj" fmla="val 9412"/>
            </a:avLst>
          </a:prstGeom>
          <a:solidFill>
            <a:srgbClr val="D6F2EC"/>
          </a:solidFill>
          <a:ln w="15875">
            <a:solidFill>
              <a:srgbClr val="00A896"/>
            </a:solidFill>
            <a:prstDash val="solid"/>
          </a:ln>
        </p:spPr>
      </p:sp>
      <p:sp>
        <p:nvSpPr>
          <p:cNvPr id="9" name="Text 6"/>
          <p:cNvSpPr txBox="1"/>
          <p:nvPr/>
        </p:nvSpPr>
        <p:spPr>
          <a:xfrm>
            <a:off x="6428232" y="5440680"/>
            <a:ext cx="4965192" cy="448056"/>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In practice: train the generator with a DP mechanism and publish ε with the dataset, so the claimed protection can be checked [24] [25].</a:t>
            </a:r>
            <a:endParaRPr lang="en-US" sz="1150"/>
          </a:p>
        </p:txBody>
      </p:sp>
      <p:sp>
        <p:nvSpPr>
          <p:cNvPr id="10" name="Text 7"/>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[24] [25] [26]</a:t>
            </a:r>
            <a:endParaRPr lang="en-US" sz="10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2</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uncomfortable finding you should know about</a:t>
            </a:r>
            <a:endParaRPr lang="en-US" sz="3000"/>
          </a:p>
        </p:txBody>
      </p:sp>
      <p:pic>
        <p:nvPicPr>
          <p:cNvPr id="5" name="Image 0" descr="img/tradeoff.png"/>
          <p:cNvPicPr>
            <a:picLocks noChangeAspect="1"/>
          </p:cNvPicPr>
          <p:nvPr/>
        </p:nvPicPr>
        <p:blipFill>
          <a:blip r:embed="rId3"/>
          <a:stretch>
            <a:fillRect/>
          </a:stretch>
        </p:blipFill>
        <p:spPr>
          <a:xfrm>
            <a:off x="566928" y="1584280"/>
            <a:ext cx="5943600" cy="3963761"/>
          </a:xfrm>
          <a:prstGeom prst="rect">
            <a:avLst/>
          </a:prstGeom>
        </p:spPr>
      </p:pic>
      <p:sp>
        <p:nvSpPr>
          <p:cNvPr id="6" name="Shape 3"/>
          <p:cNvSpPr/>
          <p:nvPr/>
        </p:nvSpPr>
        <p:spPr>
          <a:xfrm>
            <a:off x="6675120" y="1691640"/>
            <a:ext cx="4956048" cy="2148840"/>
          </a:xfrm>
          <a:prstGeom prst="roundRect">
            <a:avLst>
              <a:gd name="adj" fmla="val 3404"/>
            </a:avLst>
          </a:prstGeom>
          <a:solidFill>
            <a:srgbClr val="FBEADB"/>
          </a:solidFill>
          <a:ln w="15875">
            <a:solidFill>
              <a:srgbClr val="B03A48"/>
            </a:solidFill>
            <a:prstDash val="solid"/>
          </a:ln>
        </p:spPr>
      </p:sp>
      <p:sp>
        <p:nvSpPr>
          <p:cNvPr id="7" name="Text 4"/>
          <p:cNvSpPr txBox="1"/>
          <p:nvPr/>
        </p:nvSpPr>
        <p:spPr>
          <a:xfrm>
            <a:off x="6912864" y="1847088"/>
            <a:ext cx="4480560" cy="438912"/>
          </a:xfrm>
          <a:prstGeom prst="rect">
            <a:avLst/>
          </a:prstGeom>
          <a:noFill/>
          <a:ln/>
        </p:spPr>
        <p:txBody>
          <a:bodyPr wrap="square" lIns="0" tIns="0" rIns="0" bIns="0" rtlCol="0" anchor="ctr"/>
          <a:lstStyle/>
          <a:p>
            <a:pPr marL="0" indent="0">
              <a:buNone/>
            </a:pPr>
            <a:r>
              <a:rPr lang="en-US" sz="1500" b="1">
                <a:solidFill>
                  <a:srgbClr val="B03A48"/>
                </a:solidFill>
                <a:latin typeface="Calibri" pitchFamily="34" charset="0"/>
                <a:ea typeface="Calibri" pitchFamily="34" charset="-122"/>
                <a:cs typeface="Calibri" pitchFamily="34" charset="-120"/>
              </a:rPr>
              <a:t>The empirical result</a:t>
            </a:r>
            <a:endParaRPr lang="en-US" sz="1500"/>
          </a:p>
        </p:txBody>
      </p:sp>
      <p:sp>
        <p:nvSpPr>
          <p:cNvPr id="8" name="Text 5"/>
          <p:cNvSpPr txBox="1"/>
          <p:nvPr/>
        </p:nvSpPr>
        <p:spPr>
          <a:xfrm>
            <a:off x="6912864" y="2350008"/>
            <a:ext cx="4480560" cy="13441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A controlled evaluation across a range of generative models found that synthetic data either failed to prevent inference attacks or failed to retain utility — and that the trade-off was hard to predict in advance [30].</a:t>
            </a:r>
            <a:endParaRPr lang="en-US" sz="1200"/>
          </a:p>
        </p:txBody>
      </p:sp>
      <p:sp>
        <p:nvSpPr>
          <p:cNvPr id="9" name="Shape 6"/>
          <p:cNvSpPr/>
          <p:nvPr/>
        </p:nvSpPr>
        <p:spPr>
          <a:xfrm>
            <a:off x="6675120" y="4023360"/>
            <a:ext cx="4956048" cy="1828800"/>
          </a:xfrm>
          <a:prstGeom prst="roundRect">
            <a:avLst>
              <a:gd name="adj" fmla="val 4000"/>
            </a:avLst>
          </a:prstGeom>
          <a:solidFill>
            <a:srgbClr val="D6F2EC"/>
          </a:solidFill>
          <a:ln w="15875">
            <a:solidFill>
              <a:srgbClr val="00A896"/>
            </a:solidFill>
            <a:prstDash val="solid"/>
          </a:ln>
        </p:spPr>
      </p:sp>
      <p:sp>
        <p:nvSpPr>
          <p:cNvPr id="10" name="Text 7"/>
          <p:cNvSpPr txBox="1"/>
          <p:nvPr/>
        </p:nvSpPr>
        <p:spPr>
          <a:xfrm>
            <a:off x="6912864" y="4178808"/>
            <a:ext cx="4480560"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What to do about it</a:t>
            </a:r>
            <a:endParaRPr lang="en-US" sz="1500"/>
          </a:p>
        </p:txBody>
      </p:sp>
      <p:sp>
        <p:nvSpPr>
          <p:cNvPr id="11" name="Text 8"/>
          <p:cNvSpPr txBox="1"/>
          <p:nvPr/>
        </p:nvSpPr>
        <p:spPr>
          <a:xfrm>
            <a:off x="6912864" y="4681728"/>
            <a:ext cx="4480560" cy="102412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Do not claim anonymity. Claim a measured risk reduction, state the ε if you used a DP mechanism, publish the attack results you ran, and re-run them whenever the generator changes [24] [30].</a:t>
            </a:r>
            <a:endParaRPr lang="en-US" sz="1200"/>
          </a:p>
        </p:txBody>
      </p:sp>
      <p:sp>
        <p:nvSpPr>
          <p:cNvPr id="12" name="Text 9"/>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[24] [26] [30]</a:t>
            </a:r>
            <a:endParaRPr lang="en-US" sz="10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2</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A release checklist you can actually use</a:t>
            </a:r>
            <a:endParaRPr lang="en-US" sz="3000"/>
          </a:p>
        </p:txBody>
      </p:sp>
      <p:graphicFrame>
        <p:nvGraphicFramePr>
          <p:cNvPr id="53" name="Table 0"/>
          <p:cNvGraphicFramePr>
            <a:graphicFrameLocks noGrp="1"/>
          </p:cNvGraphicFramePr>
          <p:nvPr>
            <p:extLst>
              <p:ext uri="{D42A27DB-BD31-4B8C-83A1-F6EECF244321}">
                <p14:modId xmlns:p14="http://schemas.microsoft.com/office/powerpoint/2010/main" val="2826651450"/>
              </p:ext>
            </p:extLst>
          </p:nvPr>
        </p:nvGraphicFramePr>
        <p:xfrm>
          <a:off x="566928" y="1591056"/>
          <a:ext cx="11064240" cy="4425696"/>
        </p:xfrm>
        <a:graphic>
          <a:graphicData uri="http://schemas.openxmlformats.org/drawingml/2006/table">
            <a:tbl>
              <a:tblPr/>
              <a:tblGrid>
                <a:gridCol w="5486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402336">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Check</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Pass condition</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Purpose and audience of the release are documented</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 named downstream task exists; utility is measured against it [1]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2</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Generator, version, training data and seed are recorded</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The dataset is reproducible and auditable [1]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3</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Fidelity gate run at marginal, joint and sample level</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KS, correlation delta and a realism score (α-precision) reported [27] [29]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4</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Utility gate run as TSTR against a real hold-out</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Gap to TRTR is within the agreed tolerance [10]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5</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Coverage checked, not just fidelity</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 diversity score (β-recall) confirms no subpopulation was dropped [27]</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5"/>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6</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Memorisation checked</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Authenticity score and distance to the closest real record reported [27] [29]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7</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Membership inference attack executed</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Attacker advantage over random guessing is within tolerance [30] [31]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7"/>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8</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Privacy budget stated if a DP mechanism was used</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ε and δ published alongside the dataset [24] [25]</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Business-rule repair rate recorded</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Repair rate is low enough that the model, not the patch, is doing the work</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9"/>
                  </a:ext>
                </a:extLst>
              </a:tr>
              <a:tr h="402336">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10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Re-evaluation trigger defined</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Any change to model, data or schema re-opens all three gates [30]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Text 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 [10] [24] [25] [27] [29] [30] [31]</a:t>
            </a:r>
            <a:endParaRPr lang="en-US" sz="10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LEARNING CHECK</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Five-minute check: make the call</a:t>
            </a:r>
            <a:endParaRPr lang="en-US" sz="3000"/>
          </a:p>
        </p:txBody>
      </p:sp>
      <p:sp>
        <p:nvSpPr>
          <p:cNvPr id="5" name="Shape 3"/>
          <p:cNvSpPr/>
          <p:nvPr/>
        </p:nvSpPr>
        <p:spPr>
          <a:xfrm>
            <a:off x="566928" y="1737360"/>
            <a:ext cx="11064240" cy="1234440"/>
          </a:xfrm>
          <a:prstGeom prst="roundRect">
            <a:avLst>
              <a:gd name="adj" fmla="val 5926"/>
            </a:avLst>
          </a:prstGeom>
          <a:solidFill>
            <a:srgbClr val="D6F2EC"/>
          </a:solidFill>
          <a:ln w="15875">
            <a:solidFill>
              <a:srgbClr val="00A896"/>
            </a:solidFill>
            <a:prstDash val="solid"/>
          </a:ln>
        </p:spPr>
      </p:sp>
      <p:sp>
        <p:nvSpPr>
          <p:cNvPr id="6" name="Shape 4"/>
          <p:cNvSpPr/>
          <p:nvPr/>
        </p:nvSpPr>
        <p:spPr>
          <a:xfrm>
            <a:off x="768096" y="1920240"/>
            <a:ext cx="384048" cy="384048"/>
          </a:xfrm>
          <a:prstGeom prst="ellipse">
            <a:avLst/>
          </a:prstGeom>
          <a:solidFill>
            <a:srgbClr val="00A896"/>
          </a:solidFill>
          <a:ln w="12700">
            <a:solidFill>
              <a:srgbClr val="00A896"/>
            </a:solidFill>
            <a:prstDash val="solid"/>
          </a:ln>
        </p:spPr>
      </p:sp>
      <p:sp>
        <p:nvSpPr>
          <p:cNvPr id="7" name="Text 5"/>
          <p:cNvSpPr txBox="1"/>
          <p:nvPr/>
        </p:nvSpPr>
        <p:spPr>
          <a:xfrm>
            <a:off x="768096" y="192024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280160" y="1892808"/>
            <a:ext cx="10149840"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The scorecard</a:t>
            </a:r>
            <a:endParaRPr lang="en-US" sz="1500"/>
          </a:p>
        </p:txBody>
      </p:sp>
      <p:sp>
        <p:nvSpPr>
          <p:cNvPr id="9" name="Text 7"/>
          <p:cNvSpPr txBox="1"/>
          <p:nvPr/>
        </p:nvSpPr>
        <p:spPr>
          <a:xfrm>
            <a:off x="804672" y="239572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A dataset scores: KS statistic 0.21 (real vs synthetic), TSTR 87% (vs 91% real-on-real), authenticity 0.96.</a:t>
            </a:r>
            <a:endParaRPr lang="en-US" sz="1200"/>
          </a:p>
        </p:txBody>
      </p:sp>
      <p:sp>
        <p:nvSpPr>
          <p:cNvPr id="10" name="Shape 8"/>
          <p:cNvSpPr/>
          <p:nvPr/>
        </p:nvSpPr>
        <p:spPr>
          <a:xfrm>
            <a:off x="566928" y="3154680"/>
            <a:ext cx="11064240" cy="1234440"/>
          </a:xfrm>
          <a:prstGeom prst="roundRect">
            <a:avLst>
              <a:gd name="adj" fmla="val 5926"/>
            </a:avLst>
          </a:prstGeom>
          <a:solidFill>
            <a:srgbClr val="EEF1F8"/>
          </a:solidFill>
          <a:ln w="15875">
            <a:solidFill>
              <a:srgbClr val="DCE6FA"/>
            </a:solidFill>
            <a:prstDash val="solid"/>
          </a:ln>
        </p:spPr>
      </p:sp>
      <p:sp>
        <p:nvSpPr>
          <p:cNvPr id="11" name="Shape 9"/>
          <p:cNvSpPr/>
          <p:nvPr/>
        </p:nvSpPr>
        <p:spPr>
          <a:xfrm>
            <a:off x="768096" y="3337560"/>
            <a:ext cx="384048" cy="384048"/>
          </a:xfrm>
          <a:prstGeom prst="ellipse">
            <a:avLst/>
          </a:prstGeom>
          <a:solidFill>
            <a:srgbClr val="2E3A8C"/>
          </a:solidFill>
          <a:ln w="12700">
            <a:solidFill>
              <a:srgbClr val="2E3A8C"/>
            </a:solidFill>
            <a:prstDash val="solid"/>
          </a:ln>
        </p:spPr>
      </p:sp>
      <p:sp>
        <p:nvSpPr>
          <p:cNvPr id="12" name="Text 10"/>
          <p:cNvSpPr txBox="1"/>
          <p:nvPr/>
        </p:nvSpPr>
        <p:spPr>
          <a:xfrm>
            <a:off x="768096" y="333756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3" name="Text 11"/>
          <p:cNvSpPr txBox="1"/>
          <p:nvPr/>
        </p:nvSpPr>
        <p:spPr>
          <a:xfrm>
            <a:off x="1280160" y="3310128"/>
            <a:ext cx="10149840" cy="438912"/>
          </a:xfrm>
          <a:prstGeom prst="rect">
            <a:avLst/>
          </a:prstGeom>
          <a:noFill/>
          <a:ln/>
        </p:spPr>
        <p:txBody>
          <a:bodyPr wrap="square" lIns="0" tIns="0" rIns="0" bIns="0" rtlCol="0" anchor="ctr"/>
          <a:lstStyle/>
          <a:p>
            <a:pPr marL="0" indent="0">
              <a:buNone/>
            </a:pPr>
            <a:r>
              <a:rPr lang="en-US" sz="1500" b="1">
                <a:solidFill>
                  <a:srgbClr val="2E3A8C"/>
                </a:solidFill>
                <a:latin typeface="Calibri" pitchFamily="34" charset="0"/>
                <a:ea typeface="Calibri" pitchFamily="34" charset="-122"/>
                <a:cs typeface="Calibri" pitchFamily="34" charset="-120"/>
              </a:rPr>
              <a:t>Interpret it</a:t>
            </a:r>
            <a:endParaRPr lang="en-US" sz="1500"/>
          </a:p>
        </p:txBody>
      </p:sp>
      <p:sp>
        <p:nvSpPr>
          <p:cNvPr id="14" name="Text 12"/>
          <p:cNvSpPr txBox="1"/>
          <p:nvPr/>
        </p:nvSpPr>
        <p:spPr>
          <a:xfrm>
            <a:off x="804672" y="381304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Which gate looks weakest here — fidelity, utility or privacy? Is that gap large enough to worry about on its own?</a:t>
            </a:r>
            <a:endParaRPr lang="en-US" sz="1200"/>
          </a:p>
        </p:txBody>
      </p:sp>
      <p:sp>
        <p:nvSpPr>
          <p:cNvPr id="15" name="Shape 13"/>
          <p:cNvSpPr/>
          <p:nvPr/>
        </p:nvSpPr>
        <p:spPr>
          <a:xfrm>
            <a:off x="566928" y="4572000"/>
            <a:ext cx="11064240" cy="1234440"/>
          </a:xfrm>
          <a:prstGeom prst="roundRect">
            <a:avLst>
              <a:gd name="adj" fmla="val 5926"/>
            </a:avLst>
          </a:prstGeom>
          <a:solidFill>
            <a:srgbClr val="FBEADB"/>
          </a:solidFill>
          <a:ln w="15875">
            <a:solidFill>
              <a:srgbClr val="D9822B"/>
            </a:solidFill>
            <a:prstDash val="solid"/>
          </a:ln>
        </p:spPr>
      </p:sp>
      <p:sp>
        <p:nvSpPr>
          <p:cNvPr id="16" name="Shape 14"/>
          <p:cNvSpPr/>
          <p:nvPr/>
        </p:nvSpPr>
        <p:spPr>
          <a:xfrm>
            <a:off x="768096" y="4754880"/>
            <a:ext cx="384048" cy="384048"/>
          </a:xfrm>
          <a:prstGeom prst="ellipse">
            <a:avLst/>
          </a:prstGeom>
          <a:solidFill>
            <a:srgbClr val="D9822B"/>
          </a:solidFill>
          <a:ln w="12700">
            <a:solidFill>
              <a:srgbClr val="D9822B"/>
            </a:solidFill>
            <a:prstDash val="solid"/>
          </a:ln>
        </p:spPr>
      </p:sp>
      <p:sp>
        <p:nvSpPr>
          <p:cNvPr id="17" name="Text 15"/>
          <p:cNvSpPr txBox="1"/>
          <p:nvPr/>
        </p:nvSpPr>
        <p:spPr>
          <a:xfrm>
            <a:off x="768096" y="47548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txBox="1"/>
          <p:nvPr/>
        </p:nvSpPr>
        <p:spPr>
          <a:xfrm>
            <a:off x="1280160" y="4727448"/>
            <a:ext cx="10149840" cy="438912"/>
          </a:xfrm>
          <a:prstGeom prst="rect">
            <a:avLst/>
          </a:prstGeom>
          <a:noFill/>
          <a:ln/>
        </p:spPr>
        <p:txBody>
          <a:bodyPr wrap="square" lIns="0" tIns="0" rIns="0" bIns="0" rtlCol="0" anchor="ctr"/>
          <a:lstStyle/>
          <a:p>
            <a:pPr marL="0" indent="0">
              <a:buNone/>
            </a:pPr>
            <a:r>
              <a:rPr lang="en-US" sz="1500" b="1">
                <a:solidFill>
                  <a:srgbClr val="D9822B"/>
                </a:solidFill>
                <a:latin typeface="Calibri" pitchFamily="34" charset="0"/>
                <a:ea typeface="Calibri" pitchFamily="34" charset="-122"/>
                <a:cs typeface="Calibri" pitchFamily="34" charset="-120"/>
              </a:rPr>
              <a:t>Make the call</a:t>
            </a:r>
            <a:endParaRPr lang="en-US" sz="1500"/>
          </a:p>
        </p:txBody>
      </p:sp>
      <p:sp>
        <p:nvSpPr>
          <p:cNvPr id="19" name="Text 17"/>
          <p:cNvSpPr txBox="1"/>
          <p:nvPr/>
        </p:nvSpPr>
        <p:spPr>
          <a:xfrm>
            <a:off x="804672" y="523036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Would you release this dataset? Decide, then write the one sentence you would use to defend your decision.</a:t>
            </a:r>
            <a:endParaRPr lang="en-US" sz="1200"/>
          </a:p>
        </p:txBody>
      </p:sp>
      <p:sp>
        <p:nvSpPr>
          <p:cNvPr id="20" name="Shape 18"/>
          <p:cNvSpPr/>
          <p:nvPr/>
        </p:nvSpPr>
        <p:spPr>
          <a:xfrm>
            <a:off x="566928" y="5486400"/>
            <a:ext cx="11064240" cy="658368"/>
          </a:xfrm>
          <a:prstGeom prst="roundRect">
            <a:avLst>
              <a:gd name="adj" fmla="val 11111"/>
            </a:avLst>
          </a:prstGeom>
          <a:solidFill>
            <a:schemeClr val="accent1">
              <a:lumMod val="75000"/>
            </a:schemeClr>
          </a:solidFill>
          <a:ln w="15875">
            <a:noFill/>
            <a:prstDash val="solid"/>
          </a:ln>
        </p:spPr>
      </p:sp>
      <p:sp>
        <p:nvSpPr>
          <p:cNvPr id="21" name="Text 19"/>
          <p:cNvSpPr txBox="1"/>
          <p:nvPr/>
        </p:nvSpPr>
        <p:spPr>
          <a:xfrm>
            <a:off x="804672" y="5669280"/>
            <a:ext cx="10588752" cy="329184"/>
          </a:xfrm>
          <a:prstGeom prst="rect">
            <a:avLst/>
          </a:prstGeom>
          <a:noFill/>
          <a:ln/>
        </p:spPr>
        <p:txBody>
          <a:bodyPr wrap="square" lIns="0" tIns="0" rIns="0" bIns="0" rtlCol="0" anchor="t"/>
          <a:lstStyle/>
          <a:p>
            <a:pPr marL="0" indent="0">
              <a:lnSpc>
                <a:spcPct val="112000"/>
              </a:lnSpc>
              <a:buNone/>
            </a:pPr>
            <a:r>
              <a:rPr lang="en-US" sz="1250">
                <a:solidFill>
                  <a:srgbClr val="E4E8F4"/>
                </a:solidFill>
                <a:latin typeface="Calibri" pitchFamily="34" charset="0"/>
                <a:ea typeface="Calibri" pitchFamily="34" charset="-122"/>
                <a:cs typeface="Calibri" pitchFamily="34" charset="-120"/>
              </a:rPr>
              <a:t>There is rarely one correct answer. What matters is that the decision is traceable to the numbers, not to a gut feeling — which is exactly what today’s scorecard is for.</a:t>
            </a:r>
            <a:endParaRPr lang="en-US" sz="1250"/>
          </a:p>
        </p:txBody>
      </p:sp>
      <p:sp>
        <p:nvSpPr>
          <p:cNvPr id="22" name="Text 2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Discussion — no citations required</a:t>
            </a:r>
            <a:endParaRPr lang="en-US" sz="10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3</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An illustrative Stixis-style AI use case: the problem as posed</a:t>
            </a:r>
            <a:endParaRPr lang="en-US" sz="3000"/>
          </a:p>
        </p:txBody>
      </p:sp>
      <p:sp>
        <p:nvSpPr>
          <p:cNvPr id="5" name="Shape 3"/>
          <p:cNvSpPr/>
          <p:nvPr/>
        </p:nvSpPr>
        <p:spPr>
          <a:xfrm>
            <a:off x="566928" y="1627632"/>
            <a:ext cx="11064240" cy="713232"/>
          </a:xfrm>
          <a:prstGeom prst="roundRect">
            <a:avLst>
              <a:gd name="adj" fmla="val 10256"/>
            </a:avLst>
          </a:prstGeom>
          <a:solidFill>
            <a:srgbClr val="FBEADB"/>
          </a:solidFill>
          <a:ln w="15875">
            <a:solidFill>
              <a:srgbClr val="D9822B"/>
            </a:solidFill>
            <a:prstDash val="solid"/>
          </a:ln>
        </p:spPr>
      </p:sp>
      <p:sp>
        <p:nvSpPr>
          <p:cNvPr id="6" name="Text 4"/>
          <p:cNvSpPr txBox="1"/>
          <p:nvPr/>
        </p:nvSpPr>
        <p:spPr>
          <a:xfrm>
            <a:off x="804672" y="1810512"/>
            <a:ext cx="10588752" cy="38404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This is an illustrative scenario, not a real Stixis engagement: the architecture and gates below are a reference pattern assembled from the published results cited throughout, built to show how the three-gate method applies in an industry setting.</a:t>
            </a:r>
            <a:endParaRPr lang="en-US" sz="1150"/>
          </a:p>
        </p:txBody>
      </p:sp>
      <p:sp>
        <p:nvSpPr>
          <p:cNvPr id="7" name="Shape 5"/>
          <p:cNvSpPr/>
          <p:nvPr/>
        </p:nvSpPr>
        <p:spPr>
          <a:xfrm>
            <a:off x="566928" y="2542032"/>
            <a:ext cx="5440680" cy="1600200"/>
          </a:xfrm>
          <a:prstGeom prst="roundRect">
            <a:avLst>
              <a:gd name="adj" fmla="val 4571"/>
            </a:avLst>
          </a:prstGeom>
          <a:solidFill>
            <a:srgbClr val="EEF1F8"/>
          </a:solidFill>
          <a:ln w="15875">
            <a:solidFill>
              <a:srgbClr val="DCE6FA"/>
            </a:solidFill>
            <a:prstDash val="solid"/>
          </a:ln>
        </p:spPr>
      </p:sp>
      <p:sp>
        <p:nvSpPr>
          <p:cNvPr id="8" name="Text 6"/>
          <p:cNvSpPr txBox="1"/>
          <p:nvPr/>
        </p:nvSpPr>
        <p:spPr>
          <a:xfrm>
            <a:off x="804672" y="2697480"/>
            <a:ext cx="4965192" cy="438912"/>
          </a:xfrm>
          <a:prstGeom prst="rect">
            <a:avLst/>
          </a:prstGeom>
          <a:noFill/>
          <a:ln/>
        </p:spPr>
        <p:txBody>
          <a:bodyPr wrap="square" lIns="0" tIns="0" rIns="0" bIns="0" rtlCol="0" anchor="ctr"/>
          <a:lstStyle/>
          <a:p>
            <a:pPr marL="0" indent="0">
              <a:buNone/>
            </a:pPr>
            <a:r>
              <a:rPr lang="en-US" sz="1500" b="1">
                <a:solidFill>
                  <a:srgbClr val="2E3A8C"/>
                </a:solidFill>
                <a:latin typeface="Calibri" pitchFamily="34" charset="0"/>
                <a:ea typeface="Calibri" pitchFamily="34" charset="-122"/>
                <a:cs typeface="Calibri" pitchFamily="34" charset="-120"/>
              </a:rPr>
              <a:t>The situation</a:t>
            </a:r>
            <a:endParaRPr lang="en-US" sz="1500"/>
          </a:p>
        </p:txBody>
      </p:sp>
      <p:sp>
        <p:nvSpPr>
          <p:cNvPr id="9" name="Text 7"/>
          <p:cNvSpPr txBox="1"/>
          <p:nvPr/>
        </p:nvSpPr>
        <p:spPr>
          <a:xfrm>
            <a:off x="804672" y="3200400"/>
            <a:ext cx="4965192" cy="79552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A regulated customer dataset cannot leave the production boundary. Three teams need it: QA needs realistic volume, data science needs rare-event density, and an external vendor needs a shareable sample.</a:t>
            </a:r>
            <a:endParaRPr lang="en-US" sz="1200"/>
          </a:p>
        </p:txBody>
      </p:sp>
      <p:sp>
        <p:nvSpPr>
          <p:cNvPr id="10" name="Shape 8"/>
          <p:cNvSpPr/>
          <p:nvPr/>
        </p:nvSpPr>
        <p:spPr>
          <a:xfrm>
            <a:off x="6190488" y="2542032"/>
            <a:ext cx="5440680" cy="1600200"/>
          </a:xfrm>
          <a:prstGeom prst="roundRect">
            <a:avLst>
              <a:gd name="adj" fmla="val 4571"/>
            </a:avLst>
          </a:prstGeom>
          <a:solidFill>
            <a:srgbClr val="D6F2EC"/>
          </a:solidFill>
          <a:ln w="15875">
            <a:solidFill>
              <a:srgbClr val="00A896"/>
            </a:solidFill>
            <a:prstDash val="solid"/>
          </a:ln>
        </p:spPr>
      </p:sp>
      <p:sp>
        <p:nvSpPr>
          <p:cNvPr id="11" name="Text 9"/>
          <p:cNvSpPr txBox="1"/>
          <p:nvPr/>
        </p:nvSpPr>
        <p:spPr>
          <a:xfrm>
            <a:off x="6428232" y="2697480"/>
            <a:ext cx="4965192"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Why one dataset will not serve all three</a:t>
            </a:r>
            <a:endParaRPr lang="en-US" sz="1500"/>
          </a:p>
        </p:txBody>
      </p:sp>
      <p:sp>
        <p:nvSpPr>
          <p:cNvPr id="12" name="Text 10"/>
          <p:cNvSpPr txBox="1"/>
          <p:nvPr/>
        </p:nvSpPr>
        <p:spPr>
          <a:xfrm>
            <a:off x="6428232" y="3200400"/>
            <a:ext cx="4965192" cy="79552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Each consumer sits at a different point on the fidelity–utility–privacy triangle. The external share needs the strongest guarantee and can tolerate the largest utility loss; QA needs the opposite [27] [30].</a:t>
            </a:r>
            <a:endParaRPr lang="en-US" sz="1200"/>
          </a:p>
        </p:txBody>
      </p:sp>
      <p:sp>
        <p:nvSpPr>
          <p:cNvPr id="13" name="Shape 11"/>
          <p:cNvSpPr/>
          <p:nvPr/>
        </p:nvSpPr>
        <p:spPr>
          <a:xfrm>
            <a:off x="658368" y="4434840"/>
            <a:ext cx="3432048" cy="1234440"/>
          </a:xfrm>
          <a:prstGeom prst="roundRect">
            <a:avLst>
              <a:gd name="adj" fmla="val 5926"/>
            </a:avLst>
          </a:prstGeom>
          <a:solidFill>
            <a:srgbClr val="EEF1F8"/>
          </a:solidFill>
          <a:ln w="15875">
            <a:solidFill>
              <a:srgbClr val="2E3A8C"/>
            </a:solidFill>
            <a:prstDash val="solid"/>
          </a:ln>
        </p:spPr>
      </p:sp>
      <p:sp>
        <p:nvSpPr>
          <p:cNvPr id="14" name="Text 12"/>
          <p:cNvSpPr txBox="1"/>
          <p:nvPr/>
        </p:nvSpPr>
        <p:spPr>
          <a:xfrm>
            <a:off x="658368" y="4553712"/>
            <a:ext cx="3432048" cy="566928"/>
          </a:xfrm>
          <a:prstGeom prst="rect">
            <a:avLst/>
          </a:prstGeom>
          <a:noFill/>
          <a:ln/>
        </p:spPr>
        <p:txBody>
          <a:bodyPr wrap="square" lIns="0" tIns="0" rIns="0" bIns="0" rtlCol="0" anchor="ctr"/>
          <a:lstStyle/>
          <a:p>
            <a:pPr marL="0" indent="0" algn="ctr">
              <a:buNone/>
            </a:pPr>
            <a:r>
              <a:rPr lang="en-US" sz="3000" b="1">
                <a:solidFill>
                  <a:srgbClr val="2E3A8C"/>
                </a:solidFill>
                <a:latin typeface="Cambria" pitchFamily="34" charset="0"/>
                <a:ea typeface="Cambria" pitchFamily="34" charset="-122"/>
                <a:cs typeface="Cambria" pitchFamily="34" charset="-120"/>
              </a:rPr>
              <a:t>3</a:t>
            </a:r>
            <a:endParaRPr lang="en-US" sz="3000"/>
          </a:p>
        </p:txBody>
      </p:sp>
      <p:sp>
        <p:nvSpPr>
          <p:cNvPr id="15" name="Text 13"/>
          <p:cNvSpPr txBox="1"/>
          <p:nvPr/>
        </p:nvSpPr>
        <p:spPr>
          <a:xfrm>
            <a:off x="786384" y="5129784"/>
            <a:ext cx="3176016" cy="457200"/>
          </a:xfrm>
          <a:prstGeom prst="rect">
            <a:avLst/>
          </a:prstGeom>
          <a:noFill/>
          <a:ln/>
        </p:spPr>
        <p:txBody>
          <a:bodyPr wrap="square" lIns="0" tIns="0" rIns="0" bIns="0" rtlCol="0" anchor="ctr"/>
          <a:lstStyle/>
          <a:p>
            <a:pPr marL="0" indent="0" algn="ctr">
              <a:lnSpc>
                <a:spcPct val="105000"/>
              </a:lnSpc>
              <a:buNone/>
            </a:pPr>
            <a:r>
              <a:rPr lang="en-US" sz="1100">
                <a:solidFill>
                  <a:srgbClr val="0E1330"/>
                </a:solidFill>
                <a:latin typeface="Calibri" pitchFamily="34" charset="0"/>
                <a:ea typeface="Calibri" pitchFamily="34" charset="-122"/>
                <a:cs typeface="Calibri" pitchFamily="34" charset="-120"/>
              </a:rPr>
              <a:t>consumers, three different privacy postures</a:t>
            </a:r>
            <a:endParaRPr lang="en-US" sz="1100"/>
          </a:p>
        </p:txBody>
      </p:sp>
      <p:sp>
        <p:nvSpPr>
          <p:cNvPr id="16" name="Shape 14"/>
          <p:cNvSpPr/>
          <p:nvPr/>
        </p:nvSpPr>
        <p:spPr>
          <a:xfrm>
            <a:off x="4383024" y="4434840"/>
            <a:ext cx="3432048" cy="1234440"/>
          </a:xfrm>
          <a:prstGeom prst="roundRect">
            <a:avLst>
              <a:gd name="adj" fmla="val 5926"/>
            </a:avLst>
          </a:prstGeom>
          <a:solidFill>
            <a:srgbClr val="D6F2EC"/>
          </a:solidFill>
          <a:ln w="15875">
            <a:solidFill>
              <a:srgbClr val="00A896"/>
            </a:solidFill>
            <a:prstDash val="solid"/>
          </a:ln>
        </p:spPr>
      </p:sp>
      <p:sp>
        <p:nvSpPr>
          <p:cNvPr id="17" name="Text 15"/>
          <p:cNvSpPr txBox="1"/>
          <p:nvPr/>
        </p:nvSpPr>
        <p:spPr>
          <a:xfrm>
            <a:off x="4383024" y="4553712"/>
            <a:ext cx="3432048" cy="566928"/>
          </a:xfrm>
          <a:prstGeom prst="rect">
            <a:avLst/>
          </a:prstGeom>
          <a:noFill/>
          <a:ln/>
        </p:spPr>
        <p:txBody>
          <a:bodyPr wrap="square" lIns="0" tIns="0" rIns="0" bIns="0" rtlCol="0" anchor="ctr"/>
          <a:lstStyle/>
          <a:p>
            <a:pPr marL="0" indent="0" algn="ctr">
              <a:buNone/>
            </a:pPr>
            <a:r>
              <a:rPr lang="en-US" sz="3000" b="1">
                <a:solidFill>
                  <a:srgbClr val="00A896"/>
                </a:solidFill>
                <a:latin typeface="Cambria" pitchFamily="34" charset="0"/>
                <a:ea typeface="Cambria" pitchFamily="34" charset="-122"/>
                <a:cs typeface="Cambria" pitchFamily="34" charset="-120"/>
              </a:rPr>
              <a:t>1</a:t>
            </a:r>
            <a:endParaRPr lang="en-US" sz="3000"/>
          </a:p>
        </p:txBody>
      </p:sp>
      <p:sp>
        <p:nvSpPr>
          <p:cNvPr id="18" name="Text 16"/>
          <p:cNvSpPr txBox="1"/>
          <p:nvPr/>
        </p:nvSpPr>
        <p:spPr>
          <a:xfrm>
            <a:off x="4511040" y="5129784"/>
            <a:ext cx="3176016" cy="457200"/>
          </a:xfrm>
          <a:prstGeom prst="rect">
            <a:avLst/>
          </a:prstGeom>
          <a:noFill/>
          <a:ln/>
        </p:spPr>
        <p:txBody>
          <a:bodyPr wrap="square" lIns="0" tIns="0" rIns="0" bIns="0" rtlCol="0" anchor="ctr"/>
          <a:lstStyle/>
          <a:p>
            <a:pPr marL="0" indent="0" algn="ctr">
              <a:lnSpc>
                <a:spcPct val="105000"/>
              </a:lnSpc>
              <a:buNone/>
            </a:pPr>
            <a:r>
              <a:rPr lang="en-US" sz="1100">
                <a:solidFill>
                  <a:srgbClr val="0E1330"/>
                </a:solidFill>
                <a:latin typeface="Calibri" pitchFamily="34" charset="0"/>
                <a:ea typeface="Calibri" pitchFamily="34" charset="-122"/>
                <a:cs typeface="Calibri" pitchFamily="34" charset="-120"/>
              </a:rPr>
              <a:t>generator family, tuned separately per consumer</a:t>
            </a:r>
            <a:endParaRPr lang="en-US" sz="1100"/>
          </a:p>
        </p:txBody>
      </p:sp>
      <p:sp>
        <p:nvSpPr>
          <p:cNvPr id="19" name="Shape 17"/>
          <p:cNvSpPr/>
          <p:nvPr/>
        </p:nvSpPr>
        <p:spPr>
          <a:xfrm>
            <a:off x="8107680" y="4434840"/>
            <a:ext cx="3432048" cy="1234440"/>
          </a:xfrm>
          <a:prstGeom prst="roundRect">
            <a:avLst>
              <a:gd name="adj" fmla="val 5926"/>
            </a:avLst>
          </a:prstGeom>
          <a:solidFill>
            <a:srgbClr val="FBEADB"/>
          </a:solidFill>
          <a:ln w="15875">
            <a:solidFill>
              <a:srgbClr val="D9822B"/>
            </a:solidFill>
            <a:prstDash val="solid"/>
          </a:ln>
        </p:spPr>
      </p:sp>
      <p:sp>
        <p:nvSpPr>
          <p:cNvPr id="20" name="Text 18"/>
          <p:cNvSpPr txBox="1"/>
          <p:nvPr/>
        </p:nvSpPr>
        <p:spPr>
          <a:xfrm>
            <a:off x="8107680" y="4553712"/>
            <a:ext cx="3432048" cy="566928"/>
          </a:xfrm>
          <a:prstGeom prst="rect">
            <a:avLst/>
          </a:prstGeom>
          <a:noFill/>
          <a:ln/>
        </p:spPr>
        <p:txBody>
          <a:bodyPr wrap="square" lIns="0" tIns="0" rIns="0" bIns="0" rtlCol="0" anchor="ctr"/>
          <a:lstStyle/>
          <a:p>
            <a:pPr marL="0" indent="0" algn="ctr">
              <a:buNone/>
            </a:pPr>
            <a:r>
              <a:rPr lang="en-US" sz="3000" b="1">
                <a:solidFill>
                  <a:srgbClr val="D9822B"/>
                </a:solidFill>
                <a:latin typeface="Cambria" pitchFamily="34" charset="0"/>
                <a:ea typeface="Cambria" pitchFamily="34" charset="-122"/>
                <a:cs typeface="Cambria" pitchFamily="34" charset="-120"/>
              </a:rPr>
              <a:t>3</a:t>
            </a:r>
            <a:endParaRPr lang="en-US" sz="3000"/>
          </a:p>
        </p:txBody>
      </p:sp>
      <p:sp>
        <p:nvSpPr>
          <p:cNvPr id="21" name="Text 19"/>
          <p:cNvSpPr txBox="1"/>
          <p:nvPr/>
        </p:nvSpPr>
        <p:spPr>
          <a:xfrm>
            <a:off x="8235696" y="5129784"/>
            <a:ext cx="3176016" cy="457200"/>
          </a:xfrm>
          <a:prstGeom prst="rect">
            <a:avLst/>
          </a:prstGeom>
          <a:noFill/>
          <a:ln/>
        </p:spPr>
        <p:txBody>
          <a:bodyPr wrap="square" lIns="0" tIns="0" rIns="0" bIns="0" rtlCol="0" anchor="ctr"/>
          <a:lstStyle/>
          <a:p>
            <a:pPr marL="0" indent="0" algn="ctr">
              <a:lnSpc>
                <a:spcPct val="105000"/>
              </a:lnSpc>
              <a:buNone/>
            </a:pPr>
            <a:r>
              <a:rPr lang="en-US" sz="1100">
                <a:solidFill>
                  <a:srgbClr val="0E1330"/>
                </a:solidFill>
                <a:latin typeface="Calibri" pitchFamily="34" charset="0"/>
                <a:ea typeface="Calibri" pitchFamily="34" charset="-122"/>
                <a:cs typeface="Calibri" pitchFamily="34" charset="-120"/>
              </a:rPr>
              <a:t>quality gates applied identically to every release</a:t>
            </a:r>
            <a:endParaRPr lang="en-US" sz="1100"/>
          </a:p>
        </p:txBody>
      </p:sp>
      <p:sp>
        <p:nvSpPr>
          <p:cNvPr id="22" name="Text 2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[27] [30]</a:t>
            </a:r>
            <a:endParaRPr lang="en-US" sz="1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3</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Illustrative reference architecture: source to consumption</a:t>
            </a:r>
            <a:endParaRPr lang="en-US" sz="3000"/>
          </a:p>
        </p:txBody>
      </p:sp>
      <p:pic>
        <p:nvPicPr>
          <p:cNvPr id="5" name="Image 0" descr="img/usecase.png"/>
          <p:cNvPicPr>
            <a:picLocks noChangeAspect="1"/>
          </p:cNvPicPr>
          <p:nvPr/>
        </p:nvPicPr>
        <p:blipFill>
          <a:blip r:embed="rId3"/>
          <a:stretch>
            <a:fillRect/>
          </a:stretch>
        </p:blipFill>
        <p:spPr>
          <a:xfrm>
            <a:off x="1244907" y="1554480"/>
            <a:ext cx="9708282" cy="4114800"/>
          </a:xfrm>
          <a:prstGeom prst="rect">
            <a:avLst/>
          </a:prstGeom>
        </p:spPr>
      </p:pic>
      <p:sp>
        <p:nvSpPr>
          <p:cNvPr id="6" name="Text 3"/>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The vertical lanes are the four decisions that recur in every engagement: what you model, how you generate, how you prove it, and who consumes it.</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[9] [10] [11] [12] [25] [30]</a:t>
            </a:r>
            <a:endParaRPr lang="en-US" sz="10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TOPIC 3</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What the pattern delivers, and what it does not</a:t>
            </a:r>
            <a:endParaRPr lang="en-US" sz="3000"/>
          </a:p>
        </p:txBody>
      </p:sp>
      <p:graphicFrame>
        <p:nvGraphicFramePr>
          <p:cNvPr id="56" name="Table 0"/>
          <p:cNvGraphicFramePr>
            <a:graphicFrameLocks noGrp="1"/>
          </p:cNvGraphicFramePr>
          <p:nvPr>
            <p:extLst>
              <p:ext uri="{D42A27DB-BD31-4B8C-83A1-F6EECF244321}">
                <p14:modId xmlns:p14="http://schemas.microsoft.com/office/powerpoint/2010/main" val="42795254"/>
              </p:ext>
            </p:extLst>
          </p:nvPr>
        </p:nvGraphicFramePr>
        <p:xfrm>
          <a:off x="566928" y="1627632"/>
          <a:ext cx="11064240" cy="2852928"/>
        </p:xfrm>
        <a:graphic>
          <a:graphicData uri="http://schemas.openxmlformats.org/drawingml/2006/table">
            <a:tbl>
              <a:tblPr/>
              <a:tblGrid>
                <a:gridCol w="23774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713232">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Consumer</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Configuration</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Accepted trade</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71323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QA / test environments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TabDDPM without a DP mechanism, inside the trust boundary; full schema and referential integrity [9] [12]</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Highest fidelity, weakest formal guarantee — acceptable because the data never leaves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71323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Internal model training</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CTGAN with conditional oversampling of the rare class, mixed with real majority data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Hybrid release; rare-event recall improves, the real subset carries its own risk</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External vendor share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DP-trained generator with a published ε, plus a membership-inference audit before release [25] [26] [30]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Measurable utility loss accepted in exchange for a stated bound</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bl>
          </a:graphicData>
        </a:graphic>
      </p:graphicFrame>
      <p:sp>
        <p:nvSpPr>
          <p:cNvPr id="6" name="Shape 3"/>
          <p:cNvSpPr/>
          <p:nvPr/>
        </p:nvSpPr>
        <p:spPr>
          <a:xfrm>
            <a:off x="566928" y="4572000"/>
            <a:ext cx="3520440" cy="1417320"/>
          </a:xfrm>
          <a:prstGeom prst="roundRect">
            <a:avLst>
              <a:gd name="adj" fmla="val 5161"/>
            </a:avLst>
          </a:prstGeom>
          <a:solidFill>
            <a:srgbClr val="EEF1F8"/>
          </a:solidFill>
          <a:ln w="15875">
            <a:solidFill>
              <a:srgbClr val="DCE6FA"/>
            </a:solidFill>
            <a:prstDash val="solid"/>
          </a:ln>
        </p:spPr>
      </p:sp>
      <p:sp>
        <p:nvSpPr>
          <p:cNvPr id="7" name="Shape 4"/>
          <p:cNvSpPr/>
          <p:nvPr/>
        </p:nvSpPr>
        <p:spPr>
          <a:xfrm>
            <a:off x="768096" y="4754880"/>
            <a:ext cx="384048" cy="384048"/>
          </a:xfrm>
          <a:prstGeom prst="ellipse">
            <a:avLst/>
          </a:prstGeom>
          <a:solidFill>
            <a:srgbClr val="2E3A8C"/>
          </a:solidFill>
          <a:ln w="12700">
            <a:solidFill>
              <a:srgbClr val="2E3A8C"/>
            </a:solidFill>
            <a:prstDash val="solid"/>
          </a:ln>
        </p:spPr>
      </p:sp>
      <p:sp>
        <p:nvSpPr>
          <p:cNvPr id="8" name="Text 5"/>
          <p:cNvSpPr txBox="1"/>
          <p:nvPr/>
        </p:nvSpPr>
        <p:spPr>
          <a:xfrm>
            <a:off x="768096" y="47548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9" name="Text 6"/>
          <p:cNvSpPr txBox="1"/>
          <p:nvPr/>
        </p:nvSpPr>
        <p:spPr>
          <a:xfrm>
            <a:off x="1280160" y="4727448"/>
            <a:ext cx="2606040" cy="438912"/>
          </a:xfrm>
          <a:prstGeom prst="rect">
            <a:avLst/>
          </a:prstGeom>
          <a:noFill/>
          <a:ln/>
        </p:spPr>
        <p:txBody>
          <a:bodyPr wrap="square" lIns="0" tIns="0" rIns="0" bIns="0" rtlCol="0" anchor="ctr"/>
          <a:lstStyle/>
          <a:p>
            <a:pPr marL="0" indent="0">
              <a:buNone/>
            </a:pPr>
            <a:r>
              <a:rPr lang="en-US" sz="1250" b="1">
                <a:solidFill>
                  <a:srgbClr val="2E3A8C"/>
                </a:solidFill>
                <a:latin typeface="Calibri" pitchFamily="34" charset="0"/>
                <a:ea typeface="Calibri" pitchFamily="34" charset="-122"/>
                <a:cs typeface="Calibri" pitchFamily="34" charset="-120"/>
              </a:rPr>
              <a:t>Gate before you scale</a:t>
            </a:r>
            <a:endParaRPr lang="en-US" sz="1250"/>
          </a:p>
        </p:txBody>
      </p:sp>
      <p:sp>
        <p:nvSpPr>
          <p:cNvPr id="10" name="Text 7"/>
          <p:cNvSpPr txBox="1"/>
          <p:nvPr/>
        </p:nvSpPr>
        <p:spPr>
          <a:xfrm>
            <a:off x="804672" y="5230368"/>
            <a:ext cx="3044952" cy="612648"/>
          </a:xfrm>
          <a:prstGeom prst="rect">
            <a:avLst/>
          </a:prstGeom>
          <a:noFill/>
          <a:ln/>
        </p:spPr>
        <p:txBody>
          <a:bodyPr wrap="square" lIns="0" tIns="0" rIns="0" bIns="0" rtlCol="0" anchor="t"/>
          <a:lstStyle/>
          <a:p>
            <a:pPr marL="0" indent="0">
              <a:lnSpc>
                <a:spcPct val="112000"/>
              </a:lnSpc>
              <a:buNone/>
            </a:pPr>
            <a:r>
              <a:rPr lang="en-US" sz="1050">
                <a:solidFill>
                  <a:srgbClr val="0E1330"/>
                </a:solidFill>
                <a:latin typeface="Calibri" pitchFamily="34" charset="0"/>
                <a:ea typeface="Calibri" pitchFamily="34" charset="-122"/>
                <a:cs typeface="Calibri" pitchFamily="34" charset="-120"/>
              </a:rPr>
              <a:t>Running the three gates on a small pilot costs a day. Discovering a coverage failure after a team has built on the data costs a quarter [27].</a:t>
            </a:r>
            <a:endParaRPr lang="en-US" sz="1050"/>
          </a:p>
        </p:txBody>
      </p:sp>
      <p:sp>
        <p:nvSpPr>
          <p:cNvPr id="11" name="Shape 8"/>
          <p:cNvSpPr/>
          <p:nvPr/>
        </p:nvSpPr>
        <p:spPr>
          <a:xfrm>
            <a:off x="4334256" y="4572000"/>
            <a:ext cx="3520440" cy="1417320"/>
          </a:xfrm>
          <a:prstGeom prst="roundRect">
            <a:avLst>
              <a:gd name="adj" fmla="val 5161"/>
            </a:avLst>
          </a:prstGeom>
          <a:solidFill>
            <a:srgbClr val="D6F2EC"/>
          </a:solidFill>
          <a:ln w="15875">
            <a:solidFill>
              <a:srgbClr val="00A896"/>
            </a:solidFill>
            <a:prstDash val="solid"/>
          </a:ln>
        </p:spPr>
      </p:sp>
      <p:sp>
        <p:nvSpPr>
          <p:cNvPr id="12" name="Shape 9"/>
          <p:cNvSpPr/>
          <p:nvPr/>
        </p:nvSpPr>
        <p:spPr>
          <a:xfrm>
            <a:off x="4535424" y="4754880"/>
            <a:ext cx="384048" cy="384048"/>
          </a:xfrm>
          <a:prstGeom prst="ellipse">
            <a:avLst/>
          </a:prstGeom>
          <a:solidFill>
            <a:srgbClr val="00A896"/>
          </a:solidFill>
          <a:ln w="12700">
            <a:solidFill>
              <a:srgbClr val="00A896"/>
            </a:solidFill>
            <a:prstDash val="solid"/>
          </a:ln>
        </p:spPr>
      </p:sp>
      <p:sp>
        <p:nvSpPr>
          <p:cNvPr id="13" name="Text 10"/>
          <p:cNvSpPr txBox="1"/>
          <p:nvPr/>
        </p:nvSpPr>
        <p:spPr>
          <a:xfrm>
            <a:off x="4535424" y="47548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4" name="Text 11"/>
          <p:cNvSpPr txBox="1"/>
          <p:nvPr/>
        </p:nvSpPr>
        <p:spPr>
          <a:xfrm>
            <a:off x="5047488" y="4727448"/>
            <a:ext cx="2606040" cy="438912"/>
          </a:xfrm>
          <a:prstGeom prst="rect">
            <a:avLst/>
          </a:prstGeom>
          <a:noFill/>
          <a:ln/>
        </p:spPr>
        <p:txBody>
          <a:bodyPr wrap="square" lIns="0" tIns="0" rIns="0" bIns="0" rtlCol="0" anchor="ctr"/>
          <a:lstStyle/>
          <a:p>
            <a:pPr marL="0" indent="0">
              <a:buNone/>
            </a:pPr>
            <a:r>
              <a:rPr lang="en-US" sz="1250" b="1">
                <a:solidFill>
                  <a:srgbClr val="00A896"/>
                </a:solidFill>
                <a:latin typeface="Calibri" pitchFamily="34" charset="0"/>
                <a:ea typeface="Calibri" pitchFamily="34" charset="-122"/>
                <a:cs typeface="Calibri" pitchFamily="34" charset="-120"/>
              </a:rPr>
              <a:t>Version the generator, not just the data</a:t>
            </a:r>
            <a:endParaRPr lang="en-US" sz="1250"/>
          </a:p>
        </p:txBody>
      </p:sp>
      <p:sp>
        <p:nvSpPr>
          <p:cNvPr id="15" name="Text 12"/>
          <p:cNvSpPr txBox="1"/>
          <p:nvPr/>
        </p:nvSpPr>
        <p:spPr>
          <a:xfrm>
            <a:off x="4572000" y="5230368"/>
            <a:ext cx="3044952" cy="612648"/>
          </a:xfrm>
          <a:prstGeom prst="rect">
            <a:avLst/>
          </a:prstGeom>
          <a:noFill/>
          <a:ln/>
        </p:spPr>
        <p:txBody>
          <a:bodyPr wrap="square" lIns="0" tIns="0" rIns="0" bIns="0" rtlCol="0" anchor="t"/>
          <a:lstStyle/>
          <a:p>
            <a:pPr marL="0" indent="0">
              <a:lnSpc>
                <a:spcPct val="112000"/>
              </a:lnSpc>
              <a:buNone/>
            </a:pPr>
            <a:r>
              <a:rPr lang="en-US" sz="1050">
                <a:solidFill>
                  <a:srgbClr val="0E1330"/>
                </a:solidFill>
                <a:latin typeface="Calibri" pitchFamily="34" charset="0"/>
                <a:ea typeface="Calibri" pitchFamily="34" charset="-122"/>
                <a:cs typeface="Calibri" pitchFamily="34" charset="-120"/>
              </a:rPr>
              <a:t>Every regenerated dataset is a new dataset with new risk. Tie the audit to the generator version [30].</a:t>
            </a:r>
            <a:endParaRPr lang="en-US" sz="1050"/>
          </a:p>
        </p:txBody>
      </p:sp>
      <p:sp>
        <p:nvSpPr>
          <p:cNvPr id="16" name="Shape 13"/>
          <p:cNvSpPr/>
          <p:nvPr/>
        </p:nvSpPr>
        <p:spPr>
          <a:xfrm>
            <a:off x="8101584" y="4572000"/>
            <a:ext cx="3520440" cy="1417320"/>
          </a:xfrm>
          <a:prstGeom prst="roundRect">
            <a:avLst>
              <a:gd name="adj" fmla="val 5161"/>
            </a:avLst>
          </a:prstGeom>
          <a:solidFill>
            <a:srgbClr val="FBEADB"/>
          </a:solidFill>
          <a:ln w="15875">
            <a:solidFill>
              <a:srgbClr val="D9822B"/>
            </a:solidFill>
            <a:prstDash val="solid"/>
          </a:ln>
        </p:spPr>
      </p:sp>
      <p:sp>
        <p:nvSpPr>
          <p:cNvPr id="17" name="Shape 14"/>
          <p:cNvSpPr/>
          <p:nvPr/>
        </p:nvSpPr>
        <p:spPr>
          <a:xfrm>
            <a:off x="8302752" y="4754880"/>
            <a:ext cx="384048" cy="384048"/>
          </a:xfrm>
          <a:prstGeom prst="ellipse">
            <a:avLst/>
          </a:prstGeom>
          <a:solidFill>
            <a:srgbClr val="D9822B"/>
          </a:solidFill>
          <a:ln w="12700">
            <a:solidFill>
              <a:srgbClr val="D9822B"/>
            </a:solidFill>
            <a:prstDash val="solid"/>
          </a:ln>
        </p:spPr>
      </p:sp>
      <p:sp>
        <p:nvSpPr>
          <p:cNvPr id="18" name="Text 15"/>
          <p:cNvSpPr txBox="1"/>
          <p:nvPr/>
        </p:nvSpPr>
        <p:spPr>
          <a:xfrm>
            <a:off x="8302752" y="47548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9" name="Text 16"/>
          <p:cNvSpPr txBox="1"/>
          <p:nvPr/>
        </p:nvSpPr>
        <p:spPr>
          <a:xfrm>
            <a:off x="8814816" y="4727448"/>
            <a:ext cx="2606040" cy="438912"/>
          </a:xfrm>
          <a:prstGeom prst="rect">
            <a:avLst/>
          </a:prstGeom>
          <a:noFill/>
          <a:ln/>
        </p:spPr>
        <p:txBody>
          <a:bodyPr wrap="square" lIns="0" tIns="0" rIns="0" bIns="0" rtlCol="0" anchor="ctr"/>
          <a:lstStyle/>
          <a:p>
            <a:pPr marL="0" indent="0">
              <a:buNone/>
            </a:pPr>
            <a:r>
              <a:rPr lang="en-US" sz="1250" b="1">
                <a:solidFill>
                  <a:srgbClr val="D9822B"/>
                </a:solidFill>
                <a:latin typeface="Calibri" pitchFamily="34" charset="0"/>
                <a:ea typeface="Calibri" pitchFamily="34" charset="-122"/>
                <a:cs typeface="Calibri" pitchFamily="34" charset="-120"/>
              </a:rPr>
              <a:t>Say 'risk-reduced', not 'anonymous'</a:t>
            </a:r>
            <a:endParaRPr lang="en-US" sz="1250"/>
          </a:p>
        </p:txBody>
      </p:sp>
      <p:sp>
        <p:nvSpPr>
          <p:cNvPr id="20" name="Text 17"/>
          <p:cNvSpPr txBox="1"/>
          <p:nvPr/>
        </p:nvSpPr>
        <p:spPr>
          <a:xfrm>
            <a:off x="8339328" y="5230368"/>
            <a:ext cx="3044952" cy="612648"/>
          </a:xfrm>
          <a:prstGeom prst="rect">
            <a:avLst/>
          </a:prstGeom>
          <a:noFill/>
          <a:ln/>
        </p:spPr>
        <p:txBody>
          <a:bodyPr wrap="square" lIns="0" tIns="0" rIns="0" bIns="0" rtlCol="0" anchor="t"/>
          <a:lstStyle/>
          <a:p>
            <a:pPr marL="0" indent="0">
              <a:lnSpc>
                <a:spcPct val="112000"/>
              </a:lnSpc>
              <a:buNone/>
            </a:pPr>
            <a:r>
              <a:rPr lang="en-US" sz="1050">
                <a:solidFill>
                  <a:srgbClr val="0E1330"/>
                </a:solidFill>
                <a:latin typeface="Calibri" pitchFamily="34" charset="0"/>
                <a:ea typeface="Calibri" pitchFamily="34" charset="-122"/>
                <a:cs typeface="Calibri" pitchFamily="34" charset="-120"/>
              </a:rPr>
              <a:t>The literature does not support the stronger claim, and the stronger claim is the one that creates liability [30].</a:t>
            </a:r>
            <a:endParaRPr lang="en-US" sz="1050"/>
          </a:p>
        </p:txBody>
      </p:sp>
      <p:sp>
        <p:nvSpPr>
          <p:cNvPr id="21" name="Text 18"/>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[9] [11] [12] [25] [26] [27] [30]</a:t>
            </a:r>
            <a:endParaRPr lang="en-US" sz="10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DAY 3 · LAB</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Hands-on: read the scorecard, make the call</a:t>
            </a:r>
            <a:endParaRPr lang="en-US" sz="3000"/>
          </a:p>
        </p:txBody>
      </p:sp>
      <p:sp>
        <p:nvSpPr>
          <p:cNvPr id="5" name="Shape 3"/>
          <p:cNvSpPr/>
          <p:nvPr/>
        </p:nvSpPr>
        <p:spPr>
          <a:xfrm>
            <a:off x="566928" y="1691640"/>
            <a:ext cx="11064240" cy="822960"/>
          </a:xfrm>
          <a:prstGeom prst="roundRect">
            <a:avLst>
              <a:gd name="adj" fmla="val 8889"/>
            </a:avLst>
          </a:prstGeom>
          <a:solidFill>
            <a:srgbClr val="EEF1F8"/>
          </a:solidFill>
          <a:ln w="15875">
            <a:solidFill>
              <a:srgbClr val="DCE6FA"/>
            </a:solidFill>
            <a:prstDash val="solid"/>
          </a:ln>
        </p:spPr>
      </p:sp>
      <p:sp>
        <p:nvSpPr>
          <p:cNvPr id="6" name="Shape 4"/>
          <p:cNvSpPr/>
          <p:nvPr/>
        </p:nvSpPr>
        <p:spPr>
          <a:xfrm>
            <a:off x="786384" y="1911096"/>
            <a:ext cx="384048" cy="384048"/>
          </a:xfrm>
          <a:prstGeom prst="ellipse">
            <a:avLst/>
          </a:prstGeom>
          <a:solidFill>
            <a:srgbClr val="2E3A8C"/>
          </a:solidFill>
          <a:ln w="12700">
            <a:solidFill>
              <a:srgbClr val="2E3A8C"/>
            </a:solidFill>
            <a:prstDash val="solid"/>
          </a:ln>
        </p:spPr>
      </p:sp>
      <p:sp>
        <p:nvSpPr>
          <p:cNvPr id="7" name="Text 5"/>
          <p:cNvSpPr txBox="1"/>
          <p:nvPr/>
        </p:nvSpPr>
        <p:spPr>
          <a:xfrm>
            <a:off x="786384" y="191109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1</a:t>
            </a:r>
            <a:endParaRPr lang="en-US" sz="1250"/>
          </a:p>
        </p:txBody>
      </p:sp>
      <p:sp>
        <p:nvSpPr>
          <p:cNvPr id="8" name="Text 6"/>
          <p:cNvSpPr txBox="1"/>
          <p:nvPr/>
        </p:nvSpPr>
        <p:spPr>
          <a:xfrm>
            <a:off x="1316736" y="1783080"/>
            <a:ext cx="10076688" cy="640080"/>
          </a:xfrm>
          <a:prstGeom prst="rect">
            <a:avLst/>
          </a:prstGeom>
          <a:noFill/>
          <a:ln/>
        </p:spPr>
        <p:txBody>
          <a:bodyPr wrap="square" lIns="0" tIns="0" rIns="0" bIns="0" rtlCol="0" anchor="ctr"/>
          <a:lstStyle/>
          <a:p>
            <a:pPr marL="0" indent="0">
              <a:lnSpc>
                <a:spcPct val="110000"/>
              </a:lnSpc>
              <a:buNone/>
            </a:pPr>
            <a:r>
              <a:rPr lang="en-US" sz="1150" b="1">
                <a:solidFill>
                  <a:srgbClr val="2E3A8C"/>
                </a:solidFill>
                <a:latin typeface="Calibri" pitchFamily="34" charset="0"/>
                <a:ea typeface="Calibri" pitchFamily="34" charset="-122"/>
                <a:cs typeface="Calibri" pitchFamily="34" charset="-120"/>
              </a:rPr>
              <a:t>Start from pre-generated data —  </a:t>
            </a:r>
            <a:r>
              <a:rPr lang="en-US" sz="1150">
                <a:solidFill>
                  <a:srgbClr val="0E1330"/>
                </a:solidFill>
                <a:latin typeface="Calibri" pitchFamily="34" charset="0"/>
                <a:ea typeface="Calibri" pitchFamily="34" charset="-122"/>
                <a:cs typeface="Calibri" pitchFamily="34" charset="-120"/>
              </a:rPr>
              <a:t>You are given four ready-made datasets — real hold-out, CTGAN, TVAE and a DP-protected version — with their fidelity, utility and privacy scores already computed. No training today [10].</a:t>
            </a:r>
            <a:endParaRPr lang="en-US" sz="1150"/>
          </a:p>
        </p:txBody>
      </p:sp>
      <p:sp>
        <p:nvSpPr>
          <p:cNvPr id="9" name="Shape 7"/>
          <p:cNvSpPr/>
          <p:nvPr/>
        </p:nvSpPr>
        <p:spPr>
          <a:xfrm>
            <a:off x="566928" y="2606040"/>
            <a:ext cx="11064240" cy="822960"/>
          </a:xfrm>
          <a:prstGeom prst="roundRect">
            <a:avLst>
              <a:gd name="adj" fmla="val 8889"/>
            </a:avLst>
          </a:prstGeom>
          <a:solidFill>
            <a:srgbClr val="D6F2EC"/>
          </a:solidFill>
          <a:ln w="15875">
            <a:solidFill>
              <a:srgbClr val="00A896"/>
            </a:solidFill>
            <a:prstDash val="solid"/>
          </a:ln>
        </p:spPr>
      </p:sp>
      <p:sp>
        <p:nvSpPr>
          <p:cNvPr id="10" name="Shape 8"/>
          <p:cNvSpPr/>
          <p:nvPr/>
        </p:nvSpPr>
        <p:spPr>
          <a:xfrm>
            <a:off x="786384" y="2825496"/>
            <a:ext cx="384048" cy="384048"/>
          </a:xfrm>
          <a:prstGeom prst="ellipse">
            <a:avLst/>
          </a:prstGeom>
          <a:solidFill>
            <a:srgbClr val="00A896"/>
          </a:solidFill>
          <a:ln w="12700">
            <a:solidFill>
              <a:srgbClr val="00A896"/>
            </a:solidFill>
            <a:prstDash val="solid"/>
          </a:ln>
        </p:spPr>
      </p:sp>
      <p:sp>
        <p:nvSpPr>
          <p:cNvPr id="11" name="Text 9"/>
          <p:cNvSpPr txBox="1"/>
          <p:nvPr/>
        </p:nvSpPr>
        <p:spPr>
          <a:xfrm>
            <a:off x="786384" y="282549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2</a:t>
            </a:r>
            <a:endParaRPr lang="en-US" sz="1250"/>
          </a:p>
        </p:txBody>
      </p:sp>
      <p:sp>
        <p:nvSpPr>
          <p:cNvPr id="12" name="Text 10"/>
          <p:cNvSpPr txBox="1"/>
          <p:nvPr/>
        </p:nvSpPr>
        <p:spPr>
          <a:xfrm>
            <a:off x="1316736" y="2697480"/>
            <a:ext cx="10076688" cy="640080"/>
          </a:xfrm>
          <a:prstGeom prst="rect">
            <a:avLst/>
          </a:prstGeom>
          <a:noFill/>
          <a:ln/>
        </p:spPr>
        <p:txBody>
          <a:bodyPr wrap="square" lIns="0" tIns="0" rIns="0" bIns="0" rtlCol="0" anchor="ctr"/>
          <a:lstStyle/>
          <a:p>
            <a:pPr marL="0" indent="0">
              <a:lnSpc>
                <a:spcPct val="110000"/>
              </a:lnSpc>
              <a:buNone/>
            </a:pPr>
            <a:r>
              <a:rPr lang="en-US" sz="1150" b="1">
                <a:solidFill>
                  <a:srgbClr val="00A896"/>
                </a:solidFill>
                <a:latin typeface="Calibri" pitchFamily="34" charset="0"/>
                <a:ea typeface="Calibri" pitchFamily="34" charset="-122"/>
                <a:cs typeface="Calibri" pitchFamily="34" charset="-120"/>
              </a:rPr>
              <a:t>Read the fidelity and utility numbers —  </a:t>
            </a:r>
            <a:r>
              <a:rPr lang="en-US" sz="1150">
                <a:solidFill>
                  <a:srgbClr val="0E1330"/>
                </a:solidFill>
                <a:latin typeface="Calibri" pitchFamily="34" charset="0"/>
                <a:ea typeface="Calibri" pitchFamily="34" charset="-122"/>
                <a:cs typeface="Calibri" pitchFamily="34" charset="-120"/>
              </a:rPr>
              <a:t>Given KS statistics, correlation deltas and TSTR scores for each dataset, decide which one is statistically closest to real and which would train the most useful model [10] [27].</a:t>
            </a:r>
            <a:endParaRPr lang="en-US" sz="1150"/>
          </a:p>
        </p:txBody>
      </p:sp>
      <p:sp>
        <p:nvSpPr>
          <p:cNvPr id="13" name="Shape 11"/>
          <p:cNvSpPr/>
          <p:nvPr/>
        </p:nvSpPr>
        <p:spPr>
          <a:xfrm>
            <a:off x="566928" y="3520440"/>
            <a:ext cx="11064240" cy="822960"/>
          </a:xfrm>
          <a:prstGeom prst="roundRect">
            <a:avLst>
              <a:gd name="adj" fmla="val 8889"/>
            </a:avLst>
          </a:prstGeom>
          <a:solidFill>
            <a:srgbClr val="FBEADB"/>
          </a:solidFill>
          <a:ln w="15875">
            <a:solidFill>
              <a:srgbClr val="D9822B"/>
            </a:solidFill>
            <a:prstDash val="solid"/>
          </a:ln>
        </p:spPr>
      </p:sp>
      <p:sp>
        <p:nvSpPr>
          <p:cNvPr id="14" name="Shape 12"/>
          <p:cNvSpPr/>
          <p:nvPr/>
        </p:nvSpPr>
        <p:spPr>
          <a:xfrm>
            <a:off x="786384" y="3739896"/>
            <a:ext cx="384048" cy="384048"/>
          </a:xfrm>
          <a:prstGeom prst="ellipse">
            <a:avLst/>
          </a:prstGeom>
          <a:solidFill>
            <a:srgbClr val="D9822B"/>
          </a:solidFill>
          <a:ln w="12700">
            <a:solidFill>
              <a:srgbClr val="D9822B"/>
            </a:solidFill>
            <a:prstDash val="solid"/>
          </a:ln>
        </p:spPr>
      </p:sp>
      <p:sp>
        <p:nvSpPr>
          <p:cNvPr id="15" name="Text 13"/>
          <p:cNvSpPr txBox="1"/>
          <p:nvPr/>
        </p:nvSpPr>
        <p:spPr>
          <a:xfrm>
            <a:off x="786384" y="373989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3</a:t>
            </a:r>
            <a:endParaRPr lang="en-US" sz="1250"/>
          </a:p>
        </p:txBody>
      </p:sp>
      <p:sp>
        <p:nvSpPr>
          <p:cNvPr id="16" name="Text 14"/>
          <p:cNvSpPr txBox="1"/>
          <p:nvPr/>
        </p:nvSpPr>
        <p:spPr>
          <a:xfrm>
            <a:off x="1316736" y="3611880"/>
            <a:ext cx="10076688" cy="640080"/>
          </a:xfrm>
          <a:prstGeom prst="rect">
            <a:avLst/>
          </a:prstGeom>
          <a:noFill/>
          <a:ln/>
        </p:spPr>
        <p:txBody>
          <a:bodyPr wrap="square" lIns="0" tIns="0" rIns="0" bIns="0" rtlCol="0" anchor="ctr"/>
          <a:lstStyle/>
          <a:p>
            <a:pPr marL="0" indent="0">
              <a:lnSpc>
                <a:spcPct val="110000"/>
              </a:lnSpc>
              <a:buNone/>
            </a:pPr>
            <a:r>
              <a:rPr lang="en-US" sz="1150" b="1">
                <a:solidFill>
                  <a:srgbClr val="D9822B"/>
                </a:solidFill>
                <a:latin typeface="Calibri" pitchFamily="34" charset="0"/>
                <a:ea typeface="Calibri" pitchFamily="34" charset="-122"/>
                <a:cs typeface="Calibri" pitchFamily="34" charset="-120"/>
              </a:rPr>
              <a:t>Read the privacy numbers —  </a:t>
            </a:r>
            <a:r>
              <a:rPr lang="en-US" sz="1150">
                <a:solidFill>
                  <a:srgbClr val="0E1330"/>
                </a:solidFill>
                <a:latin typeface="Calibri" pitchFamily="34" charset="0"/>
                <a:ea typeface="Calibri" pitchFamily="34" charset="-122"/>
                <a:cs typeface="Calibri" pitchFamily="34" charset="-120"/>
              </a:rPr>
              <a:t>Given realism, diversity and authenticity scores and a pre-computed membership inference advantage for each dataset, decide which one is safest to release [27] [30] [31].</a:t>
            </a:r>
            <a:endParaRPr lang="en-US" sz="1150"/>
          </a:p>
        </p:txBody>
      </p:sp>
      <p:sp>
        <p:nvSpPr>
          <p:cNvPr id="17" name="Shape 15"/>
          <p:cNvSpPr/>
          <p:nvPr/>
        </p:nvSpPr>
        <p:spPr>
          <a:xfrm>
            <a:off x="566928" y="4434840"/>
            <a:ext cx="11064240" cy="822960"/>
          </a:xfrm>
          <a:prstGeom prst="roundRect">
            <a:avLst>
              <a:gd name="adj" fmla="val 8889"/>
            </a:avLst>
          </a:prstGeom>
          <a:solidFill>
            <a:srgbClr val="EEF1F8"/>
          </a:solidFill>
          <a:ln w="15875">
            <a:solidFill>
              <a:srgbClr val="DCE6FA"/>
            </a:solidFill>
            <a:prstDash val="solid"/>
          </a:ln>
        </p:spPr>
      </p:sp>
      <p:sp>
        <p:nvSpPr>
          <p:cNvPr id="18" name="Shape 16"/>
          <p:cNvSpPr/>
          <p:nvPr/>
        </p:nvSpPr>
        <p:spPr>
          <a:xfrm>
            <a:off x="786384" y="4654296"/>
            <a:ext cx="384048" cy="384048"/>
          </a:xfrm>
          <a:prstGeom prst="ellipse">
            <a:avLst/>
          </a:prstGeom>
          <a:solidFill>
            <a:srgbClr val="2E3A8C"/>
          </a:solidFill>
          <a:ln w="12700">
            <a:solidFill>
              <a:srgbClr val="2E3A8C"/>
            </a:solidFill>
            <a:prstDash val="solid"/>
          </a:ln>
        </p:spPr>
      </p:sp>
      <p:sp>
        <p:nvSpPr>
          <p:cNvPr id="19" name="Text 17"/>
          <p:cNvSpPr txBox="1"/>
          <p:nvPr/>
        </p:nvSpPr>
        <p:spPr>
          <a:xfrm>
            <a:off x="786384" y="465429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4</a:t>
            </a:r>
            <a:endParaRPr lang="en-US" sz="1250"/>
          </a:p>
        </p:txBody>
      </p:sp>
      <p:sp>
        <p:nvSpPr>
          <p:cNvPr id="20" name="Text 18"/>
          <p:cNvSpPr txBox="1"/>
          <p:nvPr/>
        </p:nvSpPr>
        <p:spPr>
          <a:xfrm>
            <a:off x="1316736" y="4526280"/>
            <a:ext cx="10076688" cy="640080"/>
          </a:xfrm>
          <a:prstGeom prst="rect">
            <a:avLst/>
          </a:prstGeom>
          <a:noFill/>
          <a:ln/>
        </p:spPr>
        <p:txBody>
          <a:bodyPr wrap="square" lIns="0" tIns="0" rIns="0" bIns="0" rtlCol="0" anchor="ctr"/>
          <a:lstStyle/>
          <a:p>
            <a:pPr marL="0" indent="0">
              <a:lnSpc>
                <a:spcPct val="110000"/>
              </a:lnSpc>
              <a:buNone/>
            </a:pPr>
            <a:r>
              <a:rPr lang="en-US" sz="1150" b="1">
                <a:solidFill>
                  <a:srgbClr val="2E3A8C"/>
                </a:solidFill>
                <a:latin typeface="Calibri" pitchFamily="34" charset="0"/>
                <a:ea typeface="Calibri" pitchFamily="34" charset="-122"/>
                <a:cs typeface="Calibri" pitchFamily="34" charset="-120"/>
              </a:rPr>
              <a:t>Instructor demo —  </a:t>
            </a:r>
            <a:r>
              <a:rPr lang="en-US" sz="1150">
                <a:solidFill>
                  <a:srgbClr val="0E1330"/>
                </a:solidFill>
                <a:latin typeface="Calibri" pitchFamily="34" charset="0"/>
                <a:ea typeface="Calibri" pitchFamily="34" charset="-122"/>
                <a:cs typeface="Calibri" pitchFamily="34" charset="-120"/>
              </a:rPr>
              <a:t>Watch the instructor retrain a generator under DP at two different ε values, re-run all three gates live, and plot the utility loss against ε [25] [26].</a:t>
            </a:r>
            <a:endParaRPr lang="en-US" sz="1150"/>
          </a:p>
        </p:txBody>
      </p:sp>
      <p:sp>
        <p:nvSpPr>
          <p:cNvPr id="21" name="Shape 19"/>
          <p:cNvSpPr/>
          <p:nvPr/>
        </p:nvSpPr>
        <p:spPr>
          <a:xfrm>
            <a:off x="566928" y="5349240"/>
            <a:ext cx="11064240" cy="822960"/>
          </a:xfrm>
          <a:prstGeom prst="roundRect">
            <a:avLst>
              <a:gd name="adj" fmla="val 8889"/>
            </a:avLst>
          </a:prstGeom>
          <a:solidFill>
            <a:srgbClr val="D6F2EC"/>
          </a:solidFill>
          <a:ln w="15875">
            <a:solidFill>
              <a:srgbClr val="00A896"/>
            </a:solidFill>
            <a:prstDash val="solid"/>
          </a:ln>
        </p:spPr>
      </p:sp>
      <p:sp>
        <p:nvSpPr>
          <p:cNvPr id="22" name="Shape 20"/>
          <p:cNvSpPr/>
          <p:nvPr/>
        </p:nvSpPr>
        <p:spPr>
          <a:xfrm>
            <a:off x="786384" y="5568696"/>
            <a:ext cx="384048" cy="384048"/>
          </a:xfrm>
          <a:prstGeom prst="ellipse">
            <a:avLst/>
          </a:prstGeom>
          <a:solidFill>
            <a:srgbClr val="00A896"/>
          </a:solidFill>
          <a:ln w="12700">
            <a:solidFill>
              <a:srgbClr val="00A896"/>
            </a:solidFill>
            <a:prstDash val="solid"/>
          </a:ln>
        </p:spPr>
      </p:sp>
      <p:sp>
        <p:nvSpPr>
          <p:cNvPr id="23" name="Text 21"/>
          <p:cNvSpPr txBox="1"/>
          <p:nvPr/>
        </p:nvSpPr>
        <p:spPr>
          <a:xfrm>
            <a:off x="786384" y="5568696"/>
            <a:ext cx="384048" cy="384048"/>
          </a:xfrm>
          <a:prstGeom prst="rect">
            <a:avLst/>
          </a:prstGeom>
          <a:noFill/>
          <a:ln/>
        </p:spPr>
        <p:txBody>
          <a:bodyPr wrap="square" lIns="0" tIns="0" rIns="0" bIns="0" rtlCol="0" anchor="ctr"/>
          <a:lstStyle/>
          <a:p>
            <a:pPr marL="0" indent="0" algn="ctr">
              <a:buNone/>
            </a:pPr>
            <a:r>
              <a:rPr lang="en-US" sz="1250" b="1">
                <a:solidFill>
                  <a:srgbClr val="FFFFFF"/>
                </a:solidFill>
                <a:latin typeface="Calibri" pitchFamily="34" charset="0"/>
                <a:ea typeface="Calibri" pitchFamily="34" charset="-122"/>
                <a:cs typeface="Calibri" pitchFamily="34" charset="-120"/>
              </a:rPr>
              <a:t>5</a:t>
            </a:r>
            <a:endParaRPr lang="en-US" sz="1250"/>
          </a:p>
        </p:txBody>
      </p:sp>
      <p:sp>
        <p:nvSpPr>
          <p:cNvPr id="24" name="Text 22"/>
          <p:cNvSpPr txBox="1"/>
          <p:nvPr/>
        </p:nvSpPr>
        <p:spPr>
          <a:xfrm>
            <a:off x="1316736" y="5440680"/>
            <a:ext cx="10076688" cy="640080"/>
          </a:xfrm>
          <a:prstGeom prst="rect">
            <a:avLst/>
          </a:prstGeom>
          <a:noFill/>
          <a:ln/>
        </p:spPr>
        <p:txBody>
          <a:bodyPr wrap="square" lIns="0" tIns="0" rIns="0" bIns="0" rtlCol="0" anchor="ctr"/>
          <a:lstStyle/>
          <a:p>
            <a:pPr marL="0" indent="0">
              <a:lnSpc>
                <a:spcPct val="110000"/>
              </a:lnSpc>
              <a:buNone/>
            </a:pPr>
            <a:r>
              <a:rPr lang="en-US" sz="1150" b="1">
                <a:solidFill>
                  <a:srgbClr val="00A896"/>
                </a:solidFill>
                <a:latin typeface="Calibri" pitchFamily="34" charset="0"/>
                <a:ea typeface="Calibri" pitchFamily="34" charset="-122"/>
                <a:cs typeface="Calibri" pitchFamily="34" charset="-120"/>
              </a:rPr>
              <a:t>Make a release decision —  </a:t>
            </a:r>
            <a:r>
              <a:rPr lang="en-US" sz="1150">
                <a:solidFill>
                  <a:srgbClr val="0E1330"/>
                </a:solidFill>
                <a:latin typeface="Calibri" pitchFamily="34" charset="0"/>
                <a:ea typeface="Calibri" pitchFamily="34" charset="-122"/>
                <a:cs typeface="Calibri" pitchFamily="34" charset="-120"/>
              </a:rPr>
              <a:t>Using only your scorecard, answer: would you release this dataset? Choose one and write two sentences justifying it.</a:t>
            </a:r>
            <a:endParaRPr lang="en-US" sz="1150"/>
          </a:p>
        </p:txBody>
      </p:sp>
      <p:sp>
        <p:nvSpPr>
          <p:cNvPr id="25" name="Text 2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[10] [25] [26] [27] [30] [31]</a:t>
            </a:r>
            <a:endParaRPr lang="en-US" sz="10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name="Slide 57">
    <p:bg>
      <p:bgPr>
        <a:solidFill>
          <a:srgbClr val="0E1330"/>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A896"/>
                </a:solidFill>
                <a:latin typeface="Calibri" pitchFamily="34" charset="0"/>
                <a:ea typeface="Calibri" pitchFamily="34" charset="-122"/>
                <a:cs typeface="Calibri" pitchFamily="34" charset="-120"/>
              </a:rPr>
              <a:t>COURSE CLOSE</a:t>
            </a:r>
            <a:endParaRPr lang="en-US" sz="1150"/>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Five things to take back to your work</a:t>
            </a:r>
            <a:endParaRPr lang="en-US" sz="3000"/>
          </a:p>
        </p:txBody>
      </p:sp>
      <p:sp>
        <p:nvSpPr>
          <p:cNvPr id="5" name="Shape 3"/>
          <p:cNvSpPr/>
          <p:nvPr/>
        </p:nvSpPr>
        <p:spPr>
          <a:xfrm>
            <a:off x="566928" y="1627632"/>
            <a:ext cx="11064240" cy="749808"/>
          </a:xfrm>
          <a:prstGeom prst="roundRect">
            <a:avLst>
              <a:gd name="adj" fmla="val 9756"/>
            </a:avLst>
          </a:prstGeom>
          <a:solidFill>
            <a:srgbClr val="1B2145"/>
          </a:solidFill>
          <a:ln w="12700">
            <a:solidFill>
              <a:srgbClr val="39406B"/>
            </a:solidFill>
            <a:prstDash val="solid"/>
          </a:ln>
        </p:spPr>
      </p:sp>
      <p:sp>
        <p:nvSpPr>
          <p:cNvPr id="6" name="Shape 4"/>
          <p:cNvSpPr/>
          <p:nvPr/>
        </p:nvSpPr>
        <p:spPr>
          <a:xfrm>
            <a:off x="804672" y="1792224"/>
            <a:ext cx="402336" cy="402336"/>
          </a:xfrm>
          <a:prstGeom prst="ellipse">
            <a:avLst/>
          </a:prstGeom>
          <a:solidFill>
            <a:srgbClr val="00A896"/>
          </a:solidFill>
          <a:ln w="12700">
            <a:solidFill>
              <a:srgbClr val="00A896"/>
            </a:solidFill>
            <a:prstDash val="solid"/>
          </a:ln>
        </p:spPr>
      </p:sp>
      <p:sp>
        <p:nvSpPr>
          <p:cNvPr id="7" name="Text 5"/>
          <p:cNvSpPr txBox="1"/>
          <p:nvPr/>
        </p:nvSpPr>
        <p:spPr>
          <a:xfrm>
            <a:off x="804672" y="1792224"/>
            <a:ext cx="402336" cy="402336"/>
          </a:xfrm>
          <a:prstGeom prst="rect">
            <a:avLst/>
          </a:prstGeom>
          <a:noFill/>
          <a:ln/>
        </p:spPr>
        <p:txBody>
          <a:bodyPr wrap="square" lIns="0" tIns="0" rIns="0" bIns="0" rtlCol="0" anchor="ctr"/>
          <a:lstStyle/>
          <a:p>
            <a:pPr marL="0" indent="0" algn="ctr">
              <a:buNone/>
            </a:pPr>
            <a:r>
              <a:rPr lang="en-US" sz="1250" b="1">
                <a:solidFill>
                  <a:srgbClr val="0E1330"/>
                </a:solidFill>
                <a:latin typeface="Calibri" pitchFamily="34" charset="0"/>
                <a:ea typeface="Calibri" pitchFamily="34" charset="-122"/>
                <a:cs typeface="Calibri" pitchFamily="34" charset="-120"/>
              </a:rPr>
              <a:t>1</a:t>
            </a:r>
            <a:endParaRPr lang="en-US" sz="1250"/>
          </a:p>
        </p:txBody>
      </p:sp>
      <p:sp>
        <p:nvSpPr>
          <p:cNvPr id="8" name="Text 6"/>
          <p:cNvSpPr txBox="1"/>
          <p:nvPr/>
        </p:nvSpPr>
        <p:spPr>
          <a:xfrm>
            <a:off x="1389888" y="1700784"/>
            <a:ext cx="10012680" cy="603504"/>
          </a:xfrm>
          <a:prstGeom prst="rect">
            <a:avLst/>
          </a:prstGeom>
          <a:noFill/>
          <a:ln/>
        </p:spPr>
        <p:txBody>
          <a:bodyPr wrap="square" lIns="0" tIns="0" rIns="0" bIns="0" rtlCol="0" anchor="ctr"/>
          <a:lstStyle/>
          <a:p>
            <a:pPr marL="0" indent="0">
              <a:lnSpc>
                <a:spcPct val="106000"/>
              </a:lnSpc>
              <a:buNone/>
            </a:pPr>
            <a:r>
              <a:rPr lang="en-US" sz="1250">
                <a:solidFill>
                  <a:srgbClr val="FFFFFF"/>
                </a:solidFill>
                <a:latin typeface="Calibri" pitchFamily="34" charset="0"/>
                <a:ea typeface="Calibri" pitchFamily="34" charset="-122"/>
                <a:cs typeface="Calibri" pitchFamily="34" charset="-120"/>
              </a:rPr>
              <a:t>Start from the consumer. The downstream purpose sets the utility bar, and the utility bar sets the model — never the other way round [1] [27].</a:t>
            </a:r>
            <a:endParaRPr lang="en-US" sz="1250"/>
          </a:p>
        </p:txBody>
      </p:sp>
      <p:sp>
        <p:nvSpPr>
          <p:cNvPr id="9" name="Shape 7"/>
          <p:cNvSpPr/>
          <p:nvPr/>
        </p:nvSpPr>
        <p:spPr>
          <a:xfrm>
            <a:off x="566928" y="2505456"/>
            <a:ext cx="11064240" cy="749808"/>
          </a:xfrm>
          <a:prstGeom prst="roundRect">
            <a:avLst>
              <a:gd name="adj" fmla="val 9756"/>
            </a:avLst>
          </a:prstGeom>
          <a:solidFill>
            <a:srgbClr val="1B2145"/>
          </a:solidFill>
          <a:ln w="12700">
            <a:solidFill>
              <a:srgbClr val="39406B"/>
            </a:solidFill>
            <a:prstDash val="solid"/>
          </a:ln>
        </p:spPr>
      </p:sp>
      <p:sp>
        <p:nvSpPr>
          <p:cNvPr id="10" name="Shape 8"/>
          <p:cNvSpPr/>
          <p:nvPr/>
        </p:nvSpPr>
        <p:spPr>
          <a:xfrm>
            <a:off x="804672" y="2670048"/>
            <a:ext cx="402336" cy="402336"/>
          </a:xfrm>
          <a:prstGeom prst="ellipse">
            <a:avLst/>
          </a:prstGeom>
          <a:solidFill>
            <a:srgbClr val="00A896"/>
          </a:solidFill>
          <a:ln w="12700">
            <a:solidFill>
              <a:srgbClr val="00A896"/>
            </a:solidFill>
            <a:prstDash val="solid"/>
          </a:ln>
        </p:spPr>
      </p:sp>
      <p:sp>
        <p:nvSpPr>
          <p:cNvPr id="11" name="Text 9"/>
          <p:cNvSpPr txBox="1"/>
          <p:nvPr/>
        </p:nvSpPr>
        <p:spPr>
          <a:xfrm>
            <a:off x="804672" y="2670048"/>
            <a:ext cx="402336" cy="402336"/>
          </a:xfrm>
          <a:prstGeom prst="rect">
            <a:avLst/>
          </a:prstGeom>
          <a:noFill/>
          <a:ln/>
        </p:spPr>
        <p:txBody>
          <a:bodyPr wrap="square" lIns="0" tIns="0" rIns="0" bIns="0" rtlCol="0" anchor="ctr"/>
          <a:lstStyle/>
          <a:p>
            <a:pPr marL="0" indent="0" algn="ctr">
              <a:buNone/>
            </a:pPr>
            <a:r>
              <a:rPr lang="en-US" sz="1250" b="1">
                <a:solidFill>
                  <a:srgbClr val="0E1330"/>
                </a:solidFill>
                <a:latin typeface="Calibri" pitchFamily="34" charset="0"/>
                <a:ea typeface="Calibri" pitchFamily="34" charset="-122"/>
                <a:cs typeface="Calibri" pitchFamily="34" charset="-120"/>
              </a:rPr>
              <a:t>2</a:t>
            </a:r>
            <a:endParaRPr lang="en-US" sz="1250"/>
          </a:p>
        </p:txBody>
      </p:sp>
      <p:sp>
        <p:nvSpPr>
          <p:cNvPr id="12" name="Text 10"/>
          <p:cNvSpPr txBox="1"/>
          <p:nvPr/>
        </p:nvSpPr>
        <p:spPr>
          <a:xfrm>
            <a:off x="1389888" y="2578608"/>
            <a:ext cx="10012680" cy="603504"/>
          </a:xfrm>
          <a:prstGeom prst="rect">
            <a:avLst/>
          </a:prstGeom>
          <a:noFill/>
          <a:ln/>
        </p:spPr>
        <p:txBody>
          <a:bodyPr wrap="square" lIns="0" tIns="0" rIns="0" bIns="0" rtlCol="0" anchor="ctr"/>
          <a:lstStyle/>
          <a:p>
            <a:pPr marL="0" indent="0">
              <a:lnSpc>
                <a:spcPct val="106000"/>
              </a:lnSpc>
              <a:buNone/>
            </a:pPr>
            <a:r>
              <a:rPr lang="en-US" sz="1250">
                <a:solidFill>
                  <a:srgbClr val="FFFFFF"/>
                </a:solidFill>
                <a:latin typeface="Calibri" pitchFamily="34" charset="0"/>
                <a:ea typeface="Calibri" pitchFamily="34" charset="-122"/>
                <a:cs typeface="Calibri" pitchFamily="34" charset="-120"/>
              </a:rPr>
              <a:t>Measure the joint, not just the marginals. Matching every column separately is the most common way to ship a useless dataset [9] [29].</a:t>
            </a:r>
            <a:endParaRPr lang="en-US" sz="1250"/>
          </a:p>
        </p:txBody>
      </p:sp>
      <p:sp>
        <p:nvSpPr>
          <p:cNvPr id="13" name="Shape 11"/>
          <p:cNvSpPr/>
          <p:nvPr/>
        </p:nvSpPr>
        <p:spPr>
          <a:xfrm>
            <a:off x="566928" y="3383280"/>
            <a:ext cx="11064240" cy="749808"/>
          </a:xfrm>
          <a:prstGeom prst="roundRect">
            <a:avLst>
              <a:gd name="adj" fmla="val 9756"/>
            </a:avLst>
          </a:prstGeom>
          <a:solidFill>
            <a:srgbClr val="1B2145"/>
          </a:solidFill>
          <a:ln w="12700">
            <a:solidFill>
              <a:srgbClr val="39406B"/>
            </a:solidFill>
            <a:prstDash val="solid"/>
          </a:ln>
        </p:spPr>
      </p:sp>
      <p:sp>
        <p:nvSpPr>
          <p:cNvPr id="14" name="Shape 12"/>
          <p:cNvSpPr/>
          <p:nvPr/>
        </p:nvSpPr>
        <p:spPr>
          <a:xfrm>
            <a:off x="804672" y="3547872"/>
            <a:ext cx="402336" cy="402336"/>
          </a:xfrm>
          <a:prstGeom prst="ellipse">
            <a:avLst/>
          </a:prstGeom>
          <a:solidFill>
            <a:srgbClr val="00A896"/>
          </a:solidFill>
          <a:ln w="12700">
            <a:solidFill>
              <a:srgbClr val="00A896"/>
            </a:solidFill>
            <a:prstDash val="solid"/>
          </a:ln>
        </p:spPr>
      </p:sp>
      <p:sp>
        <p:nvSpPr>
          <p:cNvPr id="15" name="Text 13"/>
          <p:cNvSpPr txBox="1"/>
          <p:nvPr/>
        </p:nvSpPr>
        <p:spPr>
          <a:xfrm>
            <a:off x="804672" y="3547872"/>
            <a:ext cx="402336" cy="402336"/>
          </a:xfrm>
          <a:prstGeom prst="rect">
            <a:avLst/>
          </a:prstGeom>
          <a:noFill/>
          <a:ln/>
        </p:spPr>
        <p:txBody>
          <a:bodyPr wrap="square" lIns="0" tIns="0" rIns="0" bIns="0" rtlCol="0" anchor="ctr"/>
          <a:lstStyle/>
          <a:p>
            <a:pPr marL="0" indent="0" algn="ctr">
              <a:buNone/>
            </a:pPr>
            <a:r>
              <a:rPr lang="en-US" sz="1250" b="1">
                <a:solidFill>
                  <a:srgbClr val="0E1330"/>
                </a:solidFill>
                <a:latin typeface="Calibri" pitchFamily="34" charset="0"/>
                <a:ea typeface="Calibri" pitchFamily="34" charset="-122"/>
                <a:cs typeface="Calibri" pitchFamily="34" charset="-120"/>
              </a:rPr>
              <a:t>3</a:t>
            </a:r>
            <a:endParaRPr lang="en-US" sz="1250"/>
          </a:p>
        </p:txBody>
      </p:sp>
      <p:sp>
        <p:nvSpPr>
          <p:cNvPr id="16" name="Text 14"/>
          <p:cNvSpPr txBox="1"/>
          <p:nvPr/>
        </p:nvSpPr>
        <p:spPr>
          <a:xfrm>
            <a:off x="1389888" y="3456432"/>
            <a:ext cx="10012680" cy="603504"/>
          </a:xfrm>
          <a:prstGeom prst="rect">
            <a:avLst/>
          </a:prstGeom>
          <a:noFill/>
          <a:ln/>
        </p:spPr>
        <p:txBody>
          <a:bodyPr wrap="square" lIns="0" tIns="0" rIns="0" bIns="0" rtlCol="0" anchor="ctr"/>
          <a:lstStyle/>
          <a:p>
            <a:pPr marL="0" indent="0">
              <a:lnSpc>
                <a:spcPct val="106000"/>
              </a:lnSpc>
              <a:buNone/>
            </a:pPr>
            <a:r>
              <a:rPr lang="en-US" sz="1250">
                <a:solidFill>
                  <a:srgbClr val="FFFFFF"/>
                </a:solidFill>
                <a:latin typeface="Calibri" pitchFamily="34" charset="0"/>
                <a:ea typeface="Calibri" pitchFamily="34" charset="-122"/>
                <a:cs typeface="Calibri" pitchFamily="34" charset="-120"/>
              </a:rPr>
              <a:t>Coverage failures are silent. Without a diversity check (β-recall) you will not notice that a subpopulation vanished [27].</a:t>
            </a:r>
            <a:endParaRPr lang="en-US" sz="1250"/>
          </a:p>
        </p:txBody>
      </p:sp>
      <p:sp>
        <p:nvSpPr>
          <p:cNvPr id="17" name="Shape 15"/>
          <p:cNvSpPr/>
          <p:nvPr/>
        </p:nvSpPr>
        <p:spPr>
          <a:xfrm>
            <a:off x="566928" y="4261104"/>
            <a:ext cx="11064240" cy="749808"/>
          </a:xfrm>
          <a:prstGeom prst="roundRect">
            <a:avLst>
              <a:gd name="adj" fmla="val 9756"/>
            </a:avLst>
          </a:prstGeom>
          <a:solidFill>
            <a:srgbClr val="1B2145"/>
          </a:solidFill>
          <a:ln w="12700">
            <a:solidFill>
              <a:srgbClr val="39406B"/>
            </a:solidFill>
            <a:prstDash val="solid"/>
          </a:ln>
        </p:spPr>
      </p:sp>
      <p:sp>
        <p:nvSpPr>
          <p:cNvPr id="18" name="Shape 16"/>
          <p:cNvSpPr/>
          <p:nvPr/>
        </p:nvSpPr>
        <p:spPr>
          <a:xfrm>
            <a:off x="804672" y="4425696"/>
            <a:ext cx="402336" cy="402336"/>
          </a:xfrm>
          <a:prstGeom prst="ellipse">
            <a:avLst/>
          </a:prstGeom>
          <a:solidFill>
            <a:srgbClr val="00A896"/>
          </a:solidFill>
          <a:ln w="12700">
            <a:solidFill>
              <a:srgbClr val="00A896"/>
            </a:solidFill>
            <a:prstDash val="solid"/>
          </a:ln>
        </p:spPr>
      </p:sp>
      <p:sp>
        <p:nvSpPr>
          <p:cNvPr id="19" name="Text 17"/>
          <p:cNvSpPr txBox="1"/>
          <p:nvPr/>
        </p:nvSpPr>
        <p:spPr>
          <a:xfrm>
            <a:off x="804672" y="4425696"/>
            <a:ext cx="402336" cy="402336"/>
          </a:xfrm>
          <a:prstGeom prst="rect">
            <a:avLst/>
          </a:prstGeom>
          <a:noFill/>
          <a:ln/>
        </p:spPr>
        <p:txBody>
          <a:bodyPr wrap="square" lIns="0" tIns="0" rIns="0" bIns="0" rtlCol="0" anchor="ctr"/>
          <a:lstStyle/>
          <a:p>
            <a:pPr marL="0" indent="0" algn="ctr">
              <a:buNone/>
            </a:pPr>
            <a:r>
              <a:rPr lang="en-US" sz="1250" b="1">
                <a:solidFill>
                  <a:srgbClr val="0E1330"/>
                </a:solidFill>
                <a:latin typeface="Calibri" pitchFamily="34" charset="0"/>
                <a:ea typeface="Calibri" pitchFamily="34" charset="-122"/>
                <a:cs typeface="Calibri" pitchFamily="34" charset="-120"/>
              </a:rPr>
              <a:t>4</a:t>
            </a:r>
            <a:endParaRPr lang="en-US" sz="1250"/>
          </a:p>
        </p:txBody>
      </p:sp>
      <p:sp>
        <p:nvSpPr>
          <p:cNvPr id="20" name="Text 18"/>
          <p:cNvSpPr txBox="1"/>
          <p:nvPr/>
        </p:nvSpPr>
        <p:spPr>
          <a:xfrm>
            <a:off x="1389888" y="4334256"/>
            <a:ext cx="10012680" cy="603504"/>
          </a:xfrm>
          <a:prstGeom prst="rect">
            <a:avLst/>
          </a:prstGeom>
          <a:noFill/>
          <a:ln/>
        </p:spPr>
        <p:txBody>
          <a:bodyPr wrap="square" lIns="0" tIns="0" rIns="0" bIns="0" rtlCol="0" anchor="ctr"/>
          <a:lstStyle/>
          <a:p>
            <a:pPr marL="0" indent="0">
              <a:lnSpc>
                <a:spcPct val="106000"/>
              </a:lnSpc>
              <a:buNone/>
            </a:pPr>
            <a:r>
              <a:rPr lang="en-US" sz="1250">
                <a:solidFill>
                  <a:srgbClr val="FFFFFF"/>
                </a:solidFill>
                <a:latin typeface="Calibri" pitchFamily="34" charset="0"/>
                <a:ea typeface="Calibri" pitchFamily="34" charset="-122"/>
                <a:cs typeface="Calibri" pitchFamily="34" charset="-120"/>
              </a:rPr>
              <a:t>Privacy is a measured property, not a label. Run the attack, report the number, state the ε [24] [30].</a:t>
            </a:r>
            <a:endParaRPr lang="en-US" sz="1250"/>
          </a:p>
        </p:txBody>
      </p:sp>
      <p:sp>
        <p:nvSpPr>
          <p:cNvPr id="21" name="Shape 19"/>
          <p:cNvSpPr/>
          <p:nvPr/>
        </p:nvSpPr>
        <p:spPr>
          <a:xfrm>
            <a:off x="566928" y="5138928"/>
            <a:ext cx="11064240" cy="749808"/>
          </a:xfrm>
          <a:prstGeom prst="roundRect">
            <a:avLst>
              <a:gd name="adj" fmla="val 9756"/>
            </a:avLst>
          </a:prstGeom>
          <a:solidFill>
            <a:srgbClr val="1B2145"/>
          </a:solidFill>
          <a:ln w="12700">
            <a:solidFill>
              <a:srgbClr val="39406B"/>
            </a:solidFill>
            <a:prstDash val="solid"/>
          </a:ln>
        </p:spPr>
      </p:sp>
      <p:sp>
        <p:nvSpPr>
          <p:cNvPr id="22" name="Shape 20"/>
          <p:cNvSpPr/>
          <p:nvPr/>
        </p:nvSpPr>
        <p:spPr>
          <a:xfrm>
            <a:off x="804672" y="5303520"/>
            <a:ext cx="402336" cy="402336"/>
          </a:xfrm>
          <a:prstGeom prst="ellipse">
            <a:avLst/>
          </a:prstGeom>
          <a:solidFill>
            <a:srgbClr val="00A896"/>
          </a:solidFill>
          <a:ln w="12700">
            <a:solidFill>
              <a:srgbClr val="00A896"/>
            </a:solidFill>
            <a:prstDash val="solid"/>
          </a:ln>
        </p:spPr>
      </p:sp>
      <p:sp>
        <p:nvSpPr>
          <p:cNvPr id="23" name="Text 21"/>
          <p:cNvSpPr txBox="1"/>
          <p:nvPr/>
        </p:nvSpPr>
        <p:spPr>
          <a:xfrm>
            <a:off x="804672" y="5303520"/>
            <a:ext cx="402336" cy="402336"/>
          </a:xfrm>
          <a:prstGeom prst="rect">
            <a:avLst/>
          </a:prstGeom>
          <a:noFill/>
          <a:ln/>
        </p:spPr>
        <p:txBody>
          <a:bodyPr wrap="square" lIns="0" tIns="0" rIns="0" bIns="0" rtlCol="0" anchor="ctr"/>
          <a:lstStyle/>
          <a:p>
            <a:pPr marL="0" indent="0" algn="ctr">
              <a:buNone/>
            </a:pPr>
            <a:r>
              <a:rPr lang="en-US" sz="1250" b="1">
                <a:solidFill>
                  <a:srgbClr val="0E1330"/>
                </a:solidFill>
                <a:latin typeface="Calibri" pitchFamily="34" charset="0"/>
                <a:ea typeface="Calibri" pitchFamily="34" charset="-122"/>
                <a:cs typeface="Calibri" pitchFamily="34" charset="-120"/>
              </a:rPr>
              <a:t>5</a:t>
            </a:r>
            <a:endParaRPr lang="en-US" sz="1250"/>
          </a:p>
        </p:txBody>
      </p:sp>
      <p:sp>
        <p:nvSpPr>
          <p:cNvPr id="24" name="Text 22"/>
          <p:cNvSpPr txBox="1"/>
          <p:nvPr/>
        </p:nvSpPr>
        <p:spPr>
          <a:xfrm>
            <a:off x="1389888" y="5212080"/>
            <a:ext cx="10012680" cy="603504"/>
          </a:xfrm>
          <a:prstGeom prst="rect">
            <a:avLst/>
          </a:prstGeom>
          <a:noFill/>
          <a:ln/>
        </p:spPr>
        <p:txBody>
          <a:bodyPr wrap="square" lIns="0" tIns="0" rIns="0" bIns="0" rtlCol="0" anchor="ctr"/>
          <a:lstStyle/>
          <a:p>
            <a:pPr marL="0" indent="0">
              <a:lnSpc>
                <a:spcPct val="106000"/>
              </a:lnSpc>
              <a:buNone/>
            </a:pPr>
            <a:r>
              <a:rPr lang="en-US" sz="1250">
                <a:solidFill>
                  <a:srgbClr val="FFFFFF"/>
                </a:solidFill>
                <a:latin typeface="Calibri" pitchFamily="34" charset="0"/>
                <a:ea typeface="Calibri" pitchFamily="34" charset="-122"/>
                <a:cs typeface="Calibri" pitchFamily="34" charset="-120"/>
              </a:rPr>
              <a:t>Re-audit on every regeneration. A new sample from a retrained generator is a new release with new risk [30].</a:t>
            </a:r>
            <a:endParaRPr lang="en-US" sz="1250"/>
          </a:p>
        </p:txBody>
      </p:sp>
      <p:sp>
        <p:nvSpPr>
          <p:cNvPr id="25" name="Text 23"/>
          <p:cNvSpPr txBox="1"/>
          <p:nvPr/>
        </p:nvSpPr>
        <p:spPr>
          <a:xfrm>
            <a:off x="566928" y="6089904"/>
            <a:ext cx="8229600" cy="320040"/>
          </a:xfrm>
          <a:prstGeom prst="rect">
            <a:avLst/>
          </a:prstGeom>
          <a:noFill/>
          <a:ln/>
        </p:spPr>
        <p:txBody>
          <a:bodyPr wrap="square" lIns="0" tIns="0" rIns="0" bIns="0" rtlCol="0" anchor="ctr"/>
          <a:lstStyle/>
          <a:p>
            <a:pPr marL="0" indent="0">
              <a:buNone/>
            </a:pPr>
            <a:r>
              <a:rPr lang="en-US" sz="1200" i="1">
                <a:solidFill>
                  <a:srgbClr val="8C93B5"/>
                </a:solidFill>
                <a:latin typeface="Calibri" pitchFamily="34" charset="0"/>
                <a:ea typeface="Calibri" pitchFamily="34" charset="-122"/>
                <a:cs typeface="Calibri" pitchFamily="34" charset="-120"/>
              </a:rPr>
              <a:t>Stixis AI Solutions Private Limited  ·  HSR Layout, Bengaluru</a:t>
            </a:r>
            <a:endParaRPr lang="en-US" sz="1200"/>
          </a:p>
        </p:txBody>
      </p:sp>
      <p:pic>
        <p:nvPicPr>
          <p:cNvPr id="28" name="Picture 27">
            <a:extLst>
              <a:ext uri="{FF2B5EF4-FFF2-40B4-BE49-F238E27FC236}">
                <a16:creationId xmlns:a16="http://schemas.microsoft.com/office/drawing/2014/main" id="{6EC7FACF-205A-2247-867E-C7FE8B3B49D6}"/>
              </a:ext>
            </a:extLst>
          </p:cNvPr>
          <p:cNvPicPr>
            <a:picLocks noChangeAspect="1"/>
          </p:cNvPicPr>
          <p:nvPr/>
        </p:nvPicPr>
        <p:blipFill>
          <a:blip r:embed="rId3"/>
          <a:stretch>
            <a:fillRect/>
          </a:stretch>
        </p:blipFill>
        <p:spPr>
          <a:xfrm>
            <a:off x="10542494" y="238595"/>
            <a:ext cx="1489412" cy="402716"/>
          </a:xfrm>
          <a:prstGeom prst="rect">
            <a:avLst/>
          </a:prstGeom>
        </p:spPr>
      </p:pic>
      <p:pic>
        <p:nvPicPr>
          <p:cNvPr id="29" name="Picture 28">
            <a:extLst>
              <a:ext uri="{FF2B5EF4-FFF2-40B4-BE49-F238E27FC236}">
                <a16:creationId xmlns:a16="http://schemas.microsoft.com/office/drawing/2014/main" id="{59A708B7-F576-F14E-80AC-DF7D0EA7CB65}"/>
              </a:ext>
            </a:extLst>
          </p:cNvPr>
          <p:cNvPicPr>
            <a:picLocks noChangeAspect="1"/>
          </p:cNvPicPr>
          <p:nvPr/>
        </p:nvPicPr>
        <p:blipFill>
          <a:blip r:embed="rId4"/>
          <a:stretch>
            <a:fillRect/>
          </a:stretch>
        </p:blipFill>
        <p:spPr>
          <a:xfrm>
            <a:off x="8778588" y="55155"/>
            <a:ext cx="1578751" cy="769596"/>
          </a:xfrm>
          <a:prstGeom prst="rect">
            <a:avLst/>
          </a:prstGeom>
        </p:spPr>
      </p:pic>
      <p:cxnSp>
        <p:nvCxnSpPr>
          <p:cNvPr id="30" name="Straight Connector 29">
            <a:extLst>
              <a:ext uri="{FF2B5EF4-FFF2-40B4-BE49-F238E27FC236}">
                <a16:creationId xmlns:a16="http://schemas.microsoft.com/office/drawing/2014/main" id="{37BD5ADF-F8B3-E342-A6AD-D72D15106A39}"/>
              </a:ext>
            </a:extLst>
          </p:cNvPr>
          <p:cNvCxnSpPr/>
          <p:nvPr/>
        </p:nvCxnSpPr>
        <p:spPr>
          <a:xfrm>
            <a:off x="10419057" y="200957"/>
            <a:ext cx="0" cy="4779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name="Slide 25">
    <p:bg>
      <p:bgPr>
        <a:solidFill>
          <a:srgbClr val="0E1330"/>
        </a:solidFill>
        <a:effectLst/>
      </p:bgPr>
    </p:bg>
    <p:spTree>
      <p:nvGrpSpPr>
        <p:cNvPr id="1" name=""/>
        <p:cNvGrpSpPr/>
        <p:nvPr/>
      </p:nvGrpSpPr>
      <p:grpSpPr>
        <a:xfrm>
          <a:off x="0" y="0"/>
          <a:ext cx="0" cy="0"/>
          <a:chOff x="0" y="0"/>
          <a:chExt cx="0" cy="0"/>
        </a:xfrm>
      </p:grpSpPr>
      <p:sp>
        <p:nvSpPr>
          <p:cNvPr id="2" name="Text 0"/>
          <p:cNvSpPr txBox="1"/>
          <p:nvPr/>
        </p:nvSpPr>
        <p:spPr>
          <a:xfrm>
            <a:off x="777240" y="1188720"/>
            <a:ext cx="5486400" cy="365760"/>
          </a:xfrm>
          <a:prstGeom prst="rect">
            <a:avLst/>
          </a:prstGeom>
          <a:noFill/>
          <a:ln/>
        </p:spPr>
        <p:txBody>
          <a:bodyPr wrap="square" lIns="0" tIns="0" rIns="0" bIns="0" rtlCol="0" anchor="ctr"/>
          <a:lstStyle/>
          <a:p>
            <a:pPr marL="0" indent="0">
              <a:buNone/>
            </a:pPr>
            <a:r>
              <a:rPr lang="en-US" sz="1300" b="1" kern="0" spc="200">
                <a:solidFill>
                  <a:srgbClr val="00A896"/>
                </a:solidFill>
                <a:latin typeface="Calibri" pitchFamily="34" charset="0"/>
                <a:ea typeface="Calibri" pitchFamily="34" charset="-122"/>
                <a:cs typeface="Calibri" pitchFamily="34" charset="-120"/>
              </a:rPr>
              <a:t>APPENDIX</a:t>
            </a:r>
            <a:endParaRPr lang="en-US" sz="1300"/>
          </a:p>
        </p:txBody>
      </p:sp>
      <p:sp>
        <p:nvSpPr>
          <p:cNvPr id="3" name="Text 1"/>
          <p:cNvSpPr txBox="1"/>
          <p:nvPr/>
        </p:nvSpPr>
        <p:spPr>
          <a:xfrm>
            <a:off x="777240" y="1627632"/>
            <a:ext cx="10607040" cy="1371600"/>
          </a:xfrm>
          <a:prstGeom prst="rect">
            <a:avLst/>
          </a:prstGeom>
          <a:noFill/>
          <a:ln/>
        </p:spPr>
        <p:txBody>
          <a:bodyPr wrap="square" lIns="0" tIns="0" rIns="0" bIns="0" rtlCol="0" anchor="ctr"/>
          <a:lstStyle/>
          <a:p>
            <a:pPr marL="0" indent="0">
              <a:buNone/>
            </a:pPr>
            <a:r>
              <a:rPr lang="en-US" sz="4000" b="1">
                <a:solidFill>
                  <a:srgbClr val="FFFFFF"/>
                </a:solidFill>
                <a:latin typeface="Cambria" pitchFamily="34" charset="0"/>
                <a:ea typeface="Cambria" pitchFamily="34" charset="-122"/>
                <a:cs typeface="Cambria" pitchFamily="34" charset="-120"/>
              </a:rPr>
              <a:t>Advanced / Optional Material</a:t>
            </a:r>
            <a:endParaRPr lang="en-US" sz="4000"/>
          </a:p>
        </p:txBody>
      </p:sp>
      <p:sp>
        <p:nvSpPr>
          <p:cNvPr id="4" name="Text 2"/>
          <p:cNvSpPr txBox="1"/>
          <p:nvPr/>
        </p:nvSpPr>
        <p:spPr>
          <a:xfrm>
            <a:off x="777240" y="2971800"/>
            <a:ext cx="8961120" cy="457200"/>
          </a:xfrm>
          <a:prstGeom prst="rect">
            <a:avLst/>
          </a:prstGeom>
          <a:noFill/>
          <a:ln/>
        </p:spPr>
        <p:txBody>
          <a:bodyPr wrap="square" lIns="0" tIns="0" rIns="0" bIns="0" rtlCol="0" anchor="ctr"/>
          <a:lstStyle/>
          <a:p>
            <a:pPr marL="0" indent="0">
              <a:buNone/>
            </a:pPr>
            <a:r>
              <a:rPr lang="en-US" sz="1500">
                <a:solidFill>
                  <a:srgbClr val="C3C9E0"/>
                </a:solidFill>
                <a:latin typeface="Calibri" pitchFamily="34" charset="0"/>
                <a:ea typeface="Calibri" pitchFamily="34" charset="-122"/>
                <a:cs typeface="Calibri" pitchFamily="34" charset="-120"/>
              </a:rPr>
              <a:t>Instructor reference for stronger cohorts and follow-up questions. Not part of the core three-day flow.</a:t>
            </a:r>
            <a:endParaRPr lang="en-US" sz="1500"/>
          </a:p>
        </p:txBody>
      </p:sp>
      <p:sp>
        <p:nvSpPr>
          <p:cNvPr id="5" name="Shape 3"/>
          <p:cNvSpPr/>
          <p:nvPr/>
        </p:nvSpPr>
        <p:spPr>
          <a:xfrm>
            <a:off x="777240" y="3931920"/>
            <a:ext cx="1539240" cy="1371600"/>
          </a:xfrm>
          <a:prstGeom prst="roundRect">
            <a:avLst>
              <a:gd name="adj" fmla="val 5333"/>
            </a:avLst>
          </a:prstGeom>
          <a:solidFill>
            <a:srgbClr val="1B2145"/>
          </a:solidFill>
          <a:ln w="12700">
            <a:solidFill>
              <a:srgbClr val="39406B"/>
            </a:solidFill>
            <a:prstDash val="solid"/>
          </a:ln>
        </p:spPr>
      </p:sp>
      <p:sp>
        <p:nvSpPr>
          <p:cNvPr id="6" name="Text 4"/>
          <p:cNvSpPr txBox="1"/>
          <p:nvPr/>
        </p:nvSpPr>
        <p:spPr>
          <a:xfrm>
            <a:off x="960120" y="4069080"/>
            <a:ext cx="548640" cy="320040"/>
          </a:xfrm>
          <a:prstGeom prst="rect">
            <a:avLst/>
          </a:prstGeom>
          <a:noFill/>
          <a:ln/>
        </p:spPr>
        <p:txBody>
          <a:bodyPr wrap="square" lIns="0" tIns="0" rIns="0" bIns="0" rtlCol="0" anchor="ctr"/>
          <a:lstStyle/>
          <a:p>
            <a:pPr marL="0" indent="0">
              <a:buNone/>
            </a:pPr>
            <a:r>
              <a:rPr lang="en-US" sz="1200" b="1">
                <a:solidFill>
                  <a:srgbClr val="00A896"/>
                </a:solidFill>
                <a:latin typeface="Calibri" pitchFamily="34" charset="0"/>
                <a:ea typeface="Calibri" pitchFamily="34" charset="-122"/>
                <a:cs typeface="Calibri" pitchFamily="34" charset="-120"/>
              </a:rPr>
              <a:t>1</a:t>
            </a:r>
            <a:endParaRPr lang="en-US" sz="1200"/>
          </a:p>
        </p:txBody>
      </p:sp>
      <p:sp>
        <p:nvSpPr>
          <p:cNvPr id="7" name="Text 5"/>
          <p:cNvSpPr txBox="1"/>
          <p:nvPr/>
        </p:nvSpPr>
        <p:spPr>
          <a:xfrm>
            <a:off x="96012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Model taxonomy</a:t>
            </a:r>
            <a:endParaRPr lang="en-US" sz="1200"/>
          </a:p>
        </p:txBody>
      </p:sp>
      <p:sp>
        <p:nvSpPr>
          <p:cNvPr id="8" name="Shape 6"/>
          <p:cNvSpPr/>
          <p:nvPr/>
        </p:nvSpPr>
        <p:spPr>
          <a:xfrm>
            <a:off x="2590800" y="3931920"/>
            <a:ext cx="1539240" cy="1371600"/>
          </a:xfrm>
          <a:prstGeom prst="roundRect">
            <a:avLst>
              <a:gd name="adj" fmla="val 5333"/>
            </a:avLst>
          </a:prstGeom>
          <a:solidFill>
            <a:srgbClr val="1B2145"/>
          </a:solidFill>
          <a:ln w="12700">
            <a:solidFill>
              <a:srgbClr val="39406B"/>
            </a:solidFill>
            <a:prstDash val="solid"/>
          </a:ln>
        </p:spPr>
      </p:sp>
      <p:sp>
        <p:nvSpPr>
          <p:cNvPr id="9" name="Text 7"/>
          <p:cNvSpPr txBox="1"/>
          <p:nvPr/>
        </p:nvSpPr>
        <p:spPr>
          <a:xfrm>
            <a:off x="2773680" y="4069080"/>
            <a:ext cx="548640" cy="320040"/>
          </a:xfrm>
          <a:prstGeom prst="rect">
            <a:avLst/>
          </a:prstGeom>
          <a:noFill/>
          <a:ln/>
        </p:spPr>
        <p:txBody>
          <a:bodyPr wrap="square" lIns="0" tIns="0" rIns="0" bIns="0" rtlCol="0" anchor="ctr"/>
          <a:lstStyle/>
          <a:p>
            <a:pPr marL="0" indent="0">
              <a:buNone/>
            </a:pPr>
            <a:r>
              <a:rPr lang="en-US" sz="1200" b="1">
                <a:solidFill>
                  <a:srgbClr val="00A896"/>
                </a:solidFill>
                <a:latin typeface="Calibri" pitchFamily="34" charset="0"/>
                <a:ea typeface="Calibri" pitchFamily="34" charset="-122"/>
                <a:cs typeface="Calibri" pitchFamily="34" charset="-120"/>
              </a:rPr>
              <a:t>2</a:t>
            </a:r>
            <a:endParaRPr lang="en-US" sz="1200"/>
          </a:p>
        </p:txBody>
      </p:sp>
      <p:sp>
        <p:nvSpPr>
          <p:cNvPr id="10" name="Text 8"/>
          <p:cNvSpPr txBox="1"/>
          <p:nvPr/>
        </p:nvSpPr>
        <p:spPr>
          <a:xfrm>
            <a:off x="277368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Tabular &amp; text detail</a:t>
            </a:r>
            <a:endParaRPr lang="en-US" sz="1200"/>
          </a:p>
        </p:txBody>
      </p:sp>
      <p:sp>
        <p:nvSpPr>
          <p:cNvPr id="11" name="Shape 9"/>
          <p:cNvSpPr/>
          <p:nvPr/>
        </p:nvSpPr>
        <p:spPr>
          <a:xfrm>
            <a:off x="4404360" y="3931920"/>
            <a:ext cx="1539240" cy="1371600"/>
          </a:xfrm>
          <a:prstGeom prst="roundRect">
            <a:avLst>
              <a:gd name="adj" fmla="val 5333"/>
            </a:avLst>
          </a:prstGeom>
          <a:solidFill>
            <a:srgbClr val="1B2145"/>
          </a:solidFill>
          <a:ln w="12700">
            <a:solidFill>
              <a:srgbClr val="39406B"/>
            </a:solidFill>
            <a:prstDash val="solid"/>
          </a:ln>
        </p:spPr>
      </p:sp>
      <p:sp>
        <p:nvSpPr>
          <p:cNvPr id="12" name="Text 10"/>
          <p:cNvSpPr txBox="1"/>
          <p:nvPr/>
        </p:nvSpPr>
        <p:spPr>
          <a:xfrm>
            <a:off x="4587240" y="4069080"/>
            <a:ext cx="548640" cy="320040"/>
          </a:xfrm>
          <a:prstGeom prst="rect">
            <a:avLst/>
          </a:prstGeom>
          <a:noFill/>
          <a:ln/>
        </p:spPr>
        <p:txBody>
          <a:bodyPr wrap="square" lIns="0" tIns="0" rIns="0" bIns="0" rtlCol="0" anchor="ctr"/>
          <a:lstStyle/>
          <a:p>
            <a:pPr marL="0" indent="0">
              <a:buNone/>
            </a:pPr>
            <a:r>
              <a:rPr lang="en-US" sz="1200" b="1">
                <a:solidFill>
                  <a:srgbClr val="00A896"/>
                </a:solidFill>
                <a:latin typeface="Calibri" pitchFamily="34" charset="0"/>
                <a:ea typeface="Calibri" pitchFamily="34" charset="-122"/>
                <a:cs typeface="Calibri" pitchFamily="34" charset="-120"/>
              </a:rPr>
              <a:t>3</a:t>
            </a:r>
            <a:endParaRPr lang="en-US" sz="1200"/>
          </a:p>
        </p:txBody>
      </p:sp>
      <p:sp>
        <p:nvSpPr>
          <p:cNvPr id="13" name="Text 11"/>
          <p:cNvSpPr txBox="1"/>
          <p:nvPr/>
        </p:nvSpPr>
        <p:spPr>
          <a:xfrm>
            <a:off x="458724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GAN theory</a:t>
            </a:r>
            <a:endParaRPr lang="en-US" sz="1200"/>
          </a:p>
        </p:txBody>
      </p:sp>
      <p:sp>
        <p:nvSpPr>
          <p:cNvPr id="14" name="Shape 12"/>
          <p:cNvSpPr/>
          <p:nvPr/>
        </p:nvSpPr>
        <p:spPr>
          <a:xfrm>
            <a:off x="6217920" y="3931920"/>
            <a:ext cx="1539240" cy="1371600"/>
          </a:xfrm>
          <a:prstGeom prst="roundRect">
            <a:avLst>
              <a:gd name="adj" fmla="val 5333"/>
            </a:avLst>
          </a:prstGeom>
          <a:solidFill>
            <a:srgbClr val="1B2145"/>
          </a:solidFill>
          <a:ln w="12700">
            <a:solidFill>
              <a:srgbClr val="39406B"/>
            </a:solidFill>
            <a:prstDash val="solid"/>
          </a:ln>
        </p:spPr>
      </p:sp>
      <p:sp>
        <p:nvSpPr>
          <p:cNvPr id="15" name="Text 13"/>
          <p:cNvSpPr txBox="1"/>
          <p:nvPr/>
        </p:nvSpPr>
        <p:spPr>
          <a:xfrm>
            <a:off x="6400800" y="4069080"/>
            <a:ext cx="548640" cy="320040"/>
          </a:xfrm>
          <a:prstGeom prst="rect">
            <a:avLst/>
          </a:prstGeom>
          <a:noFill/>
          <a:ln/>
        </p:spPr>
        <p:txBody>
          <a:bodyPr wrap="square" lIns="0" tIns="0" rIns="0" bIns="0" rtlCol="0" anchor="ctr"/>
          <a:lstStyle/>
          <a:p>
            <a:pPr marL="0" indent="0">
              <a:buNone/>
            </a:pPr>
            <a:r>
              <a:rPr lang="en-US" sz="1200" b="1">
                <a:solidFill>
                  <a:srgbClr val="00A896"/>
                </a:solidFill>
                <a:latin typeface="Calibri" pitchFamily="34" charset="0"/>
                <a:ea typeface="Calibri" pitchFamily="34" charset="-122"/>
                <a:cs typeface="Calibri" pitchFamily="34" charset="-120"/>
              </a:rPr>
              <a:t>4</a:t>
            </a:r>
            <a:endParaRPr lang="en-US" sz="1200"/>
          </a:p>
        </p:txBody>
      </p:sp>
      <p:sp>
        <p:nvSpPr>
          <p:cNvPr id="16" name="Text 14"/>
          <p:cNvSpPr txBox="1"/>
          <p:nvPr/>
        </p:nvSpPr>
        <p:spPr>
          <a:xfrm>
            <a:off x="640080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VAE &amp; diffusion maths</a:t>
            </a:r>
            <a:endParaRPr lang="en-US" sz="1200"/>
          </a:p>
        </p:txBody>
      </p:sp>
      <p:sp>
        <p:nvSpPr>
          <p:cNvPr id="17" name="Shape 15"/>
          <p:cNvSpPr/>
          <p:nvPr/>
        </p:nvSpPr>
        <p:spPr>
          <a:xfrm>
            <a:off x="8031480" y="3931920"/>
            <a:ext cx="1539240" cy="1371600"/>
          </a:xfrm>
          <a:prstGeom prst="roundRect">
            <a:avLst>
              <a:gd name="adj" fmla="val 5333"/>
            </a:avLst>
          </a:prstGeom>
          <a:solidFill>
            <a:srgbClr val="1B2145"/>
          </a:solidFill>
          <a:ln w="12700">
            <a:solidFill>
              <a:srgbClr val="39406B"/>
            </a:solidFill>
            <a:prstDash val="solid"/>
          </a:ln>
        </p:spPr>
      </p:sp>
      <p:sp>
        <p:nvSpPr>
          <p:cNvPr id="18" name="Text 16"/>
          <p:cNvSpPr txBox="1"/>
          <p:nvPr/>
        </p:nvSpPr>
        <p:spPr>
          <a:xfrm>
            <a:off x="8214360" y="4069080"/>
            <a:ext cx="548640" cy="320040"/>
          </a:xfrm>
          <a:prstGeom prst="rect">
            <a:avLst/>
          </a:prstGeom>
          <a:noFill/>
          <a:ln/>
        </p:spPr>
        <p:txBody>
          <a:bodyPr wrap="square" lIns="0" tIns="0" rIns="0" bIns="0" rtlCol="0" anchor="ctr"/>
          <a:lstStyle/>
          <a:p>
            <a:pPr marL="0" indent="0">
              <a:buNone/>
            </a:pPr>
            <a:r>
              <a:rPr lang="en-US" sz="1200" b="1">
                <a:solidFill>
                  <a:srgbClr val="00A896"/>
                </a:solidFill>
                <a:latin typeface="Calibri" pitchFamily="34" charset="0"/>
                <a:ea typeface="Calibri" pitchFamily="34" charset="-122"/>
                <a:cs typeface="Calibri" pitchFamily="34" charset="-120"/>
              </a:rPr>
              <a:t>5</a:t>
            </a:r>
            <a:endParaRPr lang="en-US" sz="1200"/>
          </a:p>
        </p:txBody>
      </p:sp>
      <p:sp>
        <p:nvSpPr>
          <p:cNvPr id="19" name="Text 17"/>
          <p:cNvSpPr txBox="1"/>
          <p:nvPr/>
        </p:nvSpPr>
        <p:spPr>
          <a:xfrm>
            <a:off x="821436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Metric definitions</a:t>
            </a:r>
            <a:endParaRPr lang="en-US" sz="1200"/>
          </a:p>
        </p:txBody>
      </p:sp>
      <p:sp>
        <p:nvSpPr>
          <p:cNvPr id="20" name="Shape 18"/>
          <p:cNvSpPr/>
          <p:nvPr/>
        </p:nvSpPr>
        <p:spPr>
          <a:xfrm>
            <a:off x="9845040" y="3931920"/>
            <a:ext cx="1539240" cy="1371600"/>
          </a:xfrm>
          <a:prstGeom prst="roundRect">
            <a:avLst>
              <a:gd name="adj" fmla="val 5333"/>
            </a:avLst>
          </a:prstGeom>
          <a:solidFill>
            <a:srgbClr val="1B2145"/>
          </a:solidFill>
          <a:ln w="12700">
            <a:solidFill>
              <a:srgbClr val="39406B"/>
            </a:solidFill>
            <a:prstDash val="solid"/>
          </a:ln>
        </p:spPr>
      </p:sp>
      <p:sp>
        <p:nvSpPr>
          <p:cNvPr id="21" name="Text 19"/>
          <p:cNvSpPr txBox="1"/>
          <p:nvPr/>
        </p:nvSpPr>
        <p:spPr>
          <a:xfrm>
            <a:off x="10027920" y="4069080"/>
            <a:ext cx="548640" cy="320040"/>
          </a:xfrm>
          <a:prstGeom prst="rect">
            <a:avLst/>
          </a:prstGeom>
          <a:noFill/>
          <a:ln/>
        </p:spPr>
        <p:txBody>
          <a:bodyPr wrap="square" lIns="0" tIns="0" rIns="0" bIns="0" rtlCol="0" anchor="ctr"/>
          <a:lstStyle/>
          <a:p>
            <a:pPr marL="0" indent="0">
              <a:buNone/>
            </a:pPr>
            <a:r>
              <a:rPr lang="en-US" sz="1200" b="1">
                <a:solidFill>
                  <a:srgbClr val="00A896"/>
                </a:solidFill>
                <a:latin typeface="Calibri" pitchFamily="34" charset="0"/>
                <a:ea typeface="Calibri" pitchFamily="34" charset="-122"/>
                <a:cs typeface="Calibri" pitchFamily="34" charset="-120"/>
              </a:rPr>
              <a:t>6</a:t>
            </a:r>
            <a:endParaRPr lang="en-US" sz="1200"/>
          </a:p>
        </p:txBody>
      </p:sp>
      <p:sp>
        <p:nvSpPr>
          <p:cNvPr id="22" name="Text 20"/>
          <p:cNvSpPr txBox="1"/>
          <p:nvPr/>
        </p:nvSpPr>
        <p:spPr>
          <a:xfrm>
            <a:off x="10027920" y="4407408"/>
            <a:ext cx="1173480" cy="777240"/>
          </a:xfrm>
          <a:prstGeom prst="rect">
            <a:avLst/>
          </a:prstGeom>
          <a:noFill/>
          <a:ln/>
        </p:spPr>
        <p:txBody>
          <a:bodyPr wrap="square" lIns="0" tIns="0" rIns="0" bIns="0" rtlCol="0" anchor="ctr"/>
          <a:lstStyle/>
          <a:p>
            <a:pPr marL="0" indent="0">
              <a:lnSpc>
                <a:spcPct val="105000"/>
              </a:lnSpc>
              <a:buNone/>
            </a:pPr>
            <a:r>
              <a:rPr lang="en-US" sz="1200">
                <a:solidFill>
                  <a:srgbClr val="FFFFFF"/>
                </a:solidFill>
                <a:latin typeface="Calibri" pitchFamily="34" charset="0"/>
                <a:ea typeface="Calibri" pitchFamily="34" charset="-122"/>
                <a:cs typeface="Calibri" pitchFamily="34" charset="-120"/>
              </a:rPr>
              <a:t>Privacy mechanics</a:t>
            </a:r>
            <a:endParaRPr lang="en-US" sz="1200"/>
          </a:p>
        </p:txBody>
      </p:sp>
      <p:sp>
        <p:nvSpPr>
          <p:cNvPr id="23" name="Text 21"/>
          <p:cNvSpPr txBox="1"/>
          <p:nvPr/>
        </p:nvSpPr>
        <p:spPr>
          <a:xfrm>
            <a:off x="777240" y="5577840"/>
            <a:ext cx="7315200" cy="365760"/>
          </a:xfrm>
          <a:prstGeom prst="rect">
            <a:avLst/>
          </a:prstGeom>
          <a:noFill/>
          <a:ln/>
        </p:spPr>
        <p:txBody>
          <a:bodyPr wrap="square" lIns="0" tIns="0" rIns="0" bIns="0" rtlCol="0" anchor="ctr"/>
          <a:lstStyle/>
          <a:p>
            <a:pPr marL="0" indent="0">
              <a:buNone/>
            </a:pPr>
            <a:r>
              <a:rPr lang="en-US" sz="1250" i="1">
                <a:solidFill>
                  <a:srgbClr val="8C93B5"/>
                </a:solidFill>
                <a:latin typeface="Calibri" pitchFamily="34" charset="0"/>
                <a:ea typeface="Calibri" pitchFamily="34" charset="-122"/>
                <a:cs typeface="Calibri" pitchFamily="34" charset="-120"/>
              </a:rPr>
              <a:t>13 optional slides   ·   Day 1 · Day 2 · Day 3</a:t>
            </a:r>
            <a:endParaRPr lang="en-US" sz="1250"/>
          </a:p>
        </p:txBody>
      </p:sp>
      <p:pic>
        <p:nvPicPr>
          <p:cNvPr id="27" name="Picture 26">
            <a:extLst>
              <a:ext uri="{FF2B5EF4-FFF2-40B4-BE49-F238E27FC236}">
                <a16:creationId xmlns:a16="http://schemas.microsoft.com/office/drawing/2014/main" id="{44BBFDAE-3A63-6642-A339-55DE01DD6286}"/>
              </a:ext>
            </a:extLst>
          </p:cNvPr>
          <p:cNvPicPr>
            <a:picLocks noChangeAspect="1"/>
          </p:cNvPicPr>
          <p:nvPr/>
        </p:nvPicPr>
        <p:blipFill>
          <a:blip r:embed="rId2"/>
          <a:stretch>
            <a:fillRect/>
          </a:stretch>
        </p:blipFill>
        <p:spPr>
          <a:xfrm>
            <a:off x="10542494" y="238595"/>
            <a:ext cx="1489412" cy="402716"/>
          </a:xfrm>
          <a:prstGeom prst="rect">
            <a:avLst/>
          </a:prstGeom>
        </p:spPr>
      </p:pic>
      <p:pic>
        <p:nvPicPr>
          <p:cNvPr id="28" name="Picture 27">
            <a:extLst>
              <a:ext uri="{FF2B5EF4-FFF2-40B4-BE49-F238E27FC236}">
                <a16:creationId xmlns:a16="http://schemas.microsoft.com/office/drawing/2014/main" id="{2CB7B971-A737-004B-872B-69CE6599B090}"/>
              </a:ext>
            </a:extLst>
          </p:cNvPr>
          <p:cNvPicPr>
            <a:picLocks noChangeAspect="1"/>
          </p:cNvPicPr>
          <p:nvPr/>
        </p:nvPicPr>
        <p:blipFill>
          <a:blip r:embed="rId3"/>
          <a:stretch>
            <a:fillRect/>
          </a:stretch>
        </p:blipFill>
        <p:spPr>
          <a:xfrm>
            <a:off x="8778588" y="55155"/>
            <a:ext cx="1578751" cy="769596"/>
          </a:xfrm>
          <a:prstGeom prst="rect">
            <a:avLst/>
          </a:prstGeom>
        </p:spPr>
      </p:pic>
      <p:cxnSp>
        <p:nvCxnSpPr>
          <p:cNvPr id="29" name="Straight Connector 28">
            <a:extLst>
              <a:ext uri="{FF2B5EF4-FFF2-40B4-BE49-F238E27FC236}">
                <a16:creationId xmlns:a16="http://schemas.microsoft.com/office/drawing/2014/main" id="{D352E3A1-A47D-3149-AA7C-F28626BD57AD}"/>
              </a:ext>
            </a:extLst>
          </p:cNvPr>
          <p:cNvCxnSpPr/>
          <p:nvPr/>
        </p:nvCxnSpPr>
        <p:spPr>
          <a:xfrm>
            <a:off x="10419057" y="200957"/>
            <a:ext cx="0" cy="4779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1 · TOPIC 7</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A map of the generative model families</a:t>
            </a:r>
            <a:endParaRPr lang="en-US" sz="3000"/>
          </a:p>
        </p:txBody>
      </p:sp>
      <p:pic>
        <p:nvPicPr>
          <p:cNvPr id="5" name="Image 0" descr="img/taxonomy.png"/>
          <p:cNvPicPr>
            <a:picLocks noChangeAspect="1"/>
          </p:cNvPicPr>
          <p:nvPr/>
        </p:nvPicPr>
        <p:blipFill>
          <a:blip r:embed="rId3"/>
          <a:stretch>
            <a:fillRect/>
          </a:stretch>
        </p:blipFill>
        <p:spPr>
          <a:xfrm>
            <a:off x="2036709" y="1554480"/>
            <a:ext cx="8124677" cy="3566160"/>
          </a:xfrm>
          <a:prstGeom prst="rect">
            <a:avLst/>
          </a:prstGeom>
        </p:spPr>
      </p:pic>
      <p:sp>
        <p:nvSpPr>
          <p:cNvPr id="6" name="Text 3"/>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The split that matters operationally: explicit-density models give you a likelihood to evaluate and audit; implicit models give you samples and nothing else [7] [27].</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[3] [4] [5] [7] [19] [32]</a:t>
            </a:r>
            <a:endParaRPr lang="en-US" sz="10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2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current tabular toolbox</a:t>
            </a:r>
            <a:endParaRPr lang="en-US" sz="3000"/>
          </a:p>
        </p:txBody>
      </p:sp>
      <p:graphicFrame>
        <p:nvGraphicFramePr>
          <p:cNvPr id="29" name="Table 0"/>
          <p:cNvGraphicFramePr>
            <a:graphicFrameLocks noGrp="1"/>
          </p:cNvGraphicFramePr>
          <p:nvPr>
            <p:extLst>
              <p:ext uri="{D42A27DB-BD31-4B8C-83A1-F6EECF244321}">
                <p14:modId xmlns:p14="http://schemas.microsoft.com/office/powerpoint/2010/main" val="3286944800"/>
              </p:ext>
            </p:extLst>
          </p:nvPr>
        </p:nvGraphicFramePr>
        <p:xfrm>
          <a:off x="566928" y="1627632"/>
          <a:ext cx="11064240" cy="4480560"/>
        </p:xfrm>
        <a:graphic>
          <a:graphicData uri="http://schemas.openxmlformats.org/drawingml/2006/table">
            <a:tbl>
              <a:tblPr/>
              <a:tblGrid>
                <a:gridCol w="155448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640080">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Method</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Mechanism</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Reported strength</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Watch out for</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CTGAN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Conditional GAN with mode-specific normalisation and training-by-sampling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Strong on imbalanced categoricals; the de facto baseline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Adversarial instability; needs careful epoch selection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TVAE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Variational autoencoder over the same tabular encoding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More stable to train than CTGAN; competitive on several benchmarks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Tends to over-smooth continuous columns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TabDDPM</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Multinomial diffusion for categoricals plus Gaussian diffusion for continuous columns [12]</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Outperforms GAN and VAE alternatives across a wide benchmark suite [12]</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Slow sampling; higher training cost</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GReaT (LLM)</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Serialise each row to text and fine-tune an autoregressive language model [13]</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Exploits column-name semantics; supports arbitrary conditioning [13]</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Sequential sampling; numeric precision loss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PrivBayes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Differentially private Bayesian network over low-dimensional marginals [47]</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Formal ε guarantee with interpretable structure [47]</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Limited capacity for high-order interactions</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5"/>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SDV</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Recursive modelling of a relational schema, table by table [9]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Preserves foreign keys across a multi-table database [9]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Per-table fidelity bounded by the underlying model</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[9] [11] [12] [13] [47]</a:t>
            </a:r>
            <a:endParaRPr lang="en-US" sz="10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2 · TOPIC 2</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self-instruction loop, and its failure mode</a:t>
            </a:r>
            <a:endParaRPr lang="en-US" sz="3000"/>
          </a:p>
        </p:txBody>
      </p:sp>
      <p:pic>
        <p:nvPicPr>
          <p:cNvPr id="5" name="Image 0" descr="img/textpipe.png"/>
          <p:cNvPicPr>
            <a:picLocks noChangeAspect="1"/>
          </p:cNvPicPr>
          <p:nvPr/>
        </p:nvPicPr>
        <p:blipFill>
          <a:blip r:embed="rId3"/>
          <a:stretch>
            <a:fillRect/>
          </a:stretch>
        </p:blipFill>
        <p:spPr>
          <a:xfrm>
            <a:off x="1874125" y="1554480"/>
            <a:ext cx="8449846" cy="3383280"/>
          </a:xfrm>
          <a:prstGeom prst="rect">
            <a:avLst/>
          </a:prstGeom>
        </p:spPr>
      </p:pic>
      <p:sp>
        <p:nvSpPr>
          <p:cNvPr id="6" name="Shape 3"/>
          <p:cNvSpPr/>
          <p:nvPr/>
        </p:nvSpPr>
        <p:spPr>
          <a:xfrm>
            <a:off x="566928" y="4919472"/>
            <a:ext cx="5440680" cy="1170432"/>
          </a:xfrm>
          <a:prstGeom prst="roundRect">
            <a:avLst>
              <a:gd name="adj" fmla="val 6250"/>
            </a:avLst>
          </a:prstGeom>
          <a:solidFill>
            <a:srgbClr val="D6F2EC"/>
          </a:solidFill>
          <a:ln w="15875">
            <a:solidFill>
              <a:srgbClr val="00A896"/>
            </a:solidFill>
            <a:prstDash val="solid"/>
          </a:ln>
        </p:spPr>
      </p:sp>
      <p:sp>
        <p:nvSpPr>
          <p:cNvPr id="7" name="Text 4"/>
          <p:cNvSpPr txBox="1"/>
          <p:nvPr/>
        </p:nvSpPr>
        <p:spPr>
          <a:xfrm>
            <a:off x="804672" y="5074920"/>
            <a:ext cx="4965192" cy="438912"/>
          </a:xfrm>
          <a:prstGeom prst="rect">
            <a:avLst/>
          </a:prstGeom>
          <a:noFill/>
          <a:ln/>
        </p:spPr>
        <p:txBody>
          <a:bodyPr wrap="square" lIns="0" tIns="0" rIns="0" bIns="0" rtlCol="0" anchor="ctr"/>
          <a:lstStyle/>
          <a:p>
            <a:pPr marL="0" indent="0">
              <a:buNone/>
            </a:pPr>
            <a:r>
              <a:rPr lang="en-US" sz="1300" b="1">
                <a:solidFill>
                  <a:srgbClr val="00A896"/>
                </a:solidFill>
                <a:latin typeface="Calibri" pitchFamily="34" charset="0"/>
                <a:ea typeface="Calibri" pitchFamily="34" charset="-122"/>
                <a:cs typeface="Calibri" pitchFamily="34" charset="-120"/>
              </a:rPr>
              <a:t>What it buys</a:t>
            </a:r>
            <a:endParaRPr lang="en-US" sz="1300"/>
          </a:p>
        </p:txBody>
      </p:sp>
      <p:sp>
        <p:nvSpPr>
          <p:cNvPr id="8" name="Text 5"/>
          <p:cNvSpPr txBox="1"/>
          <p:nvPr/>
        </p:nvSpPr>
        <p:spPr>
          <a:xfrm>
            <a:off x="804672" y="5577840"/>
            <a:ext cx="4965192" cy="36576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Instruction data generated by the model itself substantially improves instruction-following, at a fraction of human annotation cost [16].</a:t>
            </a:r>
            <a:endParaRPr lang="en-US" sz="1150"/>
          </a:p>
        </p:txBody>
      </p:sp>
      <p:sp>
        <p:nvSpPr>
          <p:cNvPr id="9" name="Shape 6"/>
          <p:cNvSpPr/>
          <p:nvPr/>
        </p:nvSpPr>
        <p:spPr>
          <a:xfrm>
            <a:off x="6190488" y="4919472"/>
            <a:ext cx="5440680" cy="1170432"/>
          </a:xfrm>
          <a:prstGeom prst="roundRect">
            <a:avLst>
              <a:gd name="adj" fmla="val 6250"/>
            </a:avLst>
          </a:prstGeom>
          <a:solidFill>
            <a:srgbClr val="FBEADB"/>
          </a:solidFill>
          <a:ln w="15875">
            <a:solidFill>
              <a:srgbClr val="B03A48"/>
            </a:solidFill>
            <a:prstDash val="solid"/>
          </a:ln>
        </p:spPr>
      </p:sp>
      <p:sp>
        <p:nvSpPr>
          <p:cNvPr id="10" name="Text 7"/>
          <p:cNvSpPr txBox="1"/>
          <p:nvPr/>
        </p:nvSpPr>
        <p:spPr>
          <a:xfrm>
            <a:off x="6428232" y="5074920"/>
            <a:ext cx="4965192" cy="438912"/>
          </a:xfrm>
          <a:prstGeom prst="rect">
            <a:avLst/>
          </a:prstGeom>
          <a:noFill/>
          <a:ln/>
        </p:spPr>
        <p:txBody>
          <a:bodyPr wrap="square" lIns="0" tIns="0" rIns="0" bIns="0" rtlCol="0" anchor="ctr"/>
          <a:lstStyle/>
          <a:p>
            <a:pPr marL="0" indent="0">
              <a:buNone/>
            </a:pPr>
            <a:r>
              <a:rPr lang="en-US" sz="1300" b="1">
                <a:solidFill>
                  <a:srgbClr val="B03A48"/>
                </a:solidFill>
                <a:latin typeface="Calibri" pitchFamily="34" charset="0"/>
                <a:ea typeface="Calibri" pitchFamily="34" charset="-122"/>
                <a:cs typeface="Calibri" pitchFamily="34" charset="-120"/>
              </a:rPr>
              <a:t>What it costs</a:t>
            </a:r>
            <a:endParaRPr lang="en-US" sz="1300"/>
          </a:p>
        </p:txBody>
      </p:sp>
      <p:sp>
        <p:nvSpPr>
          <p:cNvPr id="11" name="Text 8"/>
          <p:cNvSpPr txBox="1"/>
          <p:nvPr/>
        </p:nvSpPr>
        <p:spPr>
          <a:xfrm>
            <a:off x="6428232" y="5577840"/>
            <a:ext cx="4965192" cy="36576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Training generation after generation on model output degrades the tails first — distribution collapse is empirically demonstrated [18].</a:t>
            </a:r>
            <a:endParaRPr lang="en-US" sz="1150"/>
          </a:p>
        </p:txBody>
      </p:sp>
      <p:sp>
        <p:nvSpPr>
          <p:cNvPr id="12" name="Text 9"/>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[16] [18]</a:t>
            </a:r>
            <a:endParaRPr lang="en-US" sz="10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2 · TOPIC 4</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GANs: the adversarial game in full</a:t>
            </a:r>
            <a:endParaRPr lang="en-US" sz="3000"/>
          </a:p>
        </p:txBody>
      </p:sp>
      <p:pic>
        <p:nvPicPr>
          <p:cNvPr id="5" name="Image 0" descr="img/gan.png"/>
          <p:cNvPicPr>
            <a:picLocks noChangeAspect="1"/>
          </p:cNvPicPr>
          <p:nvPr/>
        </p:nvPicPr>
        <p:blipFill>
          <a:blip r:embed="rId3"/>
          <a:stretch>
            <a:fillRect/>
          </a:stretch>
        </p:blipFill>
        <p:spPr>
          <a:xfrm>
            <a:off x="1633429" y="1554480"/>
            <a:ext cx="8931239" cy="3794760"/>
          </a:xfrm>
          <a:prstGeom prst="rect">
            <a:avLst/>
          </a:prstGeom>
        </p:spPr>
      </p:pic>
      <p:sp>
        <p:nvSpPr>
          <p:cNvPr id="6" name="Text 3"/>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At the theoretical optimum the discriminator cannot distinguish the two distributions, which corresponds to minimising the Jensen–Shannon divergence between them [3].</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[3]</a:t>
            </a:r>
            <a:endParaRPr lang="en-US" sz="10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2 · TOPIC 4</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Why GAN training misbehaves</a:t>
            </a:r>
            <a:endParaRPr lang="en-US" sz="3000"/>
          </a:p>
        </p:txBody>
      </p:sp>
      <p:sp>
        <p:nvSpPr>
          <p:cNvPr id="5" name="Shape 3"/>
          <p:cNvSpPr/>
          <p:nvPr/>
        </p:nvSpPr>
        <p:spPr>
          <a:xfrm>
            <a:off x="566928" y="1664208"/>
            <a:ext cx="3520440" cy="2148840"/>
          </a:xfrm>
          <a:prstGeom prst="roundRect">
            <a:avLst>
              <a:gd name="adj" fmla="val 3404"/>
            </a:avLst>
          </a:prstGeom>
          <a:solidFill>
            <a:srgbClr val="FBEADB"/>
          </a:solidFill>
          <a:ln w="15875">
            <a:solidFill>
              <a:srgbClr val="B03A48"/>
            </a:solidFill>
            <a:prstDash val="solid"/>
          </a:ln>
        </p:spPr>
      </p:sp>
      <p:sp>
        <p:nvSpPr>
          <p:cNvPr id="6" name="Text 4"/>
          <p:cNvSpPr txBox="1"/>
          <p:nvPr/>
        </p:nvSpPr>
        <p:spPr>
          <a:xfrm>
            <a:off x="804672" y="1819656"/>
            <a:ext cx="3044952" cy="438912"/>
          </a:xfrm>
          <a:prstGeom prst="rect">
            <a:avLst/>
          </a:prstGeom>
          <a:noFill/>
          <a:ln/>
        </p:spPr>
        <p:txBody>
          <a:bodyPr wrap="square" lIns="0" tIns="0" rIns="0" bIns="0" rtlCol="0" anchor="ctr"/>
          <a:lstStyle/>
          <a:p>
            <a:pPr marL="0" indent="0">
              <a:buNone/>
            </a:pPr>
            <a:r>
              <a:rPr lang="en-US" sz="1400" b="1">
                <a:solidFill>
                  <a:srgbClr val="B03A48"/>
                </a:solidFill>
                <a:latin typeface="Calibri" pitchFamily="34" charset="0"/>
                <a:ea typeface="Calibri" pitchFamily="34" charset="-122"/>
                <a:cs typeface="Calibri" pitchFamily="34" charset="-120"/>
              </a:rPr>
              <a:t>Vanishing gradients</a:t>
            </a:r>
            <a:endParaRPr lang="en-US" sz="1400"/>
          </a:p>
        </p:txBody>
      </p:sp>
      <p:sp>
        <p:nvSpPr>
          <p:cNvPr id="7" name="Text 5"/>
          <p:cNvSpPr txBox="1"/>
          <p:nvPr/>
        </p:nvSpPr>
        <p:spPr>
          <a:xfrm>
            <a:off x="804672" y="2322576"/>
            <a:ext cx="3044952" cy="134416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When the discriminator becomes too strong, its output saturates and the generator receives almost no gradient. The original paper's non-saturating loss is the first fix [3].</a:t>
            </a:r>
            <a:endParaRPr lang="en-US" sz="1150"/>
          </a:p>
        </p:txBody>
      </p:sp>
      <p:sp>
        <p:nvSpPr>
          <p:cNvPr id="8" name="Shape 6"/>
          <p:cNvSpPr/>
          <p:nvPr/>
        </p:nvSpPr>
        <p:spPr>
          <a:xfrm>
            <a:off x="4334256" y="1664208"/>
            <a:ext cx="3520440" cy="2148840"/>
          </a:xfrm>
          <a:prstGeom prst="roundRect">
            <a:avLst>
              <a:gd name="adj" fmla="val 3404"/>
            </a:avLst>
          </a:prstGeom>
          <a:solidFill>
            <a:srgbClr val="FBEADB"/>
          </a:solidFill>
          <a:ln w="15875">
            <a:solidFill>
              <a:srgbClr val="B03A48"/>
            </a:solidFill>
            <a:prstDash val="solid"/>
          </a:ln>
        </p:spPr>
      </p:sp>
      <p:sp>
        <p:nvSpPr>
          <p:cNvPr id="9" name="Text 7"/>
          <p:cNvSpPr txBox="1"/>
          <p:nvPr/>
        </p:nvSpPr>
        <p:spPr>
          <a:xfrm>
            <a:off x="4572000" y="1819656"/>
            <a:ext cx="3044952" cy="438912"/>
          </a:xfrm>
          <a:prstGeom prst="rect">
            <a:avLst/>
          </a:prstGeom>
          <a:noFill/>
          <a:ln/>
        </p:spPr>
        <p:txBody>
          <a:bodyPr wrap="square" lIns="0" tIns="0" rIns="0" bIns="0" rtlCol="0" anchor="ctr"/>
          <a:lstStyle/>
          <a:p>
            <a:pPr marL="0" indent="0">
              <a:buNone/>
            </a:pPr>
            <a:r>
              <a:rPr lang="en-US" sz="1400" b="1">
                <a:solidFill>
                  <a:srgbClr val="B03A48"/>
                </a:solidFill>
                <a:latin typeface="Calibri" pitchFamily="34" charset="0"/>
                <a:ea typeface="Calibri" pitchFamily="34" charset="-122"/>
                <a:cs typeface="Calibri" pitchFamily="34" charset="-120"/>
              </a:rPr>
              <a:t>Mode collapse</a:t>
            </a:r>
            <a:endParaRPr lang="en-US" sz="1400"/>
          </a:p>
        </p:txBody>
      </p:sp>
      <p:sp>
        <p:nvSpPr>
          <p:cNvPr id="10" name="Text 8"/>
          <p:cNvSpPr txBox="1"/>
          <p:nvPr/>
        </p:nvSpPr>
        <p:spPr>
          <a:xfrm>
            <a:off x="4572000" y="2322576"/>
            <a:ext cx="3044952" cy="134416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The generator finds one output the discriminator cannot reject and produces variations of it forever. Diversity dies while the loss looks healthy [41].</a:t>
            </a:r>
            <a:endParaRPr lang="en-US" sz="1150"/>
          </a:p>
        </p:txBody>
      </p:sp>
      <p:sp>
        <p:nvSpPr>
          <p:cNvPr id="11" name="Shape 9"/>
          <p:cNvSpPr/>
          <p:nvPr/>
        </p:nvSpPr>
        <p:spPr>
          <a:xfrm>
            <a:off x="8101584" y="1664208"/>
            <a:ext cx="3529584" cy="2148840"/>
          </a:xfrm>
          <a:prstGeom prst="roundRect">
            <a:avLst>
              <a:gd name="adj" fmla="val 3404"/>
            </a:avLst>
          </a:prstGeom>
          <a:solidFill>
            <a:srgbClr val="FBEADB"/>
          </a:solidFill>
          <a:ln w="15875">
            <a:solidFill>
              <a:srgbClr val="B03A48"/>
            </a:solidFill>
            <a:prstDash val="solid"/>
          </a:ln>
        </p:spPr>
      </p:sp>
      <p:sp>
        <p:nvSpPr>
          <p:cNvPr id="12" name="Text 10"/>
          <p:cNvSpPr txBox="1"/>
          <p:nvPr/>
        </p:nvSpPr>
        <p:spPr>
          <a:xfrm>
            <a:off x="8339328" y="1819656"/>
            <a:ext cx="3054096" cy="438912"/>
          </a:xfrm>
          <a:prstGeom prst="rect">
            <a:avLst/>
          </a:prstGeom>
          <a:noFill/>
          <a:ln/>
        </p:spPr>
        <p:txBody>
          <a:bodyPr wrap="square" lIns="0" tIns="0" rIns="0" bIns="0" rtlCol="0" anchor="ctr"/>
          <a:lstStyle/>
          <a:p>
            <a:pPr marL="0" indent="0">
              <a:buNone/>
            </a:pPr>
            <a:r>
              <a:rPr lang="en-US" sz="1400" b="1">
                <a:solidFill>
                  <a:srgbClr val="B03A48"/>
                </a:solidFill>
                <a:latin typeface="Calibri" pitchFamily="34" charset="0"/>
                <a:ea typeface="Calibri" pitchFamily="34" charset="-122"/>
                <a:cs typeface="Calibri" pitchFamily="34" charset="-120"/>
              </a:rPr>
              <a:t>Non-convergence</a:t>
            </a:r>
            <a:endParaRPr lang="en-US" sz="1400"/>
          </a:p>
        </p:txBody>
      </p:sp>
      <p:sp>
        <p:nvSpPr>
          <p:cNvPr id="13" name="Text 11"/>
          <p:cNvSpPr txBox="1"/>
          <p:nvPr/>
        </p:nvSpPr>
        <p:spPr>
          <a:xfrm>
            <a:off x="8339328" y="2322576"/>
            <a:ext cx="3054096" cy="1344168"/>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Two networks optimising opposing objectives can cycle indefinitely rather than settle. Loss curves are not a reliable stopping signal [35].</a:t>
            </a:r>
            <a:endParaRPr lang="en-US" sz="1150"/>
          </a:p>
        </p:txBody>
      </p:sp>
      <p:pic>
        <p:nvPicPr>
          <p:cNvPr id="14" name="Image 0" descr="img/modecollapse.png"/>
          <p:cNvPicPr>
            <a:picLocks noChangeAspect="1"/>
          </p:cNvPicPr>
          <p:nvPr/>
        </p:nvPicPr>
        <p:blipFill>
          <a:blip r:embed="rId3"/>
          <a:stretch>
            <a:fillRect/>
          </a:stretch>
        </p:blipFill>
        <p:spPr>
          <a:xfrm>
            <a:off x="4053913" y="3931920"/>
            <a:ext cx="4090270" cy="1874520"/>
          </a:xfrm>
          <a:prstGeom prst="rect">
            <a:avLst/>
          </a:prstGeom>
        </p:spPr>
      </p:pic>
      <p:sp>
        <p:nvSpPr>
          <p:cNvPr id="15" name="Text 12"/>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[3] [35] [41]</a:t>
            </a:r>
            <a:endParaRPr lang="en-US" sz="10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2 · LEARNING CHECK</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Five-minute check: think it through</a:t>
            </a:r>
            <a:endParaRPr lang="en-US" sz="3000"/>
          </a:p>
        </p:txBody>
      </p:sp>
      <p:sp>
        <p:nvSpPr>
          <p:cNvPr id="5" name="Shape 3"/>
          <p:cNvSpPr/>
          <p:nvPr/>
        </p:nvSpPr>
        <p:spPr>
          <a:xfrm>
            <a:off x="566928" y="1737360"/>
            <a:ext cx="11064240" cy="1234440"/>
          </a:xfrm>
          <a:prstGeom prst="roundRect">
            <a:avLst>
              <a:gd name="adj" fmla="val 5926"/>
            </a:avLst>
          </a:prstGeom>
          <a:solidFill>
            <a:srgbClr val="D6F2EC"/>
          </a:solidFill>
          <a:ln w="15875">
            <a:solidFill>
              <a:srgbClr val="00A896"/>
            </a:solidFill>
            <a:prstDash val="solid"/>
          </a:ln>
        </p:spPr>
      </p:sp>
      <p:sp>
        <p:nvSpPr>
          <p:cNvPr id="6" name="Shape 4"/>
          <p:cNvSpPr/>
          <p:nvPr/>
        </p:nvSpPr>
        <p:spPr>
          <a:xfrm>
            <a:off x="768096" y="1920240"/>
            <a:ext cx="384048" cy="384048"/>
          </a:xfrm>
          <a:prstGeom prst="ellipse">
            <a:avLst/>
          </a:prstGeom>
          <a:solidFill>
            <a:srgbClr val="00A896"/>
          </a:solidFill>
          <a:ln w="12700">
            <a:solidFill>
              <a:srgbClr val="00A896"/>
            </a:solidFill>
            <a:prstDash val="solid"/>
          </a:ln>
        </p:spPr>
      </p:sp>
      <p:sp>
        <p:nvSpPr>
          <p:cNvPr id="7" name="Text 5"/>
          <p:cNvSpPr txBox="1"/>
          <p:nvPr/>
        </p:nvSpPr>
        <p:spPr>
          <a:xfrm>
            <a:off x="768096" y="192024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280160" y="1892808"/>
            <a:ext cx="10149840"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The question</a:t>
            </a:r>
            <a:endParaRPr lang="en-US" sz="1500"/>
          </a:p>
        </p:txBody>
      </p:sp>
      <p:sp>
        <p:nvSpPr>
          <p:cNvPr id="9" name="Text 7"/>
          <p:cNvSpPr txBox="1"/>
          <p:nvPr/>
        </p:nvSpPr>
        <p:spPr>
          <a:xfrm>
            <a:off x="804672" y="239572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If the Discriminator becomes extremely good, extremely quickly, what happens to the signal the Generator receives?</a:t>
            </a:r>
            <a:endParaRPr lang="en-US" sz="1200"/>
          </a:p>
        </p:txBody>
      </p:sp>
      <p:sp>
        <p:nvSpPr>
          <p:cNvPr id="10" name="Shape 8"/>
          <p:cNvSpPr/>
          <p:nvPr/>
        </p:nvSpPr>
        <p:spPr>
          <a:xfrm>
            <a:off x="566928" y="3154680"/>
            <a:ext cx="11064240" cy="1234440"/>
          </a:xfrm>
          <a:prstGeom prst="roundRect">
            <a:avLst>
              <a:gd name="adj" fmla="val 5926"/>
            </a:avLst>
          </a:prstGeom>
          <a:solidFill>
            <a:srgbClr val="EEF1F8"/>
          </a:solidFill>
          <a:ln w="15875">
            <a:solidFill>
              <a:srgbClr val="DCE6FA"/>
            </a:solidFill>
            <a:prstDash val="solid"/>
          </a:ln>
        </p:spPr>
      </p:sp>
      <p:sp>
        <p:nvSpPr>
          <p:cNvPr id="11" name="Shape 9"/>
          <p:cNvSpPr/>
          <p:nvPr/>
        </p:nvSpPr>
        <p:spPr>
          <a:xfrm>
            <a:off x="768096" y="3337560"/>
            <a:ext cx="384048" cy="384048"/>
          </a:xfrm>
          <a:prstGeom prst="ellipse">
            <a:avLst/>
          </a:prstGeom>
          <a:solidFill>
            <a:srgbClr val="2E3A8C"/>
          </a:solidFill>
          <a:ln w="12700">
            <a:solidFill>
              <a:srgbClr val="2E3A8C"/>
            </a:solidFill>
            <a:prstDash val="solid"/>
          </a:ln>
        </p:spPr>
      </p:sp>
      <p:sp>
        <p:nvSpPr>
          <p:cNvPr id="12" name="Text 10"/>
          <p:cNvSpPr txBox="1"/>
          <p:nvPr/>
        </p:nvSpPr>
        <p:spPr>
          <a:xfrm>
            <a:off x="768096" y="333756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3" name="Text 11"/>
          <p:cNvSpPr txBox="1"/>
          <p:nvPr/>
        </p:nvSpPr>
        <p:spPr>
          <a:xfrm>
            <a:off x="1280160" y="3310128"/>
            <a:ext cx="10149840" cy="438912"/>
          </a:xfrm>
          <a:prstGeom prst="rect">
            <a:avLst/>
          </a:prstGeom>
          <a:noFill/>
          <a:ln/>
        </p:spPr>
        <p:txBody>
          <a:bodyPr wrap="square" lIns="0" tIns="0" rIns="0" bIns="0" rtlCol="0" anchor="ctr"/>
          <a:lstStyle/>
          <a:p>
            <a:pPr marL="0" indent="0">
              <a:buNone/>
            </a:pPr>
            <a:r>
              <a:rPr lang="en-US" sz="1500" b="1">
                <a:solidFill>
                  <a:srgbClr val="2E3A8C"/>
                </a:solidFill>
                <a:latin typeface="Calibri" pitchFamily="34" charset="0"/>
                <a:ea typeface="Calibri" pitchFamily="34" charset="-122"/>
                <a:cs typeface="Calibri" pitchFamily="34" charset="-120"/>
              </a:rPr>
              <a:t>Work it through</a:t>
            </a:r>
            <a:endParaRPr lang="en-US" sz="1500"/>
          </a:p>
        </p:txBody>
      </p:sp>
      <p:sp>
        <p:nvSpPr>
          <p:cNvPr id="14" name="Text 12"/>
          <p:cNvSpPr txBox="1"/>
          <p:nvPr/>
        </p:nvSpPr>
        <p:spPr>
          <a:xfrm>
            <a:off x="804672" y="381304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A near-perfect Discriminator rejects almost everything the Generator produces. Think about what that does to the gradient the Generator trains on.</a:t>
            </a:r>
            <a:endParaRPr lang="en-US" sz="1200"/>
          </a:p>
        </p:txBody>
      </p:sp>
      <p:sp>
        <p:nvSpPr>
          <p:cNvPr id="15" name="Shape 13"/>
          <p:cNvSpPr/>
          <p:nvPr/>
        </p:nvSpPr>
        <p:spPr>
          <a:xfrm>
            <a:off x="566928" y="4572000"/>
            <a:ext cx="11064240" cy="1234440"/>
          </a:xfrm>
          <a:prstGeom prst="roundRect">
            <a:avLst>
              <a:gd name="adj" fmla="val 5926"/>
            </a:avLst>
          </a:prstGeom>
          <a:solidFill>
            <a:srgbClr val="FBEADB"/>
          </a:solidFill>
          <a:ln w="15875">
            <a:solidFill>
              <a:srgbClr val="D9822B"/>
            </a:solidFill>
            <a:prstDash val="solid"/>
          </a:ln>
        </p:spPr>
      </p:sp>
      <p:sp>
        <p:nvSpPr>
          <p:cNvPr id="16" name="Shape 14"/>
          <p:cNvSpPr/>
          <p:nvPr/>
        </p:nvSpPr>
        <p:spPr>
          <a:xfrm>
            <a:off x="768096" y="4754880"/>
            <a:ext cx="384048" cy="384048"/>
          </a:xfrm>
          <a:prstGeom prst="ellipse">
            <a:avLst/>
          </a:prstGeom>
          <a:solidFill>
            <a:srgbClr val="D9822B"/>
          </a:solidFill>
          <a:ln w="12700">
            <a:solidFill>
              <a:srgbClr val="D9822B"/>
            </a:solidFill>
            <a:prstDash val="solid"/>
          </a:ln>
        </p:spPr>
      </p:sp>
      <p:sp>
        <p:nvSpPr>
          <p:cNvPr id="17" name="Text 15"/>
          <p:cNvSpPr txBox="1"/>
          <p:nvPr/>
        </p:nvSpPr>
        <p:spPr>
          <a:xfrm>
            <a:off x="768096" y="4754880"/>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txBox="1"/>
          <p:nvPr/>
        </p:nvSpPr>
        <p:spPr>
          <a:xfrm>
            <a:off x="1280160" y="4727448"/>
            <a:ext cx="10149840" cy="438912"/>
          </a:xfrm>
          <a:prstGeom prst="rect">
            <a:avLst/>
          </a:prstGeom>
          <a:noFill/>
          <a:ln/>
        </p:spPr>
        <p:txBody>
          <a:bodyPr wrap="square" lIns="0" tIns="0" rIns="0" bIns="0" rtlCol="0" anchor="ctr"/>
          <a:lstStyle/>
          <a:p>
            <a:pPr marL="0" indent="0">
              <a:buNone/>
            </a:pPr>
            <a:r>
              <a:rPr lang="en-US" sz="1500" b="1">
                <a:solidFill>
                  <a:srgbClr val="D9822B"/>
                </a:solidFill>
                <a:latin typeface="Calibri" pitchFamily="34" charset="0"/>
                <a:ea typeface="Calibri" pitchFamily="34" charset="-122"/>
                <a:cs typeface="Calibri" pitchFamily="34" charset="-120"/>
              </a:rPr>
              <a:t>Connect it back</a:t>
            </a:r>
            <a:endParaRPr lang="en-US" sz="1500"/>
          </a:p>
        </p:txBody>
      </p:sp>
      <p:sp>
        <p:nvSpPr>
          <p:cNvPr id="19" name="Text 17"/>
          <p:cNvSpPr txBox="1"/>
          <p:nvPr/>
        </p:nvSpPr>
        <p:spPr>
          <a:xfrm>
            <a:off x="804672" y="5230368"/>
            <a:ext cx="10588752" cy="42976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Which failure mode from the previous slide does this describe? What does the practical fix look like?</a:t>
            </a:r>
            <a:endParaRPr lang="en-US" sz="1200"/>
          </a:p>
        </p:txBody>
      </p:sp>
      <p:sp>
        <p:nvSpPr>
          <p:cNvPr id="20" name="Shape 18"/>
          <p:cNvSpPr/>
          <p:nvPr/>
        </p:nvSpPr>
        <p:spPr>
          <a:xfrm>
            <a:off x="566928" y="5486400"/>
            <a:ext cx="11064240" cy="658368"/>
          </a:xfrm>
          <a:prstGeom prst="roundRect">
            <a:avLst>
              <a:gd name="adj" fmla="val 11111"/>
            </a:avLst>
          </a:prstGeom>
          <a:solidFill>
            <a:schemeClr val="accent1">
              <a:lumMod val="75000"/>
            </a:schemeClr>
          </a:solidFill>
          <a:ln w="15875">
            <a:noFill/>
            <a:prstDash val="solid"/>
          </a:ln>
        </p:spPr>
      </p:sp>
      <p:sp>
        <p:nvSpPr>
          <p:cNvPr id="21" name="Text 19"/>
          <p:cNvSpPr txBox="1"/>
          <p:nvPr/>
        </p:nvSpPr>
        <p:spPr>
          <a:xfrm>
            <a:off x="804672" y="5669280"/>
            <a:ext cx="10588752" cy="329184"/>
          </a:xfrm>
          <a:prstGeom prst="rect">
            <a:avLst/>
          </a:prstGeom>
          <a:noFill/>
          <a:ln/>
        </p:spPr>
        <p:txBody>
          <a:bodyPr wrap="square" lIns="0" tIns="0" rIns="0" bIns="0" rtlCol="0" anchor="t"/>
          <a:lstStyle/>
          <a:p>
            <a:pPr marL="0" indent="0">
              <a:lnSpc>
                <a:spcPct val="112000"/>
              </a:lnSpc>
              <a:buNone/>
            </a:pPr>
            <a:r>
              <a:rPr lang="en-US" sz="1250">
                <a:solidFill>
                  <a:srgbClr val="E4E8F4"/>
                </a:solidFill>
                <a:latin typeface="Calibri" pitchFamily="34" charset="0"/>
                <a:ea typeface="Calibri" pitchFamily="34" charset="-122"/>
                <a:cs typeface="Calibri" pitchFamily="34" charset="-120"/>
              </a:rPr>
              <a:t>This is the vanishing-gradient problem in GAN training — one reason practitioners watch the loss curves so closely, rather than trusting the objective alone.</a:t>
            </a:r>
            <a:endParaRPr lang="en-US" sz="1250"/>
          </a:p>
        </p:txBody>
      </p:sp>
      <p:sp>
        <p:nvSpPr>
          <p:cNvPr id="22" name="Text 20"/>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Discussion — no citations required</a:t>
            </a:r>
            <a:endParaRPr lang="en-US" sz="10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2 · TOPIC 4</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The variants you will actually use</a:t>
            </a:r>
            <a:endParaRPr lang="en-US" sz="3000"/>
          </a:p>
        </p:txBody>
      </p:sp>
      <p:graphicFrame>
        <p:nvGraphicFramePr>
          <p:cNvPr id="38" name="Table 0"/>
          <p:cNvGraphicFramePr>
            <a:graphicFrameLocks noGrp="1"/>
          </p:cNvGraphicFramePr>
          <p:nvPr>
            <p:extLst>
              <p:ext uri="{D42A27DB-BD31-4B8C-83A1-F6EECF244321}">
                <p14:modId xmlns:p14="http://schemas.microsoft.com/office/powerpoint/2010/main" val="429737029"/>
              </p:ext>
            </p:extLst>
          </p:nvPr>
        </p:nvGraphicFramePr>
        <p:xfrm>
          <a:off x="566928" y="1627632"/>
          <a:ext cx="11064240" cy="4480560"/>
        </p:xfrm>
        <a:graphic>
          <a:graphicData uri="http://schemas.openxmlformats.org/drawingml/2006/table">
            <a:tbl>
              <a:tblPr/>
              <a:tblGrid>
                <a:gridCol w="22860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40080">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Variant</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What it changes</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Why it helps</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Conditional GAN [37]</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Feeds a class label to both generator and discriminator</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Lets you generate a chosen class on demand — the basis of rare-event oversampling</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Wasserstein GAN [35]</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Replaces the JS objective with an Earth-Mover distance and a critic</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Gives a loss that correlates with sample quality and reduces mode collapse [35]</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WGAN-GP [36]</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Enforces the Lipschitz constraint with a gradient penalty instead of weight clipping</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Markedly more stable training across architectures [36]</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StyleGAN [20]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Style-based generator with per-layer latent modulation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State-of-the-art image fidelity plus disentangled, controllable attributes [20]</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CTGAN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Conditional vector over discrete columns plus mode-specific normalisation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Makes the family usable on real tabular data at all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5"/>
                  </a:ext>
                </a:extLst>
              </a:tr>
              <a:tr h="64008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PATE-GAN [26]</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Trains the discriminator through a differentially private teacher ensemble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Adds a formal </a:t>
                      </a:r>
                      <a:r>
                        <a:rPr lang="en-US" sz="1000" err="1">
                          <a:solidFill>
                            <a:srgbClr val="0E1330"/>
                          </a:solidFill>
                          <a:latin typeface="Calibri" pitchFamily="34" charset="0"/>
                          <a:ea typeface="Calibri" pitchFamily="34" charset="-122"/>
                          <a:cs typeface="Calibri" pitchFamily="34" charset="-120"/>
                        </a:rPr>
                        <a:t>ε</a:t>
                      </a:r>
                      <a:r>
                        <a:rPr lang="en-US" sz="1000">
                          <a:solidFill>
                            <a:srgbClr val="0E1330"/>
                          </a:solidFill>
                          <a:latin typeface="Calibri" pitchFamily="34" charset="0"/>
                          <a:ea typeface="Calibri" pitchFamily="34" charset="-122"/>
                          <a:cs typeface="Calibri" pitchFamily="34" charset="-120"/>
                        </a:rPr>
                        <a:t> guarantee to the generated output [26]</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[11] [20] [26] [35] [36] [37]</a:t>
            </a:r>
            <a:endParaRPr lang="en-US" sz="10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2 · TOPIC 5</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VAEs: encode, regularise, decode</a:t>
            </a:r>
            <a:endParaRPr lang="en-US" sz="3000"/>
          </a:p>
        </p:txBody>
      </p:sp>
      <p:pic>
        <p:nvPicPr>
          <p:cNvPr id="5" name="Image 0" descr="img/vae.png"/>
          <p:cNvPicPr>
            <a:picLocks noChangeAspect="1"/>
          </p:cNvPicPr>
          <p:nvPr/>
        </p:nvPicPr>
        <p:blipFill>
          <a:blip r:embed="rId3"/>
          <a:stretch>
            <a:fillRect/>
          </a:stretch>
        </p:blipFill>
        <p:spPr>
          <a:xfrm>
            <a:off x="1317796" y="1554480"/>
            <a:ext cx="9562505" cy="3840480"/>
          </a:xfrm>
          <a:prstGeom prst="rect">
            <a:avLst/>
          </a:prstGeom>
        </p:spPr>
      </p:pic>
      <p:sp>
        <p:nvSpPr>
          <p:cNvPr id="6" name="Text 3"/>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The reparameterisation trick is the whole enabling idea: writing z = μ + σ ⊙ ε moves the randomness out of the computational path so gradients can flow through the encoder [4].</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[4]</a:t>
            </a:r>
            <a:endParaRPr lang="en-US" sz="10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2 · TOPIC 5</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What the ELBO buys you, and what it costs</a:t>
            </a:r>
            <a:endParaRPr lang="en-US" sz="3000"/>
          </a:p>
        </p:txBody>
      </p:sp>
      <p:sp>
        <p:nvSpPr>
          <p:cNvPr id="5" name="Shape 3"/>
          <p:cNvSpPr/>
          <p:nvPr/>
        </p:nvSpPr>
        <p:spPr>
          <a:xfrm>
            <a:off x="566928" y="1664208"/>
            <a:ext cx="5440680" cy="2011680"/>
          </a:xfrm>
          <a:prstGeom prst="roundRect">
            <a:avLst>
              <a:gd name="adj" fmla="val 3636"/>
            </a:avLst>
          </a:prstGeom>
          <a:solidFill>
            <a:srgbClr val="D6F2EC"/>
          </a:solidFill>
          <a:ln w="15875">
            <a:solidFill>
              <a:srgbClr val="00A896"/>
            </a:solidFill>
            <a:prstDash val="solid"/>
          </a:ln>
        </p:spPr>
      </p:sp>
      <p:sp>
        <p:nvSpPr>
          <p:cNvPr id="6" name="Text 4"/>
          <p:cNvSpPr txBox="1"/>
          <p:nvPr/>
        </p:nvSpPr>
        <p:spPr>
          <a:xfrm>
            <a:off x="804672" y="1819656"/>
            <a:ext cx="4965192" cy="438912"/>
          </a:xfrm>
          <a:prstGeom prst="rect">
            <a:avLst/>
          </a:prstGeom>
          <a:noFill/>
          <a:ln/>
        </p:spPr>
        <p:txBody>
          <a:bodyPr wrap="square" lIns="0" tIns="0" rIns="0" bIns="0" rtlCol="0" anchor="ctr"/>
          <a:lstStyle/>
          <a:p>
            <a:pPr marL="0" indent="0">
              <a:buNone/>
            </a:pPr>
            <a:r>
              <a:rPr lang="en-US" sz="1500" b="1">
                <a:solidFill>
                  <a:srgbClr val="00A896"/>
                </a:solidFill>
                <a:latin typeface="Calibri" pitchFamily="34" charset="0"/>
                <a:ea typeface="Calibri" pitchFamily="34" charset="-122"/>
                <a:cs typeface="Calibri" pitchFamily="34" charset="-120"/>
              </a:rPr>
              <a:t>Advantages</a:t>
            </a:r>
            <a:endParaRPr lang="en-US" sz="1500"/>
          </a:p>
        </p:txBody>
      </p:sp>
      <p:sp>
        <p:nvSpPr>
          <p:cNvPr id="7" name="Text 5"/>
          <p:cNvSpPr txBox="1"/>
          <p:nvPr/>
        </p:nvSpPr>
        <p:spPr>
          <a:xfrm>
            <a:off x="804672" y="2322576"/>
            <a:ext cx="4965192" cy="120700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Stable, non-adversarial training. A principled bound on the log-likelihood that can be reported and compared. A continuous latent space that supports interpolation, conditioning and anomaly scoring [4] [7].</a:t>
            </a:r>
            <a:endParaRPr lang="en-US" sz="1200"/>
          </a:p>
        </p:txBody>
      </p:sp>
      <p:sp>
        <p:nvSpPr>
          <p:cNvPr id="8" name="Shape 6"/>
          <p:cNvSpPr/>
          <p:nvPr/>
        </p:nvSpPr>
        <p:spPr>
          <a:xfrm>
            <a:off x="6190488" y="1664208"/>
            <a:ext cx="5440680" cy="2011680"/>
          </a:xfrm>
          <a:prstGeom prst="roundRect">
            <a:avLst>
              <a:gd name="adj" fmla="val 3636"/>
            </a:avLst>
          </a:prstGeom>
          <a:solidFill>
            <a:srgbClr val="FBEADB"/>
          </a:solidFill>
          <a:ln w="15875">
            <a:solidFill>
              <a:srgbClr val="D9822B"/>
            </a:solidFill>
            <a:prstDash val="solid"/>
          </a:ln>
        </p:spPr>
      </p:sp>
      <p:sp>
        <p:nvSpPr>
          <p:cNvPr id="9" name="Text 7"/>
          <p:cNvSpPr txBox="1"/>
          <p:nvPr/>
        </p:nvSpPr>
        <p:spPr>
          <a:xfrm>
            <a:off x="6428232" y="1819656"/>
            <a:ext cx="4965192" cy="438912"/>
          </a:xfrm>
          <a:prstGeom prst="rect">
            <a:avLst/>
          </a:prstGeom>
          <a:noFill/>
          <a:ln/>
        </p:spPr>
        <p:txBody>
          <a:bodyPr wrap="square" lIns="0" tIns="0" rIns="0" bIns="0" rtlCol="0" anchor="ctr"/>
          <a:lstStyle/>
          <a:p>
            <a:pPr marL="0" indent="0">
              <a:buNone/>
            </a:pPr>
            <a:r>
              <a:rPr lang="en-US" sz="1500" b="1">
                <a:solidFill>
                  <a:srgbClr val="D9822B"/>
                </a:solidFill>
                <a:latin typeface="Calibri" pitchFamily="34" charset="0"/>
                <a:ea typeface="Calibri" pitchFamily="34" charset="-122"/>
                <a:cs typeface="Calibri" pitchFamily="34" charset="-120"/>
              </a:rPr>
              <a:t>Limitations</a:t>
            </a:r>
            <a:endParaRPr lang="en-US" sz="1500"/>
          </a:p>
        </p:txBody>
      </p:sp>
      <p:sp>
        <p:nvSpPr>
          <p:cNvPr id="10" name="Text 8"/>
          <p:cNvSpPr txBox="1"/>
          <p:nvPr/>
        </p:nvSpPr>
        <p:spPr>
          <a:xfrm>
            <a:off x="6428232" y="2322576"/>
            <a:ext cx="4965192" cy="120700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The reconstruction term under a Gaussian likelihood averages over plausible outputs, which produces blurred images and over-smoothed numeric columns. Posterior collapse can leave latent dimensions unused [7] [38].</a:t>
            </a:r>
            <a:endParaRPr lang="en-US" sz="1200"/>
          </a:p>
        </p:txBody>
      </p:sp>
      <p:graphicFrame>
        <p:nvGraphicFramePr>
          <p:cNvPr id="40" name="Table 0"/>
          <p:cNvGraphicFramePr>
            <a:graphicFrameLocks noGrp="1"/>
          </p:cNvGraphicFramePr>
          <p:nvPr>
            <p:extLst>
              <p:ext uri="{D42A27DB-BD31-4B8C-83A1-F6EECF244321}">
                <p14:modId xmlns:p14="http://schemas.microsoft.com/office/powerpoint/2010/main" val="734743975"/>
              </p:ext>
            </p:extLst>
          </p:nvPr>
        </p:nvGraphicFramePr>
        <p:xfrm>
          <a:off x="566928" y="3913632"/>
          <a:ext cx="11064240" cy="2286000"/>
        </p:xfrm>
        <a:graphic>
          <a:graphicData uri="http://schemas.openxmlformats.org/drawingml/2006/table">
            <a:tbl>
              <a:tblPr/>
              <a:tblGrid>
                <a:gridCol w="20116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457200">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Variant</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Modification</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tc>
                  <a:txBody>
                    <a:bodyPr/>
                    <a:lstStyle/>
                    <a:p>
                      <a:pPr marL="0" indent="0" algn="l">
                        <a:buNone/>
                      </a:pPr>
                      <a:r>
                        <a:rPr lang="en-US" sz="1200" b="1">
                          <a:solidFill>
                            <a:srgbClr val="FFFFFF"/>
                          </a:solidFill>
                          <a:latin typeface="Calibri" pitchFamily="34" charset="0"/>
                          <a:ea typeface="Calibri" pitchFamily="34" charset="-122"/>
                          <a:cs typeface="Calibri" pitchFamily="34" charset="-120"/>
                        </a:rPr>
                        <a:t>Use case</a:t>
                      </a:r>
                      <a:endParaRPr lang="en-US" sz="12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45720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β-VAE [38]</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Up-weights the KL term by a factor β</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Disentangled latent factors at some cost in reconstruction quality [38]</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1"/>
                  </a:ext>
                </a:extLst>
              </a:tr>
              <a:tr h="45720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Conditional VAE</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Conditions encoder and decoder on a label</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Generating a specified class — the VAE analogue of a conditional GAN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VQ-VAE [39]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Quantises the latent space into a discrete codebook</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Avoids posterior collapse; pairs well with autoregressive priors [39]</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EEF1F8"/>
                    </a:solidFill>
                  </a:tcPr>
                </a:tc>
                <a:extLst>
                  <a:ext uri="{0D108BD9-81ED-4DB2-BD59-A6C34878D82A}">
                    <a16:rowId xmlns:a16="http://schemas.microsoft.com/office/drawing/2014/main" val="10003"/>
                  </a:ext>
                </a:extLst>
              </a:tr>
              <a:tr h="457200">
                <a:tc>
                  <a:txBody>
                    <a:bodyPr/>
                    <a:lstStyle/>
                    <a:p>
                      <a:pPr marL="0" indent="0" algn="l">
                        <a:buNone/>
                      </a:pPr>
                      <a:r>
                        <a:rPr lang="en-US" sz="1000" b="1">
                          <a:solidFill>
                            <a:srgbClr val="2E3A8C"/>
                          </a:solidFill>
                          <a:latin typeface="Calibri" pitchFamily="34" charset="0"/>
                          <a:ea typeface="Calibri" pitchFamily="34" charset="-122"/>
                          <a:cs typeface="Calibri" pitchFamily="34" charset="-120"/>
                        </a:rPr>
                        <a:t>TVAE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Tabular encoding with mode-specific normalisation</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0E1330"/>
                          </a:solidFill>
                          <a:latin typeface="Calibri" pitchFamily="34" charset="0"/>
                          <a:ea typeface="Calibri" pitchFamily="34" charset="-122"/>
                          <a:cs typeface="Calibri" pitchFamily="34" charset="-120"/>
                        </a:rPr>
                        <a:t>Frequently matches or beats CTGAN with far less tuning [11]</a:t>
                      </a:r>
                      <a:endParaRPr lang="en-US" sz="1000">
                        <a:latin typeface="Calibri" charset="0"/>
                        <a:ea typeface="Calibri" charset="0"/>
                        <a:cs typeface="Calibri" charset="0"/>
                      </a:endParaRPr>
                    </a:p>
                  </a:txBody>
                  <a:tcPr marL="54864" marR="54864" marT="54864" marB="54864"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Text 9"/>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[4] [7] [11] [38] [39]</a:t>
            </a:r>
            <a:endParaRPr lang="en-US" sz="10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2 · TOPIC 6</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Diffusion models: destroy, then learn to rebuild</a:t>
            </a:r>
            <a:endParaRPr lang="en-US" sz="3000"/>
          </a:p>
        </p:txBody>
      </p:sp>
      <p:pic>
        <p:nvPicPr>
          <p:cNvPr id="5" name="Image 0" descr="img/diffusion.png"/>
          <p:cNvPicPr>
            <a:picLocks noChangeAspect="1"/>
          </p:cNvPicPr>
          <p:nvPr/>
        </p:nvPicPr>
        <p:blipFill>
          <a:blip r:embed="rId2"/>
          <a:stretch>
            <a:fillRect/>
          </a:stretch>
        </p:blipFill>
        <p:spPr>
          <a:xfrm>
            <a:off x="697915" y="1554480"/>
            <a:ext cx="10802267" cy="3931920"/>
          </a:xfrm>
          <a:prstGeom prst="rect">
            <a:avLst/>
          </a:prstGeom>
        </p:spPr>
      </p:pic>
      <p:sp>
        <p:nvSpPr>
          <p:cNvPr id="6" name="Text 3"/>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The forward process has no learned parameters at all. All of the model capacity goes into a single network that predicts the noise added at an arbitrary step t [5] [6].</a:t>
            </a:r>
            <a:endParaRPr lang="en-US" sz="1100"/>
          </a:p>
        </p:txBody>
      </p:sp>
      <p:sp>
        <p:nvSpPr>
          <p:cNvPr id="7" name="Text 4"/>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[5] [6]</a:t>
            </a:r>
            <a:endParaRPr lang="en-US" sz="10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2 · TOPIC 6</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Conditioning, guidance and the cost of sampling</a:t>
            </a:r>
            <a:endParaRPr lang="en-US" sz="3000"/>
          </a:p>
        </p:txBody>
      </p:sp>
      <p:sp>
        <p:nvSpPr>
          <p:cNvPr id="5" name="Shape 3"/>
          <p:cNvSpPr/>
          <p:nvPr/>
        </p:nvSpPr>
        <p:spPr>
          <a:xfrm>
            <a:off x="566928" y="1600200"/>
            <a:ext cx="11064240" cy="822960"/>
          </a:xfrm>
          <a:prstGeom prst="roundRect">
            <a:avLst>
              <a:gd name="adj" fmla="val 7407"/>
            </a:avLst>
          </a:prstGeom>
          <a:solidFill>
            <a:srgbClr val="EEF1F8"/>
          </a:solidFill>
          <a:ln w="15875">
            <a:solidFill>
              <a:srgbClr val="DCE6FA"/>
            </a:solidFill>
            <a:prstDash val="solid"/>
          </a:ln>
        </p:spPr>
      </p:sp>
      <p:sp>
        <p:nvSpPr>
          <p:cNvPr id="6" name="Shape 4"/>
          <p:cNvSpPr/>
          <p:nvPr/>
        </p:nvSpPr>
        <p:spPr>
          <a:xfrm>
            <a:off x="768096" y="1709928"/>
            <a:ext cx="384048" cy="384048"/>
          </a:xfrm>
          <a:prstGeom prst="ellipse">
            <a:avLst/>
          </a:prstGeom>
          <a:solidFill>
            <a:srgbClr val="2E3A8C"/>
          </a:solidFill>
          <a:ln w="12700">
            <a:solidFill>
              <a:srgbClr val="2E3A8C"/>
            </a:solidFill>
            <a:prstDash val="solid"/>
          </a:ln>
        </p:spPr>
      </p:sp>
      <p:sp>
        <p:nvSpPr>
          <p:cNvPr id="7" name="Text 5"/>
          <p:cNvSpPr txBox="1"/>
          <p:nvPr/>
        </p:nvSpPr>
        <p:spPr>
          <a:xfrm>
            <a:off x="768096" y="1709928"/>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8" name="Text 6"/>
          <p:cNvSpPr txBox="1"/>
          <p:nvPr/>
        </p:nvSpPr>
        <p:spPr>
          <a:xfrm>
            <a:off x="1280160" y="1682496"/>
            <a:ext cx="10149840" cy="438912"/>
          </a:xfrm>
          <a:prstGeom prst="rect">
            <a:avLst/>
          </a:prstGeom>
          <a:noFill/>
          <a:ln/>
        </p:spPr>
        <p:txBody>
          <a:bodyPr wrap="square" lIns="0" tIns="0" rIns="0" bIns="0" rtlCol="0" anchor="ctr"/>
          <a:lstStyle/>
          <a:p>
            <a:pPr marL="0" indent="0">
              <a:buNone/>
            </a:pPr>
            <a:r>
              <a:rPr lang="en-US" sz="1400" b="1">
                <a:solidFill>
                  <a:srgbClr val="2E3A8C"/>
                </a:solidFill>
                <a:latin typeface="Calibri" pitchFamily="34" charset="0"/>
                <a:ea typeface="Calibri" pitchFamily="34" charset="-122"/>
                <a:cs typeface="Calibri" pitchFamily="34" charset="-120"/>
              </a:rPr>
              <a:t>Conditioning</a:t>
            </a:r>
            <a:endParaRPr lang="en-US" sz="1400"/>
          </a:p>
        </p:txBody>
      </p:sp>
      <p:sp>
        <p:nvSpPr>
          <p:cNvPr id="9" name="Text 7"/>
          <p:cNvSpPr txBox="1"/>
          <p:nvPr/>
        </p:nvSpPr>
        <p:spPr>
          <a:xfrm>
            <a:off x="804672" y="2112264"/>
            <a:ext cx="10588752" cy="27432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Feed a class label, a text embedding or a partial record into the denoiser at every step, so the reverse process is steered toward a target [8] [40].</a:t>
            </a:r>
            <a:endParaRPr lang="en-US" sz="1150"/>
          </a:p>
        </p:txBody>
      </p:sp>
      <p:sp>
        <p:nvSpPr>
          <p:cNvPr id="10" name="Shape 8"/>
          <p:cNvSpPr/>
          <p:nvPr/>
        </p:nvSpPr>
        <p:spPr>
          <a:xfrm>
            <a:off x="566928" y="2514600"/>
            <a:ext cx="11064240" cy="822960"/>
          </a:xfrm>
          <a:prstGeom prst="roundRect">
            <a:avLst>
              <a:gd name="adj" fmla="val 7407"/>
            </a:avLst>
          </a:prstGeom>
          <a:solidFill>
            <a:srgbClr val="D6F2EC"/>
          </a:solidFill>
          <a:ln w="15875">
            <a:solidFill>
              <a:srgbClr val="00A896"/>
            </a:solidFill>
            <a:prstDash val="solid"/>
          </a:ln>
        </p:spPr>
      </p:sp>
      <p:sp>
        <p:nvSpPr>
          <p:cNvPr id="11" name="Shape 9"/>
          <p:cNvSpPr/>
          <p:nvPr/>
        </p:nvSpPr>
        <p:spPr>
          <a:xfrm>
            <a:off x="768096" y="2624328"/>
            <a:ext cx="384048" cy="384048"/>
          </a:xfrm>
          <a:prstGeom prst="ellipse">
            <a:avLst/>
          </a:prstGeom>
          <a:solidFill>
            <a:srgbClr val="00A896"/>
          </a:solidFill>
          <a:ln w="12700">
            <a:solidFill>
              <a:srgbClr val="00A896"/>
            </a:solidFill>
            <a:prstDash val="solid"/>
          </a:ln>
        </p:spPr>
      </p:sp>
      <p:sp>
        <p:nvSpPr>
          <p:cNvPr id="12" name="Text 10"/>
          <p:cNvSpPr txBox="1"/>
          <p:nvPr/>
        </p:nvSpPr>
        <p:spPr>
          <a:xfrm>
            <a:off x="768096" y="2624328"/>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3" name="Text 11"/>
          <p:cNvSpPr txBox="1"/>
          <p:nvPr/>
        </p:nvSpPr>
        <p:spPr>
          <a:xfrm>
            <a:off x="1280160" y="2596896"/>
            <a:ext cx="10149840" cy="438912"/>
          </a:xfrm>
          <a:prstGeom prst="rect">
            <a:avLst/>
          </a:prstGeom>
          <a:noFill/>
          <a:ln/>
        </p:spPr>
        <p:txBody>
          <a:bodyPr wrap="square" lIns="0" tIns="0" rIns="0" bIns="0" rtlCol="0" anchor="ctr"/>
          <a:lstStyle/>
          <a:p>
            <a:pPr marL="0" indent="0">
              <a:buNone/>
            </a:pPr>
            <a:r>
              <a:rPr lang="en-US" sz="1400" b="1">
                <a:solidFill>
                  <a:srgbClr val="00A896"/>
                </a:solidFill>
                <a:latin typeface="Calibri" pitchFamily="34" charset="0"/>
                <a:ea typeface="Calibri" pitchFamily="34" charset="-122"/>
                <a:cs typeface="Calibri" pitchFamily="34" charset="-120"/>
              </a:rPr>
              <a:t>Classifier-free guidance</a:t>
            </a:r>
            <a:endParaRPr lang="en-US" sz="1400"/>
          </a:p>
        </p:txBody>
      </p:sp>
      <p:sp>
        <p:nvSpPr>
          <p:cNvPr id="14" name="Text 12"/>
          <p:cNvSpPr txBox="1"/>
          <p:nvPr/>
        </p:nvSpPr>
        <p:spPr>
          <a:xfrm>
            <a:off x="804672" y="3026664"/>
            <a:ext cx="10588752" cy="27432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Train one network both with and without the condition, then extrapolate between the two predictions at sampling time. Trades diversity for fidelity via a single scalar [40].</a:t>
            </a:r>
            <a:endParaRPr lang="en-US" sz="1150"/>
          </a:p>
        </p:txBody>
      </p:sp>
      <p:sp>
        <p:nvSpPr>
          <p:cNvPr id="15" name="Shape 13"/>
          <p:cNvSpPr/>
          <p:nvPr/>
        </p:nvSpPr>
        <p:spPr>
          <a:xfrm>
            <a:off x="566928" y="3429000"/>
            <a:ext cx="11064240" cy="822960"/>
          </a:xfrm>
          <a:prstGeom prst="roundRect">
            <a:avLst>
              <a:gd name="adj" fmla="val 7407"/>
            </a:avLst>
          </a:prstGeom>
          <a:solidFill>
            <a:srgbClr val="FBEADB"/>
          </a:solidFill>
          <a:ln w="15875">
            <a:solidFill>
              <a:srgbClr val="D9822B"/>
            </a:solidFill>
            <a:prstDash val="solid"/>
          </a:ln>
        </p:spPr>
      </p:sp>
      <p:sp>
        <p:nvSpPr>
          <p:cNvPr id="16" name="Shape 14"/>
          <p:cNvSpPr/>
          <p:nvPr/>
        </p:nvSpPr>
        <p:spPr>
          <a:xfrm>
            <a:off x="768096" y="3538728"/>
            <a:ext cx="384048" cy="384048"/>
          </a:xfrm>
          <a:prstGeom prst="ellipse">
            <a:avLst/>
          </a:prstGeom>
          <a:solidFill>
            <a:srgbClr val="D9822B"/>
          </a:solidFill>
          <a:ln w="12700">
            <a:solidFill>
              <a:srgbClr val="D9822B"/>
            </a:solidFill>
            <a:prstDash val="solid"/>
          </a:ln>
        </p:spPr>
      </p:sp>
      <p:sp>
        <p:nvSpPr>
          <p:cNvPr id="17" name="Text 15"/>
          <p:cNvSpPr txBox="1"/>
          <p:nvPr/>
        </p:nvSpPr>
        <p:spPr>
          <a:xfrm>
            <a:off x="768096" y="3538728"/>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txBox="1"/>
          <p:nvPr/>
        </p:nvSpPr>
        <p:spPr>
          <a:xfrm>
            <a:off x="1280160" y="3511296"/>
            <a:ext cx="10149840" cy="438912"/>
          </a:xfrm>
          <a:prstGeom prst="rect">
            <a:avLst/>
          </a:prstGeom>
          <a:noFill/>
          <a:ln/>
        </p:spPr>
        <p:txBody>
          <a:bodyPr wrap="square" lIns="0" tIns="0" rIns="0" bIns="0" rtlCol="0" anchor="ctr"/>
          <a:lstStyle/>
          <a:p>
            <a:pPr marL="0" indent="0">
              <a:buNone/>
            </a:pPr>
            <a:r>
              <a:rPr lang="en-US" sz="1400" b="1">
                <a:solidFill>
                  <a:srgbClr val="D9822B"/>
                </a:solidFill>
                <a:latin typeface="Calibri" pitchFamily="34" charset="0"/>
                <a:ea typeface="Calibri" pitchFamily="34" charset="-122"/>
                <a:cs typeface="Calibri" pitchFamily="34" charset="-120"/>
              </a:rPr>
              <a:t>Latent diffusion</a:t>
            </a:r>
            <a:endParaRPr lang="en-US" sz="1400"/>
          </a:p>
        </p:txBody>
      </p:sp>
      <p:sp>
        <p:nvSpPr>
          <p:cNvPr id="19" name="Text 17"/>
          <p:cNvSpPr txBox="1"/>
          <p:nvPr/>
        </p:nvSpPr>
        <p:spPr>
          <a:xfrm>
            <a:off x="804672" y="3941064"/>
            <a:ext cx="10588752" cy="27432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Run the whole diffusion process in a compressed autoencoder latent space rather than pixel space, cutting compute by orders of magnitude while keeping quality [8].</a:t>
            </a:r>
            <a:endParaRPr lang="en-US" sz="1150"/>
          </a:p>
        </p:txBody>
      </p:sp>
      <p:sp>
        <p:nvSpPr>
          <p:cNvPr id="20" name="Shape 18"/>
          <p:cNvSpPr/>
          <p:nvPr/>
        </p:nvSpPr>
        <p:spPr>
          <a:xfrm>
            <a:off x="566928" y="4343400"/>
            <a:ext cx="11064240" cy="822960"/>
          </a:xfrm>
          <a:prstGeom prst="roundRect">
            <a:avLst>
              <a:gd name="adj" fmla="val 7407"/>
            </a:avLst>
          </a:prstGeom>
          <a:solidFill>
            <a:srgbClr val="EEF1F8"/>
          </a:solidFill>
          <a:ln w="15875">
            <a:solidFill>
              <a:srgbClr val="DCE6FA"/>
            </a:solidFill>
            <a:prstDash val="solid"/>
          </a:ln>
        </p:spPr>
      </p:sp>
      <p:sp>
        <p:nvSpPr>
          <p:cNvPr id="21" name="Shape 19"/>
          <p:cNvSpPr/>
          <p:nvPr/>
        </p:nvSpPr>
        <p:spPr>
          <a:xfrm>
            <a:off x="768096" y="4453128"/>
            <a:ext cx="384048" cy="384048"/>
          </a:xfrm>
          <a:prstGeom prst="ellipse">
            <a:avLst/>
          </a:prstGeom>
          <a:solidFill>
            <a:srgbClr val="2E3A8C"/>
          </a:solidFill>
          <a:ln w="12700">
            <a:solidFill>
              <a:srgbClr val="2E3A8C"/>
            </a:solidFill>
            <a:prstDash val="solid"/>
          </a:ln>
        </p:spPr>
      </p:sp>
      <p:sp>
        <p:nvSpPr>
          <p:cNvPr id="22" name="Text 20"/>
          <p:cNvSpPr txBox="1"/>
          <p:nvPr/>
        </p:nvSpPr>
        <p:spPr>
          <a:xfrm>
            <a:off x="768096" y="4453128"/>
            <a:ext cx="384048" cy="384048"/>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4</a:t>
            </a:r>
            <a:endParaRPr lang="en-US" sz="1300"/>
          </a:p>
        </p:txBody>
      </p:sp>
      <p:sp>
        <p:nvSpPr>
          <p:cNvPr id="23" name="Text 21"/>
          <p:cNvSpPr txBox="1"/>
          <p:nvPr/>
        </p:nvSpPr>
        <p:spPr>
          <a:xfrm>
            <a:off x="1280160" y="4425696"/>
            <a:ext cx="10149840" cy="438912"/>
          </a:xfrm>
          <a:prstGeom prst="rect">
            <a:avLst/>
          </a:prstGeom>
          <a:noFill/>
          <a:ln/>
        </p:spPr>
        <p:txBody>
          <a:bodyPr wrap="square" lIns="0" tIns="0" rIns="0" bIns="0" rtlCol="0" anchor="ctr"/>
          <a:lstStyle/>
          <a:p>
            <a:pPr marL="0" indent="0">
              <a:buNone/>
            </a:pPr>
            <a:r>
              <a:rPr lang="en-US" sz="1400" b="1">
                <a:solidFill>
                  <a:srgbClr val="2E3A8C"/>
                </a:solidFill>
                <a:latin typeface="Calibri" pitchFamily="34" charset="0"/>
                <a:ea typeface="Calibri" pitchFamily="34" charset="-122"/>
                <a:cs typeface="Calibri" pitchFamily="34" charset="-120"/>
              </a:rPr>
              <a:t>Sampling cost</a:t>
            </a:r>
            <a:endParaRPr lang="en-US" sz="1400"/>
          </a:p>
        </p:txBody>
      </p:sp>
      <p:sp>
        <p:nvSpPr>
          <p:cNvPr id="24" name="Text 22"/>
          <p:cNvSpPr txBox="1"/>
          <p:nvPr/>
        </p:nvSpPr>
        <p:spPr>
          <a:xfrm>
            <a:off x="804672" y="4855464"/>
            <a:ext cx="10588752" cy="274320"/>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Sampling requires many sequential network evaluations — the main practical drawback against GANs, and the reason the trilemma bites [5] [33].</a:t>
            </a:r>
            <a:endParaRPr lang="en-US" sz="1150"/>
          </a:p>
        </p:txBody>
      </p:sp>
      <p:sp>
        <p:nvSpPr>
          <p:cNvPr id="25" name="Shape 23"/>
          <p:cNvSpPr/>
          <p:nvPr/>
        </p:nvSpPr>
        <p:spPr>
          <a:xfrm>
            <a:off x="566928" y="5349240"/>
            <a:ext cx="11064240" cy="731520"/>
          </a:xfrm>
          <a:prstGeom prst="roundRect">
            <a:avLst>
              <a:gd name="adj" fmla="val 11111"/>
            </a:avLst>
          </a:prstGeom>
          <a:solidFill>
            <a:schemeClr val="accent1">
              <a:lumMod val="75000"/>
            </a:schemeClr>
          </a:solidFill>
          <a:ln w="15875">
            <a:noFill/>
            <a:prstDash val="solid"/>
          </a:ln>
        </p:spPr>
      </p:sp>
      <p:sp>
        <p:nvSpPr>
          <p:cNvPr id="26" name="Text 24"/>
          <p:cNvSpPr txBox="1"/>
          <p:nvPr/>
        </p:nvSpPr>
        <p:spPr>
          <a:xfrm>
            <a:off x="804672" y="5440680"/>
            <a:ext cx="10588752" cy="548640"/>
          </a:xfrm>
          <a:prstGeom prst="rect">
            <a:avLst/>
          </a:prstGeom>
          <a:noFill/>
          <a:ln/>
        </p:spPr>
        <p:txBody>
          <a:bodyPr wrap="square" lIns="0" tIns="0" rIns="0" bIns="0" rtlCol="0" anchor="t"/>
          <a:lstStyle/>
          <a:p>
            <a:pPr marL="0" indent="0">
              <a:lnSpc>
                <a:spcPct val="112000"/>
              </a:lnSpc>
              <a:buNone/>
            </a:pPr>
            <a:r>
              <a:rPr lang="en-US" sz="1250">
                <a:solidFill>
                  <a:srgbClr val="E4E8F4"/>
                </a:solidFill>
                <a:latin typeface="Calibri" pitchFamily="34" charset="0"/>
                <a:ea typeface="Calibri" pitchFamily="34" charset="-122"/>
                <a:cs typeface="Calibri" pitchFamily="34" charset="-120"/>
              </a:rPr>
              <a:t>For tabular synthesis, TabDDPM applies Gaussian diffusion to numeric columns and multinomial diffusion to categorical ones, and reports superiority over GAN and VAE alternatives across benchmarks [12].</a:t>
            </a:r>
            <a:endParaRPr lang="en-US" sz="1250"/>
          </a:p>
        </p:txBody>
      </p:sp>
      <p:sp>
        <p:nvSpPr>
          <p:cNvPr id="27" name="Text 25"/>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[5] [8] [12] [33] [40]</a:t>
            </a:r>
            <a:endParaRPr lang="en-US" sz="10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3 · TOPIC 1</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Fidelity is not enough: coverage and authenticity</a:t>
            </a:r>
            <a:endParaRPr lang="en-US" sz="3000"/>
          </a:p>
        </p:txBody>
      </p:sp>
      <p:sp>
        <p:nvSpPr>
          <p:cNvPr id="5" name="Shape 3"/>
          <p:cNvSpPr/>
          <p:nvPr/>
        </p:nvSpPr>
        <p:spPr>
          <a:xfrm>
            <a:off x="566928" y="1664208"/>
            <a:ext cx="3520440" cy="2286000"/>
          </a:xfrm>
          <a:prstGeom prst="roundRect">
            <a:avLst>
              <a:gd name="adj" fmla="val 3200"/>
            </a:avLst>
          </a:prstGeom>
          <a:solidFill>
            <a:srgbClr val="EEF1F8"/>
          </a:solidFill>
          <a:ln w="15875">
            <a:solidFill>
              <a:srgbClr val="DCE6FA"/>
            </a:solidFill>
            <a:prstDash val="solid"/>
          </a:ln>
        </p:spPr>
      </p:sp>
      <p:sp>
        <p:nvSpPr>
          <p:cNvPr id="6" name="Text 4"/>
          <p:cNvSpPr txBox="1"/>
          <p:nvPr/>
        </p:nvSpPr>
        <p:spPr>
          <a:xfrm>
            <a:off x="804672" y="1819656"/>
            <a:ext cx="3044952" cy="438912"/>
          </a:xfrm>
          <a:prstGeom prst="rect">
            <a:avLst/>
          </a:prstGeom>
          <a:noFill/>
          <a:ln/>
        </p:spPr>
        <p:txBody>
          <a:bodyPr wrap="square" lIns="0" tIns="0" rIns="0" bIns="0" rtlCol="0" anchor="ctr"/>
          <a:lstStyle/>
          <a:p>
            <a:pPr marL="0" indent="0">
              <a:buNone/>
            </a:pPr>
            <a:r>
              <a:rPr lang="en-US" sz="1700" b="1">
                <a:solidFill>
                  <a:srgbClr val="2E3A8C"/>
                </a:solidFill>
                <a:latin typeface="Calibri" pitchFamily="34" charset="0"/>
                <a:ea typeface="Calibri" pitchFamily="34" charset="-122"/>
                <a:cs typeface="Calibri" pitchFamily="34" charset="-120"/>
              </a:rPr>
              <a:t>α-Precision</a:t>
            </a:r>
            <a:endParaRPr lang="en-US" sz="1700"/>
          </a:p>
        </p:txBody>
      </p:sp>
      <p:sp>
        <p:nvSpPr>
          <p:cNvPr id="7" name="Text 5"/>
          <p:cNvSpPr txBox="1"/>
          <p:nvPr/>
        </p:nvSpPr>
        <p:spPr>
          <a:xfrm>
            <a:off x="804672" y="2322576"/>
            <a:ext cx="3044952" cy="148132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Fidelity. The fraction of synthetic samples that fall inside the α-support of the real distribution — are they realistic? [27]</a:t>
            </a:r>
            <a:endParaRPr lang="en-US" sz="1200"/>
          </a:p>
        </p:txBody>
      </p:sp>
      <p:sp>
        <p:nvSpPr>
          <p:cNvPr id="8" name="Shape 6"/>
          <p:cNvSpPr/>
          <p:nvPr/>
        </p:nvSpPr>
        <p:spPr>
          <a:xfrm>
            <a:off x="4334256" y="1664208"/>
            <a:ext cx="3520440" cy="2286000"/>
          </a:xfrm>
          <a:prstGeom prst="roundRect">
            <a:avLst>
              <a:gd name="adj" fmla="val 3200"/>
            </a:avLst>
          </a:prstGeom>
          <a:solidFill>
            <a:srgbClr val="D6F2EC"/>
          </a:solidFill>
          <a:ln w="15875">
            <a:solidFill>
              <a:srgbClr val="00A896"/>
            </a:solidFill>
            <a:prstDash val="solid"/>
          </a:ln>
        </p:spPr>
      </p:sp>
      <p:sp>
        <p:nvSpPr>
          <p:cNvPr id="9" name="Text 7"/>
          <p:cNvSpPr txBox="1"/>
          <p:nvPr/>
        </p:nvSpPr>
        <p:spPr>
          <a:xfrm>
            <a:off x="4572000" y="1819656"/>
            <a:ext cx="3044952" cy="438912"/>
          </a:xfrm>
          <a:prstGeom prst="rect">
            <a:avLst/>
          </a:prstGeom>
          <a:noFill/>
          <a:ln/>
        </p:spPr>
        <p:txBody>
          <a:bodyPr wrap="square" lIns="0" tIns="0" rIns="0" bIns="0" rtlCol="0" anchor="ctr"/>
          <a:lstStyle/>
          <a:p>
            <a:pPr marL="0" indent="0">
              <a:buNone/>
            </a:pPr>
            <a:r>
              <a:rPr lang="en-US" sz="1700" b="1">
                <a:solidFill>
                  <a:srgbClr val="00A896"/>
                </a:solidFill>
                <a:latin typeface="Calibri" pitchFamily="34" charset="0"/>
                <a:ea typeface="Calibri" pitchFamily="34" charset="-122"/>
                <a:cs typeface="Calibri" pitchFamily="34" charset="-120"/>
              </a:rPr>
              <a:t>β-Recall</a:t>
            </a:r>
            <a:endParaRPr lang="en-US" sz="1700"/>
          </a:p>
        </p:txBody>
      </p:sp>
      <p:sp>
        <p:nvSpPr>
          <p:cNvPr id="10" name="Text 8"/>
          <p:cNvSpPr txBox="1"/>
          <p:nvPr/>
        </p:nvSpPr>
        <p:spPr>
          <a:xfrm>
            <a:off x="4572000" y="2322576"/>
            <a:ext cx="3044952" cy="148132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Diversity. The fraction of the real distribution the synthetic data actually covers — did we lose subpopulations? [27]</a:t>
            </a:r>
            <a:endParaRPr lang="en-US" sz="1200"/>
          </a:p>
        </p:txBody>
      </p:sp>
      <p:sp>
        <p:nvSpPr>
          <p:cNvPr id="11" name="Shape 9"/>
          <p:cNvSpPr/>
          <p:nvPr/>
        </p:nvSpPr>
        <p:spPr>
          <a:xfrm>
            <a:off x="8101584" y="1664208"/>
            <a:ext cx="3529584" cy="2286000"/>
          </a:xfrm>
          <a:prstGeom prst="roundRect">
            <a:avLst>
              <a:gd name="adj" fmla="val 3200"/>
            </a:avLst>
          </a:prstGeom>
          <a:solidFill>
            <a:srgbClr val="FBEADB"/>
          </a:solidFill>
          <a:ln w="15875">
            <a:solidFill>
              <a:srgbClr val="D9822B"/>
            </a:solidFill>
            <a:prstDash val="solid"/>
          </a:ln>
        </p:spPr>
      </p:sp>
      <p:sp>
        <p:nvSpPr>
          <p:cNvPr id="12" name="Text 10"/>
          <p:cNvSpPr txBox="1"/>
          <p:nvPr/>
        </p:nvSpPr>
        <p:spPr>
          <a:xfrm>
            <a:off x="8339328" y="1819656"/>
            <a:ext cx="3054096" cy="438912"/>
          </a:xfrm>
          <a:prstGeom prst="rect">
            <a:avLst/>
          </a:prstGeom>
          <a:noFill/>
          <a:ln/>
        </p:spPr>
        <p:txBody>
          <a:bodyPr wrap="square" lIns="0" tIns="0" rIns="0" bIns="0" rtlCol="0" anchor="ctr"/>
          <a:lstStyle/>
          <a:p>
            <a:pPr marL="0" indent="0">
              <a:buNone/>
            </a:pPr>
            <a:r>
              <a:rPr lang="en-US" sz="1700" b="1">
                <a:solidFill>
                  <a:srgbClr val="D9822B"/>
                </a:solidFill>
                <a:latin typeface="Calibri" pitchFamily="34" charset="0"/>
                <a:ea typeface="Calibri" pitchFamily="34" charset="-122"/>
                <a:cs typeface="Calibri" pitchFamily="34" charset="-120"/>
              </a:rPr>
              <a:t>Authenticity</a:t>
            </a:r>
            <a:endParaRPr lang="en-US" sz="1700"/>
          </a:p>
        </p:txBody>
      </p:sp>
      <p:sp>
        <p:nvSpPr>
          <p:cNvPr id="13" name="Text 11"/>
          <p:cNvSpPr txBox="1"/>
          <p:nvPr/>
        </p:nvSpPr>
        <p:spPr>
          <a:xfrm>
            <a:off x="8339328" y="2322576"/>
            <a:ext cx="3054096" cy="1481328"/>
          </a:xfrm>
          <a:prstGeom prst="rect">
            <a:avLst/>
          </a:prstGeom>
          <a:noFill/>
          <a:ln/>
        </p:spPr>
        <p:txBody>
          <a:bodyPr wrap="square" lIns="0" tIns="0" rIns="0" bIns="0" rtlCol="0" anchor="t"/>
          <a:lstStyle/>
          <a:p>
            <a:pPr marL="0" indent="0">
              <a:lnSpc>
                <a:spcPct val="112000"/>
              </a:lnSpc>
              <a:buNone/>
            </a:pPr>
            <a:r>
              <a:rPr lang="en-US" sz="1200">
                <a:solidFill>
                  <a:srgbClr val="0E1330"/>
                </a:solidFill>
                <a:latin typeface="Calibri" pitchFamily="34" charset="0"/>
                <a:ea typeface="Calibri" pitchFamily="34" charset="-122"/>
                <a:cs typeface="Calibri" pitchFamily="34" charset="-120"/>
              </a:rPr>
              <a:t>Generalisation. The share of synthetic samples that are genuinely new rather than copied from training data [27]</a:t>
            </a:r>
            <a:endParaRPr lang="en-US" sz="1200"/>
          </a:p>
        </p:txBody>
      </p:sp>
      <p:sp>
        <p:nvSpPr>
          <p:cNvPr id="14" name="Shape 12"/>
          <p:cNvSpPr/>
          <p:nvPr/>
        </p:nvSpPr>
        <p:spPr>
          <a:xfrm>
            <a:off x="566928" y="4114800"/>
            <a:ext cx="11064240" cy="1188720"/>
          </a:xfrm>
          <a:prstGeom prst="roundRect">
            <a:avLst>
              <a:gd name="adj" fmla="val 6154"/>
            </a:avLst>
          </a:prstGeom>
          <a:solidFill>
            <a:schemeClr val="accent1">
              <a:lumMod val="75000"/>
            </a:schemeClr>
          </a:solidFill>
          <a:ln w="15875">
            <a:noFill/>
            <a:prstDash val="solid"/>
          </a:ln>
        </p:spPr>
      </p:sp>
      <p:sp>
        <p:nvSpPr>
          <p:cNvPr id="15" name="Text 13"/>
          <p:cNvSpPr txBox="1"/>
          <p:nvPr/>
        </p:nvSpPr>
        <p:spPr>
          <a:xfrm>
            <a:off x="804672" y="4224528"/>
            <a:ext cx="10588752" cy="438912"/>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Why this three-way split is the right frame</a:t>
            </a:r>
            <a:endParaRPr lang="en-US" sz="1400"/>
          </a:p>
        </p:txBody>
      </p:sp>
      <p:sp>
        <p:nvSpPr>
          <p:cNvPr id="16" name="Text 14"/>
          <p:cNvSpPr txBox="1"/>
          <p:nvPr/>
        </p:nvSpPr>
        <p:spPr>
          <a:xfrm>
            <a:off x="804672" y="4626864"/>
            <a:ext cx="10588752" cy="384048"/>
          </a:xfrm>
          <a:prstGeom prst="rect">
            <a:avLst/>
          </a:prstGeom>
          <a:noFill/>
          <a:ln/>
        </p:spPr>
        <p:txBody>
          <a:bodyPr wrap="square" lIns="0" tIns="0" rIns="0" bIns="0" rtlCol="0" anchor="t"/>
          <a:lstStyle/>
          <a:p>
            <a:pPr marL="0" indent="0">
              <a:lnSpc>
                <a:spcPct val="112000"/>
              </a:lnSpc>
              <a:buNone/>
            </a:pPr>
            <a:r>
              <a:rPr lang="en-US" sz="1250">
                <a:solidFill>
                  <a:srgbClr val="E4E8F4"/>
                </a:solidFill>
                <a:latin typeface="Calibri" pitchFamily="34" charset="0"/>
                <a:ea typeface="Calibri" pitchFamily="34" charset="-122"/>
                <a:cs typeface="Calibri" pitchFamily="34" charset="-120"/>
              </a:rPr>
              <a:t>These are independent axes. A </a:t>
            </a:r>
            <a:r>
              <a:rPr lang="en-US" sz="1250" err="1">
                <a:solidFill>
                  <a:srgbClr val="E4E8F4"/>
                </a:solidFill>
                <a:latin typeface="Calibri" pitchFamily="34" charset="0"/>
                <a:ea typeface="Calibri" pitchFamily="34" charset="-122"/>
                <a:cs typeface="Calibri" pitchFamily="34" charset="-120"/>
              </a:rPr>
              <a:t>memorising</a:t>
            </a:r>
            <a:r>
              <a:rPr lang="en-US" sz="1250">
                <a:solidFill>
                  <a:srgbClr val="E4E8F4"/>
                </a:solidFill>
                <a:latin typeface="Calibri" pitchFamily="34" charset="0"/>
                <a:ea typeface="Calibri" pitchFamily="34" charset="-122"/>
                <a:cs typeface="Calibri" pitchFamily="34" charset="-120"/>
              </a:rPr>
              <a:t> generator scores perfectly on precision and recall while scoring zero on authenticity — which is exactly the case that a two-axis metric cannot detect, and exactly the case that leaks [27].</a:t>
            </a:r>
            <a:endParaRPr lang="en-US" sz="1250"/>
          </a:p>
        </p:txBody>
      </p:sp>
      <p:sp>
        <p:nvSpPr>
          <p:cNvPr id="17" name="Text 15"/>
          <p:cNvSpPr txBox="1"/>
          <p:nvPr/>
        </p:nvSpPr>
        <p:spPr>
          <a:xfrm>
            <a:off x="566928" y="5943600"/>
            <a:ext cx="10881360" cy="347472"/>
          </a:xfrm>
          <a:prstGeom prst="rect">
            <a:avLst/>
          </a:prstGeom>
          <a:noFill/>
          <a:ln/>
        </p:spPr>
        <p:txBody>
          <a:bodyPr wrap="square" lIns="0" tIns="0" rIns="0" bIns="0" rtlCol="0" anchor="ctr"/>
          <a:lstStyle/>
          <a:p>
            <a:pPr marL="0" indent="0">
              <a:buNone/>
            </a:pPr>
            <a:r>
              <a:rPr lang="en-US" sz="1100" i="1">
                <a:solidFill>
                  <a:srgbClr val="5A6079"/>
                </a:solidFill>
                <a:latin typeface="Calibri" pitchFamily="34" charset="0"/>
                <a:ea typeface="Calibri" pitchFamily="34" charset="-122"/>
                <a:cs typeface="Calibri" pitchFamily="34" charset="-120"/>
              </a:rPr>
              <a:t>Practical consequence: authenticity is the bridge between the quality gate and the privacy gate — it is a quality metric that measures a privacy property.</a:t>
            </a:r>
            <a:endParaRPr lang="en-US" sz="1100"/>
          </a:p>
        </p:txBody>
      </p:sp>
      <p:sp>
        <p:nvSpPr>
          <p:cNvPr id="18" name="Text 16"/>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[27]</a:t>
            </a:r>
            <a:endParaRPr lang="en-US" sz="10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ADVANCED · DAY 3 · TOPIC 2</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Differential privacy: the only formal guarantee on offer</a:t>
            </a:r>
            <a:endParaRPr lang="en-US" sz="3000"/>
          </a:p>
        </p:txBody>
      </p:sp>
      <p:pic>
        <p:nvPicPr>
          <p:cNvPr id="5" name="Image 0" descr="img/dp.png"/>
          <p:cNvPicPr>
            <a:picLocks noChangeAspect="1"/>
          </p:cNvPicPr>
          <p:nvPr/>
        </p:nvPicPr>
        <p:blipFill>
          <a:blip r:embed="rId2"/>
          <a:stretch>
            <a:fillRect/>
          </a:stretch>
        </p:blipFill>
        <p:spPr>
          <a:xfrm>
            <a:off x="1531564" y="1517904"/>
            <a:ext cx="9134969" cy="3657600"/>
          </a:xfrm>
          <a:prstGeom prst="rect">
            <a:avLst/>
          </a:prstGeom>
        </p:spPr>
      </p:pic>
      <p:sp>
        <p:nvSpPr>
          <p:cNvPr id="6" name="Shape 3"/>
          <p:cNvSpPr/>
          <p:nvPr/>
        </p:nvSpPr>
        <p:spPr>
          <a:xfrm>
            <a:off x="566928" y="5257800"/>
            <a:ext cx="5440680" cy="777240"/>
          </a:xfrm>
          <a:prstGeom prst="roundRect">
            <a:avLst>
              <a:gd name="adj" fmla="val 9412"/>
            </a:avLst>
          </a:prstGeom>
          <a:solidFill>
            <a:srgbClr val="EEF1F8"/>
          </a:solidFill>
          <a:ln w="15875">
            <a:solidFill>
              <a:srgbClr val="DCE6FA"/>
            </a:solidFill>
            <a:prstDash val="solid"/>
          </a:ln>
        </p:spPr>
      </p:sp>
      <p:sp>
        <p:nvSpPr>
          <p:cNvPr id="7" name="Text 4"/>
          <p:cNvSpPr txBox="1"/>
          <p:nvPr/>
        </p:nvSpPr>
        <p:spPr>
          <a:xfrm>
            <a:off x="804672" y="5440680"/>
            <a:ext cx="4965192" cy="448056"/>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DP-SGD reaches this bound by clipping per-example gradients and adding calibrated Gaussian noise during training [25].</a:t>
            </a:r>
            <a:endParaRPr lang="en-US" sz="1150"/>
          </a:p>
        </p:txBody>
      </p:sp>
      <p:sp>
        <p:nvSpPr>
          <p:cNvPr id="8" name="Shape 5"/>
          <p:cNvSpPr/>
          <p:nvPr/>
        </p:nvSpPr>
        <p:spPr>
          <a:xfrm>
            <a:off x="6190488" y="5257800"/>
            <a:ext cx="5440680" cy="777240"/>
          </a:xfrm>
          <a:prstGeom prst="roundRect">
            <a:avLst>
              <a:gd name="adj" fmla="val 9412"/>
            </a:avLst>
          </a:prstGeom>
          <a:solidFill>
            <a:srgbClr val="D6F2EC"/>
          </a:solidFill>
          <a:ln w="15875">
            <a:solidFill>
              <a:srgbClr val="00A896"/>
            </a:solidFill>
            <a:prstDash val="solid"/>
          </a:ln>
        </p:spPr>
      </p:sp>
      <p:sp>
        <p:nvSpPr>
          <p:cNvPr id="9" name="Text 6"/>
          <p:cNvSpPr txBox="1"/>
          <p:nvPr/>
        </p:nvSpPr>
        <p:spPr>
          <a:xfrm>
            <a:off x="6428232" y="5440680"/>
            <a:ext cx="4965192" cy="448056"/>
          </a:xfrm>
          <a:prstGeom prst="rect">
            <a:avLst/>
          </a:prstGeom>
          <a:noFill/>
          <a:ln/>
        </p:spPr>
        <p:txBody>
          <a:bodyPr wrap="square" lIns="0" tIns="0" rIns="0" bIns="0" rtlCol="0" anchor="t"/>
          <a:lstStyle/>
          <a:p>
            <a:pPr marL="0" indent="0">
              <a:lnSpc>
                <a:spcPct val="112000"/>
              </a:lnSpc>
              <a:buNone/>
            </a:pPr>
            <a:r>
              <a:rPr lang="en-US" sz="1150">
                <a:solidFill>
                  <a:srgbClr val="0E1330"/>
                </a:solidFill>
                <a:latin typeface="Calibri" pitchFamily="34" charset="0"/>
                <a:ea typeface="Calibri" pitchFamily="34" charset="-122"/>
                <a:cs typeface="Calibri" pitchFamily="34" charset="-120"/>
              </a:rPr>
              <a:t>PATE-GAN instead trains the discriminator through a differentially private teacher ensemble, preserving the ε bound end to end [26].</a:t>
            </a:r>
            <a:endParaRPr lang="en-US" sz="1150"/>
          </a:p>
        </p:txBody>
      </p:sp>
      <p:sp>
        <p:nvSpPr>
          <p:cNvPr id="10" name="Text 7"/>
          <p:cNvSpPr txBox="1"/>
          <p:nvPr/>
        </p:nvSpPr>
        <p:spPr>
          <a:xfrm>
            <a:off x="566928" y="6327648"/>
            <a:ext cx="10424160" cy="292608"/>
          </a:xfrm>
          <a:prstGeom prst="rect">
            <a:avLst/>
          </a:prstGeom>
          <a:noFill/>
          <a:ln/>
        </p:spPr>
        <p:txBody>
          <a:bodyPr wrap="square" lIns="0" tIns="0" rIns="0" bIns="0" rtlCol="0" anchor="ctr"/>
          <a:lstStyle/>
          <a:p>
            <a:pPr marL="0" indent="0">
              <a:buNone/>
            </a:pPr>
            <a:r>
              <a:rPr lang="en-US" sz="1000" i="1">
                <a:solidFill>
                  <a:srgbClr val="5A6079"/>
                </a:solidFill>
                <a:latin typeface="Calibri" pitchFamily="34" charset="0"/>
                <a:ea typeface="Calibri" pitchFamily="34" charset="-122"/>
                <a:cs typeface="Calibri" pitchFamily="34" charset="-120"/>
              </a:rPr>
              <a:t>Sources: [24] [25] [26]</a:t>
            </a:r>
            <a:endParaRPr lang="en-US" sz="10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REFERENCES · APA 7TH EDITION</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Reference list (1 of 6)</a:t>
            </a:r>
            <a:endParaRPr lang="en-US" sz="3000"/>
          </a:p>
        </p:txBody>
      </p:sp>
      <p:sp>
        <p:nvSpPr>
          <p:cNvPr id="5" name="Shape 3"/>
          <p:cNvSpPr/>
          <p:nvPr/>
        </p:nvSpPr>
        <p:spPr>
          <a:xfrm>
            <a:off x="566928" y="1645920"/>
            <a:ext cx="475488" cy="384048"/>
          </a:xfrm>
          <a:prstGeom prst="roundRect">
            <a:avLst>
              <a:gd name="adj" fmla="val 14286"/>
            </a:avLst>
          </a:prstGeom>
          <a:solidFill>
            <a:srgbClr val="2E3A8C"/>
          </a:solidFill>
          <a:ln w="12700">
            <a:solidFill>
              <a:srgbClr val="2E3A8C"/>
            </a:solidFill>
            <a:prstDash val="solid"/>
          </a:ln>
        </p:spPr>
      </p:sp>
      <p:sp>
        <p:nvSpPr>
          <p:cNvPr id="6" name="Text 4"/>
          <p:cNvSpPr txBox="1"/>
          <p:nvPr/>
        </p:nvSpPr>
        <p:spPr>
          <a:xfrm>
            <a:off x="566928" y="164592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a:t>
            </a:r>
            <a:endParaRPr lang="en-US" sz="1050"/>
          </a:p>
        </p:txBody>
      </p:sp>
      <p:sp>
        <p:nvSpPr>
          <p:cNvPr id="7" name="Text 5"/>
          <p:cNvSpPr txBox="1"/>
          <p:nvPr/>
        </p:nvSpPr>
        <p:spPr>
          <a:xfrm>
            <a:off x="1170432" y="162763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Jordon, J., Szpruch, L., Houssiau, F., Bottarelli, M., Cherubin, G., Maple, C., Cohen, S. N., &amp; Weller, A. (2022). Synthetic data — what, why and how? arXiv. https://arxiv.org/abs/2205.03257</a:t>
            </a:r>
            <a:endParaRPr lang="en-US" sz="970"/>
          </a:p>
        </p:txBody>
      </p:sp>
      <p:sp>
        <p:nvSpPr>
          <p:cNvPr id="8" name="Shape 6"/>
          <p:cNvSpPr/>
          <p:nvPr/>
        </p:nvSpPr>
        <p:spPr>
          <a:xfrm>
            <a:off x="566928" y="2162556"/>
            <a:ext cx="475488" cy="384048"/>
          </a:xfrm>
          <a:prstGeom prst="roundRect">
            <a:avLst>
              <a:gd name="adj" fmla="val 14286"/>
            </a:avLst>
          </a:prstGeom>
          <a:solidFill>
            <a:srgbClr val="00A896"/>
          </a:solidFill>
          <a:ln w="12700">
            <a:solidFill>
              <a:srgbClr val="00A896"/>
            </a:solidFill>
            <a:prstDash val="solid"/>
          </a:ln>
        </p:spPr>
      </p:sp>
      <p:sp>
        <p:nvSpPr>
          <p:cNvPr id="9" name="Text 7"/>
          <p:cNvSpPr txBox="1"/>
          <p:nvPr/>
        </p:nvSpPr>
        <p:spPr>
          <a:xfrm>
            <a:off x="566928" y="216255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a:t>
            </a:r>
            <a:endParaRPr lang="en-US" sz="1050"/>
          </a:p>
        </p:txBody>
      </p:sp>
      <p:sp>
        <p:nvSpPr>
          <p:cNvPr id="10" name="Text 8"/>
          <p:cNvSpPr txBox="1"/>
          <p:nvPr/>
        </p:nvSpPr>
        <p:spPr>
          <a:xfrm>
            <a:off x="1170432" y="214426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Figueira, A., &amp; Vaz, B. (2022). Survey on synthetic data generation, evaluation methods and GANs. Mathematics, 10(15), 2733. https://doi.org/10.3390/math10152733</a:t>
            </a:r>
            <a:endParaRPr lang="en-US" sz="970"/>
          </a:p>
        </p:txBody>
      </p:sp>
      <p:sp>
        <p:nvSpPr>
          <p:cNvPr id="11" name="Shape 9"/>
          <p:cNvSpPr/>
          <p:nvPr/>
        </p:nvSpPr>
        <p:spPr>
          <a:xfrm>
            <a:off x="566928" y="2679192"/>
            <a:ext cx="475488" cy="384048"/>
          </a:xfrm>
          <a:prstGeom prst="roundRect">
            <a:avLst>
              <a:gd name="adj" fmla="val 14286"/>
            </a:avLst>
          </a:prstGeom>
          <a:solidFill>
            <a:srgbClr val="2E3A8C"/>
          </a:solidFill>
          <a:ln w="12700">
            <a:solidFill>
              <a:srgbClr val="2E3A8C"/>
            </a:solidFill>
            <a:prstDash val="solid"/>
          </a:ln>
        </p:spPr>
      </p:sp>
      <p:sp>
        <p:nvSpPr>
          <p:cNvPr id="12" name="Text 10"/>
          <p:cNvSpPr txBox="1"/>
          <p:nvPr/>
        </p:nvSpPr>
        <p:spPr>
          <a:xfrm>
            <a:off x="566928" y="2679192"/>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a:t>
            </a:r>
            <a:endParaRPr lang="en-US" sz="1050"/>
          </a:p>
        </p:txBody>
      </p:sp>
      <p:sp>
        <p:nvSpPr>
          <p:cNvPr id="13" name="Text 11"/>
          <p:cNvSpPr txBox="1"/>
          <p:nvPr/>
        </p:nvSpPr>
        <p:spPr>
          <a:xfrm>
            <a:off x="1170432" y="2660904"/>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Goodfellow, I., Pouget-Abadie, J., Mirza, M., Xu, B., Warde-Farley, D., Ozair, S., Courville, A., &amp; Bengio, Y. (2014). Generative adversarial nets. Advances in Neural Information Processing Systems, 27, 2672–2680.</a:t>
            </a:r>
            <a:endParaRPr lang="en-US" sz="970"/>
          </a:p>
        </p:txBody>
      </p:sp>
      <p:sp>
        <p:nvSpPr>
          <p:cNvPr id="14" name="Shape 12"/>
          <p:cNvSpPr/>
          <p:nvPr/>
        </p:nvSpPr>
        <p:spPr>
          <a:xfrm>
            <a:off x="566928" y="3195828"/>
            <a:ext cx="475488" cy="384048"/>
          </a:xfrm>
          <a:prstGeom prst="roundRect">
            <a:avLst>
              <a:gd name="adj" fmla="val 14286"/>
            </a:avLst>
          </a:prstGeom>
          <a:solidFill>
            <a:srgbClr val="00A896"/>
          </a:solidFill>
          <a:ln w="12700">
            <a:solidFill>
              <a:srgbClr val="00A896"/>
            </a:solidFill>
            <a:prstDash val="solid"/>
          </a:ln>
        </p:spPr>
      </p:sp>
      <p:sp>
        <p:nvSpPr>
          <p:cNvPr id="15" name="Text 13"/>
          <p:cNvSpPr txBox="1"/>
          <p:nvPr/>
        </p:nvSpPr>
        <p:spPr>
          <a:xfrm>
            <a:off x="566928" y="3195828"/>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a:t>
            </a:r>
            <a:endParaRPr lang="en-US" sz="1050"/>
          </a:p>
        </p:txBody>
      </p:sp>
      <p:sp>
        <p:nvSpPr>
          <p:cNvPr id="16" name="Text 14"/>
          <p:cNvSpPr txBox="1"/>
          <p:nvPr/>
        </p:nvSpPr>
        <p:spPr>
          <a:xfrm>
            <a:off x="1170432" y="3177540"/>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Kingma, D. P., &amp; Welling, M. (2014). Auto-encoding variational Bayes. Proceedings of the 2nd International Conference on Learning Representations (ICLR).</a:t>
            </a:r>
            <a:endParaRPr lang="en-US" sz="970"/>
          </a:p>
        </p:txBody>
      </p:sp>
      <p:sp>
        <p:nvSpPr>
          <p:cNvPr id="17" name="Shape 15"/>
          <p:cNvSpPr/>
          <p:nvPr/>
        </p:nvSpPr>
        <p:spPr>
          <a:xfrm>
            <a:off x="566928" y="3712464"/>
            <a:ext cx="475488" cy="384048"/>
          </a:xfrm>
          <a:prstGeom prst="roundRect">
            <a:avLst>
              <a:gd name="adj" fmla="val 14286"/>
            </a:avLst>
          </a:prstGeom>
          <a:solidFill>
            <a:srgbClr val="2E3A8C"/>
          </a:solidFill>
          <a:ln w="12700">
            <a:solidFill>
              <a:srgbClr val="2E3A8C"/>
            </a:solidFill>
            <a:prstDash val="solid"/>
          </a:ln>
        </p:spPr>
      </p:sp>
      <p:sp>
        <p:nvSpPr>
          <p:cNvPr id="18" name="Text 16"/>
          <p:cNvSpPr txBox="1"/>
          <p:nvPr/>
        </p:nvSpPr>
        <p:spPr>
          <a:xfrm>
            <a:off x="566928" y="3712464"/>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[5]</a:t>
            </a:r>
            <a:endParaRPr lang="en-US" sz="1050"/>
          </a:p>
        </p:txBody>
      </p:sp>
      <p:sp>
        <p:nvSpPr>
          <p:cNvPr id="19" name="Text 17"/>
          <p:cNvSpPr txBox="1"/>
          <p:nvPr/>
        </p:nvSpPr>
        <p:spPr>
          <a:xfrm>
            <a:off x="1170432" y="3694176"/>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Ho, J., Jain, A., &amp; Abbeel, P. (2020). Denoising diffusion probabilistic models. Advances in Neural Information Processing Systems, 33, 6840–6851.</a:t>
            </a:r>
            <a:endParaRPr lang="en-US" sz="970"/>
          </a:p>
        </p:txBody>
      </p:sp>
      <p:sp>
        <p:nvSpPr>
          <p:cNvPr id="20" name="Shape 18"/>
          <p:cNvSpPr/>
          <p:nvPr/>
        </p:nvSpPr>
        <p:spPr>
          <a:xfrm>
            <a:off x="566928" y="4229100"/>
            <a:ext cx="475488" cy="384048"/>
          </a:xfrm>
          <a:prstGeom prst="roundRect">
            <a:avLst>
              <a:gd name="adj" fmla="val 14286"/>
            </a:avLst>
          </a:prstGeom>
          <a:solidFill>
            <a:srgbClr val="00A896"/>
          </a:solidFill>
          <a:ln w="12700">
            <a:solidFill>
              <a:srgbClr val="00A896"/>
            </a:solidFill>
            <a:prstDash val="solid"/>
          </a:ln>
        </p:spPr>
      </p:sp>
      <p:sp>
        <p:nvSpPr>
          <p:cNvPr id="21" name="Text 19"/>
          <p:cNvSpPr txBox="1"/>
          <p:nvPr/>
        </p:nvSpPr>
        <p:spPr>
          <a:xfrm>
            <a:off x="566928" y="422910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[6]</a:t>
            </a:r>
            <a:endParaRPr lang="en-US" sz="1050"/>
          </a:p>
        </p:txBody>
      </p:sp>
      <p:sp>
        <p:nvSpPr>
          <p:cNvPr id="22" name="Text 20"/>
          <p:cNvSpPr txBox="1"/>
          <p:nvPr/>
        </p:nvSpPr>
        <p:spPr>
          <a:xfrm>
            <a:off x="1170432" y="421081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Sohl-Dickstein, J., Weiss, E. A., Maheswaranathan, N., &amp; Ganguli, S. (2015). Deep unsupervised learning using nonequilibrium thermodynamics. Proceedings of the 32nd International Conference on Machine Learning, PMLR 37, 2256–2265.</a:t>
            </a:r>
            <a:endParaRPr lang="en-US" sz="970"/>
          </a:p>
        </p:txBody>
      </p:sp>
      <p:sp>
        <p:nvSpPr>
          <p:cNvPr id="23" name="Shape 21"/>
          <p:cNvSpPr/>
          <p:nvPr/>
        </p:nvSpPr>
        <p:spPr>
          <a:xfrm>
            <a:off x="566928" y="4745736"/>
            <a:ext cx="475488" cy="384048"/>
          </a:xfrm>
          <a:prstGeom prst="roundRect">
            <a:avLst>
              <a:gd name="adj" fmla="val 14286"/>
            </a:avLst>
          </a:prstGeom>
          <a:solidFill>
            <a:srgbClr val="2E3A8C"/>
          </a:solidFill>
          <a:ln w="12700">
            <a:solidFill>
              <a:srgbClr val="2E3A8C"/>
            </a:solidFill>
            <a:prstDash val="solid"/>
          </a:ln>
        </p:spPr>
      </p:sp>
      <p:sp>
        <p:nvSpPr>
          <p:cNvPr id="24" name="Text 22"/>
          <p:cNvSpPr txBox="1"/>
          <p:nvPr/>
        </p:nvSpPr>
        <p:spPr>
          <a:xfrm>
            <a:off x="566928" y="474573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[7]</a:t>
            </a:r>
            <a:endParaRPr lang="en-US" sz="1050"/>
          </a:p>
        </p:txBody>
      </p:sp>
      <p:sp>
        <p:nvSpPr>
          <p:cNvPr id="25" name="Text 23"/>
          <p:cNvSpPr txBox="1"/>
          <p:nvPr/>
        </p:nvSpPr>
        <p:spPr>
          <a:xfrm>
            <a:off x="1170432" y="472744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Bond-Taylor, S., Leach, A., Long, Y., &amp; Willcocks, C. G. (2022). Deep generative modelling: A comparative review of VAEs, GANs, normalizing flows, energy-based and autoregressive models. IEEE Transactions on Pattern Analysis and Machine Intelligence, 44(11), 7327–7347. https://doi.org/10.1109/TPAMI.2021.3116668</a:t>
            </a:r>
            <a:endParaRPr lang="en-US" sz="970"/>
          </a:p>
        </p:txBody>
      </p:sp>
      <p:sp>
        <p:nvSpPr>
          <p:cNvPr id="26" name="Shape 24"/>
          <p:cNvSpPr/>
          <p:nvPr/>
        </p:nvSpPr>
        <p:spPr>
          <a:xfrm>
            <a:off x="566928" y="5262372"/>
            <a:ext cx="475488" cy="384048"/>
          </a:xfrm>
          <a:prstGeom prst="roundRect">
            <a:avLst>
              <a:gd name="adj" fmla="val 14286"/>
            </a:avLst>
          </a:prstGeom>
          <a:solidFill>
            <a:srgbClr val="00A896"/>
          </a:solidFill>
          <a:ln w="12700">
            <a:solidFill>
              <a:srgbClr val="00A896"/>
            </a:solidFill>
            <a:prstDash val="solid"/>
          </a:ln>
        </p:spPr>
      </p:sp>
      <p:sp>
        <p:nvSpPr>
          <p:cNvPr id="27" name="Text 25"/>
          <p:cNvSpPr txBox="1"/>
          <p:nvPr/>
        </p:nvSpPr>
        <p:spPr>
          <a:xfrm>
            <a:off x="566928" y="5262372"/>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[8]</a:t>
            </a:r>
            <a:endParaRPr lang="en-US" sz="1050"/>
          </a:p>
        </p:txBody>
      </p:sp>
      <p:sp>
        <p:nvSpPr>
          <p:cNvPr id="28" name="Text 26"/>
          <p:cNvSpPr txBox="1"/>
          <p:nvPr/>
        </p:nvSpPr>
        <p:spPr>
          <a:xfrm>
            <a:off x="1170432" y="5244084"/>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Rombach, R., Blattmann, A., Lorenz, D., Esser, P., &amp; Ommer, B. (2022). High-resolution image synthesis with latent diffusion models. Proceedings of the IEEE/CVF Conference on Computer Vision and Pattern Recognition (CVPR), 10684–10695.</a:t>
            </a:r>
            <a:endParaRPr lang="en-US" sz="970"/>
          </a:p>
        </p:txBody>
      </p:sp>
      <p:sp>
        <p:nvSpPr>
          <p:cNvPr id="29" name="Shape 27"/>
          <p:cNvSpPr/>
          <p:nvPr/>
        </p:nvSpPr>
        <p:spPr>
          <a:xfrm>
            <a:off x="566928" y="5779008"/>
            <a:ext cx="475488" cy="384048"/>
          </a:xfrm>
          <a:prstGeom prst="roundRect">
            <a:avLst>
              <a:gd name="adj" fmla="val 14286"/>
            </a:avLst>
          </a:prstGeom>
          <a:solidFill>
            <a:srgbClr val="2E3A8C"/>
          </a:solidFill>
          <a:ln w="12700">
            <a:solidFill>
              <a:srgbClr val="2E3A8C"/>
            </a:solidFill>
            <a:prstDash val="solid"/>
          </a:ln>
        </p:spPr>
      </p:sp>
      <p:sp>
        <p:nvSpPr>
          <p:cNvPr id="30" name="Text 28"/>
          <p:cNvSpPr txBox="1"/>
          <p:nvPr/>
        </p:nvSpPr>
        <p:spPr>
          <a:xfrm>
            <a:off x="566928" y="5779008"/>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[9]</a:t>
            </a:r>
            <a:endParaRPr lang="en-US" sz="1050"/>
          </a:p>
        </p:txBody>
      </p:sp>
      <p:sp>
        <p:nvSpPr>
          <p:cNvPr id="31" name="Text 29"/>
          <p:cNvSpPr txBox="1"/>
          <p:nvPr/>
        </p:nvSpPr>
        <p:spPr>
          <a:xfrm>
            <a:off x="1170432" y="5760720"/>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Patki, N., Wedge, R., &amp; Veeramachaneni, K. (2016). The Synthetic Data Vault. Proceedings of the IEEE International Conference on Data Science and Advanced Analytics (DSAA), 399–410. https://doi.org/10.1109/DSAA.2016.49</a:t>
            </a:r>
            <a:endParaRPr lang="en-US" sz="97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REFERENCES · APA 7TH EDITION</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Reference list (2 of 6)</a:t>
            </a:r>
            <a:endParaRPr lang="en-US" sz="3000"/>
          </a:p>
        </p:txBody>
      </p:sp>
      <p:sp>
        <p:nvSpPr>
          <p:cNvPr id="5" name="Shape 3"/>
          <p:cNvSpPr/>
          <p:nvPr/>
        </p:nvSpPr>
        <p:spPr>
          <a:xfrm>
            <a:off x="566928" y="1645920"/>
            <a:ext cx="475488" cy="384048"/>
          </a:xfrm>
          <a:prstGeom prst="roundRect">
            <a:avLst>
              <a:gd name="adj" fmla="val 14286"/>
            </a:avLst>
          </a:prstGeom>
          <a:solidFill>
            <a:srgbClr val="00A896"/>
          </a:solidFill>
          <a:ln w="12700">
            <a:solidFill>
              <a:srgbClr val="00A896"/>
            </a:solidFill>
            <a:prstDash val="solid"/>
          </a:ln>
        </p:spPr>
      </p:sp>
      <p:sp>
        <p:nvSpPr>
          <p:cNvPr id="6" name="Text 4"/>
          <p:cNvSpPr txBox="1"/>
          <p:nvPr/>
        </p:nvSpPr>
        <p:spPr>
          <a:xfrm>
            <a:off x="566928" y="164592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[10]</a:t>
            </a:r>
            <a:endParaRPr lang="en-US" sz="1050"/>
          </a:p>
        </p:txBody>
      </p:sp>
      <p:sp>
        <p:nvSpPr>
          <p:cNvPr id="7" name="Text 5"/>
          <p:cNvSpPr txBox="1"/>
          <p:nvPr/>
        </p:nvSpPr>
        <p:spPr>
          <a:xfrm>
            <a:off x="1170432" y="162763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Esteban, C., Hyland, S. L., &amp; Rätsch, G. (2017). Real-valued (medical) time series generation with recurrent conditional GANs. arXiv. https://arxiv.org/abs/1706.02633</a:t>
            </a:r>
            <a:endParaRPr lang="en-US" sz="970"/>
          </a:p>
        </p:txBody>
      </p:sp>
      <p:sp>
        <p:nvSpPr>
          <p:cNvPr id="8" name="Shape 6"/>
          <p:cNvSpPr/>
          <p:nvPr/>
        </p:nvSpPr>
        <p:spPr>
          <a:xfrm>
            <a:off x="566928" y="2162556"/>
            <a:ext cx="475488" cy="384048"/>
          </a:xfrm>
          <a:prstGeom prst="roundRect">
            <a:avLst>
              <a:gd name="adj" fmla="val 14286"/>
            </a:avLst>
          </a:prstGeom>
          <a:solidFill>
            <a:srgbClr val="2E3A8C"/>
          </a:solidFill>
          <a:ln w="12700">
            <a:solidFill>
              <a:srgbClr val="2E3A8C"/>
            </a:solidFill>
            <a:prstDash val="solid"/>
          </a:ln>
        </p:spPr>
      </p:sp>
      <p:sp>
        <p:nvSpPr>
          <p:cNvPr id="9" name="Text 7"/>
          <p:cNvSpPr txBox="1"/>
          <p:nvPr/>
        </p:nvSpPr>
        <p:spPr>
          <a:xfrm>
            <a:off x="566928" y="216255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[11]</a:t>
            </a:r>
            <a:endParaRPr lang="en-US" sz="1050"/>
          </a:p>
        </p:txBody>
      </p:sp>
      <p:sp>
        <p:nvSpPr>
          <p:cNvPr id="10" name="Text 8"/>
          <p:cNvSpPr txBox="1"/>
          <p:nvPr/>
        </p:nvSpPr>
        <p:spPr>
          <a:xfrm>
            <a:off x="1170432" y="214426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Xu, L., Skoularidou, M., Cuesta-Infante, A., &amp; Veeramachaneni, K. (2019). Modeling tabular data using conditional GAN. Advances in Neural Information Processing Systems, 32, 7335–7345.</a:t>
            </a:r>
            <a:endParaRPr lang="en-US" sz="970"/>
          </a:p>
        </p:txBody>
      </p:sp>
      <p:sp>
        <p:nvSpPr>
          <p:cNvPr id="11" name="Shape 9"/>
          <p:cNvSpPr/>
          <p:nvPr/>
        </p:nvSpPr>
        <p:spPr>
          <a:xfrm>
            <a:off x="566928" y="2679192"/>
            <a:ext cx="475488" cy="384048"/>
          </a:xfrm>
          <a:prstGeom prst="roundRect">
            <a:avLst>
              <a:gd name="adj" fmla="val 14286"/>
            </a:avLst>
          </a:prstGeom>
          <a:solidFill>
            <a:srgbClr val="00A896"/>
          </a:solidFill>
          <a:ln w="12700">
            <a:solidFill>
              <a:srgbClr val="00A896"/>
            </a:solidFill>
            <a:prstDash val="solid"/>
          </a:ln>
        </p:spPr>
      </p:sp>
      <p:sp>
        <p:nvSpPr>
          <p:cNvPr id="12" name="Text 10"/>
          <p:cNvSpPr txBox="1"/>
          <p:nvPr/>
        </p:nvSpPr>
        <p:spPr>
          <a:xfrm>
            <a:off x="566928" y="2679192"/>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[12]</a:t>
            </a:r>
            <a:endParaRPr lang="en-US" sz="1050"/>
          </a:p>
        </p:txBody>
      </p:sp>
      <p:sp>
        <p:nvSpPr>
          <p:cNvPr id="13" name="Text 11"/>
          <p:cNvSpPr txBox="1"/>
          <p:nvPr/>
        </p:nvSpPr>
        <p:spPr>
          <a:xfrm>
            <a:off x="1170432" y="2660904"/>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Kotelnikov, A., Baranchuk, D., Rubachev, I., &amp; Babenko, A. (2023). TabDDPM: Modelling tabular data with diffusion models. Proceedings of the 40th International Conference on Machine Learning, PMLR 202, 17564–17579.</a:t>
            </a:r>
            <a:endParaRPr lang="en-US" sz="970"/>
          </a:p>
        </p:txBody>
      </p:sp>
      <p:sp>
        <p:nvSpPr>
          <p:cNvPr id="14" name="Shape 12"/>
          <p:cNvSpPr/>
          <p:nvPr/>
        </p:nvSpPr>
        <p:spPr>
          <a:xfrm>
            <a:off x="566928" y="3195828"/>
            <a:ext cx="475488" cy="384048"/>
          </a:xfrm>
          <a:prstGeom prst="roundRect">
            <a:avLst>
              <a:gd name="adj" fmla="val 14286"/>
            </a:avLst>
          </a:prstGeom>
          <a:solidFill>
            <a:srgbClr val="2E3A8C"/>
          </a:solidFill>
          <a:ln w="12700">
            <a:solidFill>
              <a:srgbClr val="2E3A8C"/>
            </a:solidFill>
            <a:prstDash val="solid"/>
          </a:ln>
        </p:spPr>
      </p:sp>
      <p:sp>
        <p:nvSpPr>
          <p:cNvPr id="15" name="Text 13"/>
          <p:cNvSpPr txBox="1"/>
          <p:nvPr/>
        </p:nvSpPr>
        <p:spPr>
          <a:xfrm>
            <a:off x="566928" y="3195828"/>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[13]</a:t>
            </a:r>
            <a:endParaRPr lang="en-US" sz="1050"/>
          </a:p>
        </p:txBody>
      </p:sp>
      <p:sp>
        <p:nvSpPr>
          <p:cNvPr id="16" name="Text 14"/>
          <p:cNvSpPr txBox="1"/>
          <p:nvPr/>
        </p:nvSpPr>
        <p:spPr>
          <a:xfrm>
            <a:off x="1170432" y="3177540"/>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Borisov, V., Seßler, K., Leemann, T., Pawelczyk, M., &amp; Kasneci, G. (2023). Language models are realistic tabular data generators. Proceedings of the 11th International Conference on Learning Representations (ICLR).</a:t>
            </a:r>
            <a:endParaRPr lang="en-US" sz="970"/>
          </a:p>
        </p:txBody>
      </p:sp>
      <p:sp>
        <p:nvSpPr>
          <p:cNvPr id="17" name="Shape 15"/>
          <p:cNvSpPr/>
          <p:nvPr/>
        </p:nvSpPr>
        <p:spPr>
          <a:xfrm>
            <a:off x="566928" y="3712464"/>
            <a:ext cx="475488" cy="384048"/>
          </a:xfrm>
          <a:prstGeom prst="roundRect">
            <a:avLst>
              <a:gd name="adj" fmla="val 14286"/>
            </a:avLst>
          </a:prstGeom>
          <a:solidFill>
            <a:srgbClr val="00A896"/>
          </a:solidFill>
          <a:ln w="12700">
            <a:solidFill>
              <a:srgbClr val="00A896"/>
            </a:solidFill>
            <a:prstDash val="solid"/>
          </a:ln>
        </p:spPr>
      </p:sp>
      <p:sp>
        <p:nvSpPr>
          <p:cNvPr id="18" name="Text 16"/>
          <p:cNvSpPr txBox="1"/>
          <p:nvPr/>
        </p:nvSpPr>
        <p:spPr>
          <a:xfrm>
            <a:off x="566928" y="3712464"/>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[14]</a:t>
            </a:r>
            <a:endParaRPr lang="en-US" sz="1050"/>
          </a:p>
        </p:txBody>
      </p:sp>
      <p:sp>
        <p:nvSpPr>
          <p:cNvPr id="19" name="Text 17"/>
          <p:cNvSpPr txBox="1"/>
          <p:nvPr/>
        </p:nvSpPr>
        <p:spPr>
          <a:xfrm>
            <a:off x="1170432" y="3694176"/>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Wei, J., &amp; Zou, K. (2019). EDA: Easy data augmentation techniques for boosting performance on text classification tasks. Proceedings of EMNLP-IJCNLP 2019, 6382–6388.</a:t>
            </a:r>
            <a:endParaRPr lang="en-US" sz="970"/>
          </a:p>
        </p:txBody>
      </p:sp>
      <p:sp>
        <p:nvSpPr>
          <p:cNvPr id="20" name="Shape 18"/>
          <p:cNvSpPr/>
          <p:nvPr/>
        </p:nvSpPr>
        <p:spPr>
          <a:xfrm>
            <a:off x="566928" y="4229100"/>
            <a:ext cx="475488" cy="384048"/>
          </a:xfrm>
          <a:prstGeom prst="roundRect">
            <a:avLst>
              <a:gd name="adj" fmla="val 14286"/>
            </a:avLst>
          </a:prstGeom>
          <a:solidFill>
            <a:srgbClr val="2E3A8C"/>
          </a:solidFill>
          <a:ln w="12700">
            <a:solidFill>
              <a:srgbClr val="2E3A8C"/>
            </a:solidFill>
            <a:prstDash val="solid"/>
          </a:ln>
        </p:spPr>
      </p:sp>
      <p:sp>
        <p:nvSpPr>
          <p:cNvPr id="21" name="Text 19"/>
          <p:cNvSpPr txBox="1"/>
          <p:nvPr/>
        </p:nvSpPr>
        <p:spPr>
          <a:xfrm>
            <a:off x="566928" y="422910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[15]</a:t>
            </a:r>
            <a:endParaRPr lang="en-US" sz="1050"/>
          </a:p>
        </p:txBody>
      </p:sp>
      <p:sp>
        <p:nvSpPr>
          <p:cNvPr id="22" name="Text 20"/>
          <p:cNvSpPr txBox="1"/>
          <p:nvPr/>
        </p:nvSpPr>
        <p:spPr>
          <a:xfrm>
            <a:off x="1170432" y="421081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Sennrich, R., Haddow, B., &amp; Birch, A. (2016). Improving neural machine translation models with monolingual data. Proceedings of the 54th Annual Meeting of the Association for Computational Linguistics, 86–96.</a:t>
            </a:r>
            <a:endParaRPr lang="en-US" sz="970"/>
          </a:p>
        </p:txBody>
      </p:sp>
      <p:sp>
        <p:nvSpPr>
          <p:cNvPr id="23" name="Shape 21"/>
          <p:cNvSpPr/>
          <p:nvPr/>
        </p:nvSpPr>
        <p:spPr>
          <a:xfrm>
            <a:off x="566928" y="4745736"/>
            <a:ext cx="475488" cy="384048"/>
          </a:xfrm>
          <a:prstGeom prst="roundRect">
            <a:avLst>
              <a:gd name="adj" fmla="val 14286"/>
            </a:avLst>
          </a:prstGeom>
          <a:solidFill>
            <a:srgbClr val="00A896"/>
          </a:solidFill>
          <a:ln w="12700">
            <a:solidFill>
              <a:srgbClr val="00A896"/>
            </a:solidFill>
            <a:prstDash val="solid"/>
          </a:ln>
        </p:spPr>
      </p:sp>
      <p:sp>
        <p:nvSpPr>
          <p:cNvPr id="24" name="Text 22"/>
          <p:cNvSpPr txBox="1"/>
          <p:nvPr/>
        </p:nvSpPr>
        <p:spPr>
          <a:xfrm>
            <a:off x="566928" y="474573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[16]</a:t>
            </a:r>
            <a:endParaRPr lang="en-US" sz="1050"/>
          </a:p>
        </p:txBody>
      </p:sp>
      <p:sp>
        <p:nvSpPr>
          <p:cNvPr id="25" name="Text 23"/>
          <p:cNvSpPr txBox="1"/>
          <p:nvPr/>
        </p:nvSpPr>
        <p:spPr>
          <a:xfrm>
            <a:off x="1170432" y="472744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Wang, Y., Kordi, Y., Mishra, S., Liu, A., Smith, N. A., Khashabi, D., &amp; Hajishirzi, H. (2023). Self-Instruct: Aligning language models with self-generated instructions. Proceedings of the 61st Annual Meeting of the Association for Computational Linguistics, 13484–13508.</a:t>
            </a:r>
            <a:endParaRPr lang="en-US" sz="970"/>
          </a:p>
        </p:txBody>
      </p:sp>
      <p:sp>
        <p:nvSpPr>
          <p:cNvPr id="26" name="Shape 24"/>
          <p:cNvSpPr/>
          <p:nvPr/>
        </p:nvSpPr>
        <p:spPr>
          <a:xfrm>
            <a:off x="566928" y="5262372"/>
            <a:ext cx="475488" cy="384048"/>
          </a:xfrm>
          <a:prstGeom prst="roundRect">
            <a:avLst>
              <a:gd name="adj" fmla="val 14286"/>
            </a:avLst>
          </a:prstGeom>
          <a:solidFill>
            <a:srgbClr val="2E3A8C"/>
          </a:solidFill>
          <a:ln w="12700">
            <a:solidFill>
              <a:srgbClr val="2E3A8C"/>
            </a:solidFill>
            <a:prstDash val="solid"/>
          </a:ln>
        </p:spPr>
      </p:sp>
      <p:sp>
        <p:nvSpPr>
          <p:cNvPr id="27" name="Text 25"/>
          <p:cNvSpPr txBox="1"/>
          <p:nvPr/>
        </p:nvSpPr>
        <p:spPr>
          <a:xfrm>
            <a:off x="566928" y="5262372"/>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[17]</a:t>
            </a:r>
            <a:endParaRPr lang="en-US" sz="1050"/>
          </a:p>
        </p:txBody>
      </p:sp>
      <p:sp>
        <p:nvSpPr>
          <p:cNvPr id="28" name="Text 26"/>
          <p:cNvSpPr txBox="1"/>
          <p:nvPr/>
        </p:nvSpPr>
        <p:spPr>
          <a:xfrm>
            <a:off x="1170432" y="5244084"/>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Gunasekar, S., Zhang, Y., Aneja, J., Mendes, C. C. T., Del Giorno, A., Gopi, S., Javaheripi, M., Kauffmann, P., de Rosa, G., Saarikivi, O., Salim, A., Shah, S., Behl, H. S., Wang, X., Bubeck, S., Eldan, R., Kalai, A. T., Lee, Y. T., &amp; Li, Y. (2023). Textbooks are all you need. arXiv. https://arxiv.org/abs/2306.11644</a:t>
            </a:r>
            <a:endParaRPr lang="en-US" sz="970"/>
          </a:p>
        </p:txBody>
      </p:sp>
      <p:sp>
        <p:nvSpPr>
          <p:cNvPr id="29" name="Shape 27"/>
          <p:cNvSpPr/>
          <p:nvPr/>
        </p:nvSpPr>
        <p:spPr>
          <a:xfrm>
            <a:off x="566928" y="5779008"/>
            <a:ext cx="475488" cy="384048"/>
          </a:xfrm>
          <a:prstGeom prst="roundRect">
            <a:avLst>
              <a:gd name="adj" fmla="val 14286"/>
            </a:avLst>
          </a:prstGeom>
          <a:solidFill>
            <a:srgbClr val="00A896"/>
          </a:solidFill>
          <a:ln w="12700">
            <a:solidFill>
              <a:srgbClr val="00A896"/>
            </a:solidFill>
            <a:prstDash val="solid"/>
          </a:ln>
        </p:spPr>
      </p:sp>
      <p:sp>
        <p:nvSpPr>
          <p:cNvPr id="30" name="Text 28"/>
          <p:cNvSpPr txBox="1"/>
          <p:nvPr/>
        </p:nvSpPr>
        <p:spPr>
          <a:xfrm>
            <a:off x="566928" y="5779008"/>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[18]</a:t>
            </a:r>
            <a:endParaRPr lang="en-US" sz="1050"/>
          </a:p>
        </p:txBody>
      </p:sp>
      <p:sp>
        <p:nvSpPr>
          <p:cNvPr id="31" name="Text 29"/>
          <p:cNvSpPr txBox="1"/>
          <p:nvPr/>
        </p:nvSpPr>
        <p:spPr>
          <a:xfrm>
            <a:off x="1170432" y="5760720"/>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Shumailov, I., Shumaylov, Z., Zhao, Y., Papernot, N., Anderson, R., &amp; Gal, Y. (2024). AI models collapse when trained on recursively generated data. Nature, 631, 755–759. https://doi.org/10.1038/s41586-024-07566-y</a:t>
            </a:r>
            <a:endParaRPr lang="en-US" sz="97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REFERENCES · APA 7TH EDITION</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Reference list (3 of 6)</a:t>
            </a:r>
            <a:endParaRPr lang="en-US" sz="3000"/>
          </a:p>
        </p:txBody>
      </p:sp>
      <p:sp>
        <p:nvSpPr>
          <p:cNvPr id="5" name="Shape 3"/>
          <p:cNvSpPr/>
          <p:nvPr/>
        </p:nvSpPr>
        <p:spPr>
          <a:xfrm>
            <a:off x="566928" y="1645920"/>
            <a:ext cx="475488" cy="384048"/>
          </a:xfrm>
          <a:prstGeom prst="roundRect">
            <a:avLst>
              <a:gd name="adj" fmla="val 14286"/>
            </a:avLst>
          </a:prstGeom>
          <a:solidFill>
            <a:srgbClr val="2E3A8C"/>
          </a:solidFill>
          <a:ln w="12700">
            <a:solidFill>
              <a:srgbClr val="2E3A8C"/>
            </a:solidFill>
            <a:prstDash val="solid"/>
          </a:ln>
        </p:spPr>
      </p:sp>
      <p:sp>
        <p:nvSpPr>
          <p:cNvPr id="6" name="Text 4"/>
          <p:cNvSpPr txBox="1"/>
          <p:nvPr/>
        </p:nvSpPr>
        <p:spPr>
          <a:xfrm>
            <a:off x="566928" y="164592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[19]</a:t>
            </a:r>
            <a:endParaRPr lang="en-US" sz="1050"/>
          </a:p>
        </p:txBody>
      </p:sp>
      <p:sp>
        <p:nvSpPr>
          <p:cNvPr id="7" name="Text 5"/>
          <p:cNvSpPr txBox="1"/>
          <p:nvPr/>
        </p:nvSpPr>
        <p:spPr>
          <a:xfrm>
            <a:off x="1170432" y="162763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Brown, T. B., Mann, B., Ryder, N., Subbiah, M., Kaplan, J., Dhariwal, P., Neelakantan, A., Shyam, P., Sastry, G., Askell, A., … Amodei, D. (2020). Language models are few-shot learners. Advances in Neural Information Processing Systems, 33, 1877–1901.</a:t>
            </a:r>
            <a:endParaRPr lang="en-US" sz="970"/>
          </a:p>
        </p:txBody>
      </p:sp>
      <p:sp>
        <p:nvSpPr>
          <p:cNvPr id="8" name="Shape 6"/>
          <p:cNvSpPr/>
          <p:nvPr/>
        </p:nvSpPr>
        <p:spPr>
          <a:xfrm>
            <a:off x="566928" y="2162556"/>
            <a:ext cx="475488" cy="384048"/>
          </a:xfrm>
          <a:prstGeom prst="roundRect">
            <a:avLst>
              <a:gd name="adj" fmla="val 14286"/>
            </a:avLst>
          </a:prstGeom>
          <a:solidFill>
            <a:srgbClr val="00A896"/>
          </a:solidFill>
          <a:ln w="12700">
            <a:solidFill>
              <a:srgbClr val="00A896"/>
            </a:solidFill>
            <a:prstDash val="solid"/>
          </a:ln>
        </p:spPr>
      </p:sp>
      <p:sp>
        <p:nvSpPr>
          <p:cNvPr id="9" name="Text 7"/>
          <p:cNvSpPr txBox="1"/>
          <p:nvPr/>
        </p:nvSpPr>
        <p:spPr>
          <a:xfrm>
            <a:off x="566928" y="216255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[20]</a:t>
            </a:r>
            <a:endParaRPr lang="en-US" sz="1050"/>
          </a:p>
        </p:txBody>
      </p:sp>
      <p:sp>
        <p:nvSpPr>
          <p:cNvPr id="10" name="Text 8"/>
          <p:cNvSpPr txBox="1"/>
          <p:nvPr/>
        </p:nvSpPr>
        <p:spPr>
          <a:xfrm>
            <a:off x="1170432" y="214426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Karras, T., Laine, S., &amp; Aila, T. (2019). A style-based generator architecture for generative adversarial networks. Proceedings of the IEEE/CVF Conference on Computer Vision and Pattern Recognition (CVPR), 4401–4410.</a:t>
            </a:r>
            <a:endParaRPr lang="en-US" sz="970"/>
          </a:p>
        </p:txBody>
      </p:sp>
      <p:sp>
        <p:nvSpPr>
          <p:cNvPr id="11" name="Shape 9"/>
          <p:cNvSpPr/>
          <p:nvPr/>
        </p:nvSpPr>
        <p:spPr>
          <a:xfrm>
            <a:off x="566928" y="2679192"/>
            <a:ext cx="475488" cy="384048"/>
          </a:xfrm>
          <a:prstGeom prst="roundRect">
            <a:avLst>
              <a:gd name="adj" fmla="val 14286"/>
            </a:avLst>
          </a:prstGeom>
          <a:solidFill>
            <a:srgbClr val="2E3A8C"/>
          </a:solidFill>
          <a:ln w="12700">
            <a:solidFill>
              <a:srgbClr val="2E3A8C"/>
            </a:solidFill>
            <a:prstDash val="solid"/>
          </a:ln>
        </p:spPr>
      </p:sp>
      <p:sp>
        <p:nvSpPr>
          <p:cNvPr id="12" name="Text 10"/>
          <p:cNvSpPr txBox="1"/>
          <p:nvPr/>
        </p:nvSpPr>
        <p:spPr>
          <a:xfrm>
            <a:off x="566928" y="2679192"/>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[21]</a:t>
            </a:r>
            <a:endParaRPr lang="en-US" sz="1050"/>
          </a:p>
        </p:txBody>
      </p:sp>
      <p:sp>
        <p:nvSpPr>
          <p:cNvPr id="13" name="Text 11"/>
          <p:cNvSpPr txBox="1"/>
          <p:nvPr/>
        </p:nvSpPr>
        <p:spPr>
          <a:xfrm>
            <a:off x="1170432" y="2660904"/>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Richter, S. R., Vineet, V., Roth, S., &amp; Koltun, V. (2016). Playing for data: Ground truth from computer games. Proceedings of the European Conference on Computer Vision (ECCV), 102–118.</a:t>
            </a:r>
            <a:endParaRPr lang="en-US" sz="970"/>
          </a:p>
        </p:txBody>
      </p:sp>
      <p:sp>
        <p:nvSpPr>
          <p:cNvPr id="14" name="Shape 12"/>
          <p:cNvSpPr/>
          <p:nvPr/>
        </p:nvSpPr>
        <p:spPr>
          <a:xfrm>
            <a:off x="566928" y="3195828"/>
            <a:ext cx="475488" cy="384048"/>
          </a:xfrm>
          <a:prstGeom prst="roundRect">
            <a:avLst>
              <a:gd name="adj" fmla="val 14286"/>
            </a:avLst>
          </a:prstGeom>
          <a:solidFill>
            <a:srgbClr val="00A896"/>
          </a:solidFill>
          <a:ln w="12700">
            <a:solidFill>
              <a:srgbClr val="00A896"/>
            </a:solidFill>
            <a:prstDash val="solid"/>
          </a:ln>
        </p:spPr>
      </p:sp>
      <p:sp>
        <p:nvSpPr>
          <p:cNvPr id="15" name="Text 13"/>
          <p:cNvSpPr txBox="1"/>
          <p:nvPr/>
        </p:nvSpPr>
        <p:spPr>
          <a:xfrm>
            <a:off x="566928" y="3195828"/>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[22]</a:t>
            </a:r>
            <a:endParaRPr lang="en-US" sz="1050"/>
          </a:p>
        </p:txBody>
      </p:sp>
      <p:sp>
        <p:nvSpPr>
          <p:cNvPr id="16" name="Text 14"/>
          <p:cNvSpPr txBox="1"/>
          <p:nvPr/>
        </p:nvSpPr>
        <p:spPr>
          <a:xfrm>
            <a:off x="1170432" y="3177540"/>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Tremblay, J., Prakash, A., Acuna, D., Brophy, M., Jampani, V., Anil, C., To, T., Cameracci, E., Boochoon, S., &amp; Birchfield, S. (2018). Training deep networks with synthetic data: Bridging the reality gap by domain randomization. Proceedings of the IEEE/CVF CVPR Workshops, 969–977.</a:t>
            </a:r>
            <a:endParaRPr lang="en-US" sz="970"/>
          </a:p>
        </p:txBody>
      </p:sp>
      <p:sp>
        <p:nvSpPr>
          <p:cNvPr id="17" name="Shape 15"/>
          <p:cNvSpPr/>
          <p:nvPr/>
        </p:nvSpPr>
        <p:spPr>
          <a:xfrm>
            <a:off x="566928" y="3712464"/>
            <a:ext cx="475488" cy="384048"/>
          </a:xfrm>
          <a:prstGeom prst="roundRect">
            <a:avLst>
              <a:gd name="adj" fmla="val 14286"/>
            </a:avLst>
          </a:prstGeom>
          <a:solidFill>
            <a:srgbClr val="2E3A8C"/>
          </a:solidFill>
          <a:ln w="12700">
            <a:solidFill>
              <a:srgbClr val="2E3A8C"/>
            </a:solidFill>
            <a:prstDash val="solid"/>
          </a:ln>
        </p:spPr>
      </p:sp>
      <p:sp>
        <p:nvSpPr>
          <p:cNvPr id="18" name="Text 16"/>
          <p:cNvSpPr txBox="1"/>
          <p:nvPr/>
        </p:nvSpPr>
        <p:spPr>
          <a:xfrm>
            <a:off x="566928" y="3712464"/>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[23]</a:t>
            </a:r>
            <a:endParaRPr lang="en-US" sz="1050"/>
          </a:p>
        </p:txBody>
      </p:sp>
      <p:sp>
        <p:nvSpPr>
          <p:cNvPr id="19" name="Text 17"/>
          <p:cNvSpPr txBox="1"/>
          <p:nvPr/>
        </p:nvSpPr>
        <p:spPr>
          <a:xfrm>
            <a:off x="1170432" y="3694176"/>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Ros, G., Sellart, L., Materzynska, J., Vazquez, D., &amp; Lopez, A. M. (2016). The SYNTHIA dataset: A large collection of synthetic images for semantic segmentation of urban scenes. Proceedings of the IEEE Conference on Computer Vision and Pattern Recognition (CVPR), 3234–3243.</a:t>
            </a:r>
            <a:endParaRPr lang="en-US" sz="970"/>
          </a:p>
        </p:txBody>
      </p:sp>
      <p:sp>
        <p:nvSpPr>
          <p:cNvPr id="20" name="Shape 18"/>
          <p:cNvSpPr/>
          <p:nvPr/>
        </p:nvSpPr>
        <p:spPr>
          <a:xfrm>
            <a:off x="566928" y="4229100"/>
            <a:ext cx="475488" cy="384048"/>
          </a:xfrm>
          <a:prstGeom prst="roundRect">
            <a:avLst>
              <a:gd name="adj" fmla="val 14286"/>
            </a:avLst>
          </a:prstGeom>
          <a:solidFill>
            <a:srgbClr val="00A896"/>
          </a:solidFill>
          <a:ln w="12700">
            <a:solidFill>
              <a:srgbClr val="00A896"/>
            </a:solidFill>
            <a:prstDash val="solid"/>
          </a:ln>
        </p:spPr>
      </p:sp>
      <p:sp>
        <p:nvSpPr>
          <p:cNvPr id="21" name="Text 19"/>
          <p:cNvSpPr txBox="1"/>
          <p:nvPr/>
        </p:nvSpPr>
        <p:spPr>
          <a:xfrm>
            <a:off x="566928" y="422910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[24]</a:t>
            </a:r>
            <a:endParaRPr lang="en-US" sz="1050"/>
          </a:p>
        </p:txBody>
      </p:sp>
      <p:sp>
        <p:nvSpPr>
          <p:cNvPr id="22" name="Text 20"/>
          <p:cNvSpPr txBox="1"/>
          <p:nvPr/>
        </p:nvSpPr>
        <p:spPr>
          <a:xfrm>
            <a:off x="1170432" y="421081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Dwork, C., McSherry, F., Nissim, K., &amp; Smith, A. (2006). Calibrating noise to sensitivity in private data analysis. Proceedings of the Third Theory of Cryptography Conference (TCC), 265–284.</a:t>
            </a:r>
            <a:endParaRPr lang="en-US" sz="970"/>
          </a:p>
        </p:txBody>
      </p:sp>
      <p:sp>
        <p:nvSpPr>
          <p:cNvPr id="23" name="Shape 21"/>
          <p:cNvSpPr/>
          <p:nvPr/>
        </p:nvSpPr>
        <p:spPr>
          <a:xfrm>
            <a:off x="566928" y="4745736"/>
            <a:ext cx="475488" cy="384048"/>
          </a:xfrm>
          <a:prstGeom prst="roundRect">
            <a:avLst>
              <a:gd name="adj" fmla="val 14286"/>
            </a:avLst>
          </a:prstGeom>
          <a:solidFill>
            <a:srgbClr val="2E3A8C"/>
          </a:solidFill>
          <a:ln w="12700">
            <a:solidFill>
              <a:srgbClr val="2E3A8C"/>
            </a:solidFill>
            <a:prstDash val="solid"/>
          </a:ln>
        </p:spPr>
      </p:sp>
      <p:sp>
        <p:nvSpPr>
          <p:cNvPr id="24" name="Text 22"/>
          <p:cNvSpPr txBox="1"/>
          <p:nvPr/>
        </p:nvSpPr>
        <p:spPr>
          <a:xfrm>
            <a:off x="566928" y="474573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[25]</a:t>
            </a:r>
            <a:endParaRPr lang="en-US" sz="1050"/>
          </a:p>
        </p:txBody>
      </p:sp>
      <p:sp>
        <p:nvSpPr>
          <p:cNvPr id="25" name="Text 23"/>
          <p:cNvSpPr txBox="1"/>
          <p:nvPr/>
        </p:nvSpPr>
        <p:spPr>
          <a:xfrm>
            <a:off x="1170432" y="472744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Abadi, M., Chu, A., Goodfellow, I., McMahan, H. B., Mironov, I., Talwar, K., &amp; Zhang, L. (2016). Deep learning with differential privacy. Proceedings of the 2016 ACM SIGSAC Conference on Computer and Communications Security (CCS), 308–318.</a:t>
            </a:r>
            <a:endParaRPr lang="en-US" sz="970"/>
          </a:p>
        </p:txBody>
      </p:sp>
      <p:sp>
        <p:nvSpPr>
          <p:cNvPr id="26" name="Shape 24"/>
          <p:cNvSpPr/>
          <p:nvPr/>
        </p:nvSpPr>
        <p:spPr>
          <a:xfrm>
            <a:off x="566928" y="5262372"/>
            <a:ext cx="475488" cy="384048"/>
          </a:xfrm>
          <a:prstGeom prst="roundRect">
            <a:avLst>
              <a:gd name="adj" fmla="val 14286"/>
            </a:avLst>
          </a:prstGeom>
          <a:solidFill>
            <a:srgbClr val="00A896"/>
          </a:solidFill>
          <a:ln w="12700">
            <a:solidFill>
              <a:srgbClr val="00A896"/>
            </a:solidFill>
            <a:prstDash val="solid"/>
          </a:ln>
        </p:spPr>
      </p:sp>
      <p:sp>
        <p:nvSpPr>
          <p:cNvPr id="27" name="Text 25"/>
          <p:cNvSpPr txBox="1"/>
          <p:nvPr/>
        </p:nvSpPr>
        <p:spPr>
          <a:xfrm>
            <a:off x="566928" y="5262372"/>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[26]</a:t>
            </a:r>
            <a:endParaRPr lang="en-US" sz="1050"/>
          </a:p>
        </p:txBody>
      </p:sp>
      <p:sp>
        <p:nvSpPr>
          <p:cNvPr id="28" name="Text 26"/>
          <p:cNvSpPr txBox="1"/>
          <p:nvPr/>
        </p:nvSpPr>
        <p:spPr>
          <a:xfrm>
            <a:off x="1170432" y="5244084"/>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Jordon, J., Yoon, J., &amp; van der Schaar, M. (2019). PATE-GAN: Generating synthetic data with differential privacy guarantees. Proceedings of the 7th International Conference on Learning Representations (ICLR).</a:t>
            </a:r>
            <a:endParaRPr lang="en-US" sz="970"/>
          </a:p>
        </p:txBody>
      </p:sp>
      <p:sp>
        <p:nvSpPr>
          <p:cNvPr id="29" name="Shape 27"/>
          <p:cNvSpPr/>
          <p:nvPr/>
        </p:nvSpPr>
        <p:spPr>
          <a:xfrm>
            <a:off x="566928" y="5779008"/>
            <a:ext cx="475488" cy="384048"/>
          </a:xfrm>
          <a:prstGeom prst="roundRect">
            <a:avLst>
              <a:gd name="adj" fmla="val 14286"/>
            </a:avLst>
          </a:prstGeom>
          <a:solidFill>
            <a:srgbClr val="2E3A8C"/>
          </a:solidFill>
          <a:ln w="12700">
            <a:solidFill>
              <a:srgbClr val="2E3A8C"/>
            </a:solidFill>
            <a:prstDash val="solid"/>
          </a:ln>
        </p:spPr>
      </p:sp>
      <p:sp>
        <p:nvSpPr>
          <p:cNvPr id="30" name="Text 28"/>
          <p:cNvSpPr txBox="1"/>
          <p:nvPr/>
        </p:nvSpPr>
        <p:spPr>
          <a:xfrm>
            <a:off x="566928" y="5779008"/>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[27]</a:t>
            </a:r>
            <a:endParaRPr lang="en-US" sz="1050"/>
          </a:p>
        </p:txBody>
      </p:sp>
      <p:sp>
        <p:nvSpPr>
          <p:cNvPr id="31" name="Text 29"/>
          <p:cNvSpPr txBox="1"/>
          <p:nvPr/>
        </p:nvSpPr>
        <p:spPr>
          <a:xfrm>
            <a:off x="1170432" y="5760720"/>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Alaa, A., van Breugel, B., Saveliev, E. S., &amp; van der Schaar, M. (2022). How faithful is your synthetic data? Sample-level metrics for evaluating and auditing generative models. Proceedings of the 39th International Conference on Machine Learning, PMLR 162, 290–306.</a:t>
            </a:r>
            <a:endParaRPr lang="en-US" sz="97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REFERENCES · APA 7TH EDITION</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Reference list (4 of 6)</a:t>
            </a:r>
            <a:endParaRPr lang="en-US" sz="3000"/>
          </a:p>
        </p:txBody>
      </p:sp>
      <p:sp>
        <p:nvSpPr>
          <p:cNvPr id="5" name="Shape 3"/>
          <p:cNvSpPr/>
          <p:nvPr/>
        </p:nvSpPr>
        <p:spPr>
          <a:xfrm>
            <a:off x="566928" y="1645920"/>
            <a:ext cx="475488" cy="384048"/>
          </a:xfrm>
          <a:prstGeom prst="roundRect">
            <a:avLst>
              <a:gd name="adj" fmla="val 14286"/>
            </a:avLst>
          </a:prstGeom>
          <a:solidFill>
            <a:srgbClr val="00A896"/>
          </a:solidFill>
          <a:ln w="12700">
            <a:solidFill>
              <a:srgbClr val="00A896"/>
            </a:solidFill>
            <a:prstDash val="solid"/>
          </a:ln>
        </p:spPr>
      </p:sp>
      <p:sp>
        <p:nvSpPr>
          <p:cNvPr id="6" name="Text 4"/>
          <p:cNvSpPr txBox="1"/>
          <p:nvPr/>
        </p:nvSpPr>
        <p:spPr>
          <a:xfrm>
            <a:off x="566928" y="164592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[28]</a:t>
            </a:r>
            <a:endParaRPr lang="en-US" sz="1050"/>
          </a:p>
        </p:txBody>
      </p:sp>
      <p:sp>
        <p:nvSpPr>
          <p:cNvPr id="7" name="Text 5"/>
          <p:cNvSpPr txBox="1"/>
          <p:nvPr/>
        </p:nvSpPr>
        <p:spPr>
          <a:xfrm>
            <a:off x="1170432" y="162763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Choi, E., Biswal, S., Malin, B., Duke, J., Stewart, W. F., &amp; Sun, J. (2017). Generating multi-label discrete patient records using generative adversarial networks. Proceedings of the 2nd Machine Learning for Healthcare Conference, PMLR 68, 286–305.</a:t>
            </a:r>
            <a:endParaRPr lang="en-US" sz="970"/>
          </a:p>
        </p:txBody>
      </p:sp>
      <p:sp>
        <p:nvSpPr>
          <p:cNvPr id="8" name="Shape 6"/>
          <p:cNvSpPr/>
          <p:nvPr/>
        </p:nvSpPr>
        <p:spPr>
          <a:xfrm>
            <a:off x="566928" y="2162556"/>
            <a:ext cx="475488" cy="384048"/>
          </a:xfrm>
          <a:prstGeom prst="roundRect">
            <a:avLst>
              <a:gd name="adj" fmla="val 14286"/>
            </a:avLst>
          </a:prstGeom>
          <a:solidFill>
            <a:srgbClr val="2E3A8C"/>
          </a:solidFill>
          <a:ln w="12700">
            <a:solidFill>
              <a:srgbClr val="2E3A8C"/>
            </a:solidFill>
            <a:prstDash val="solid"/>
          </a:ln>
        </p:spPr>
      </p:sp>
      <p:sp>
        <p:nvSpPr>
          <p:cNvPr id="9" name="Text 7"/>
          <p:cNvSpPr txBox="1"/>
          <p:nvPr/>
        </p:nvSpPr>
        <p:spPr>
          <a:xfrm>
            <a:off x="566928" y="216255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[29]</a:t>
            </a:r>
            <a:endParaRPr lang="en-US" sz="1050"/>
          </a:p>
        </p:txBody>
      </p:sp>
      <p:sp>
        <p:nvSpPr>
          <p:cNvPr id="10" name="Text 8"/>
          <p:cNvSpPr txBox="1"/>
          <p:nvPr/>
        </p:nvSpPr>
        <p:spPr>
          <a:xfrm>
            <a:off x="1170432" y="214426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Yale, A., Dash, S., Dutta, R., Guyon, I., Pavao, A., &amp; Bennett, K. P. (2020). Generation and evaluation of privacy preserving synthetic health data. Neurocomputing, 416, 244–255. https://doi.org/10.1016/j.neucom.2019.12.136</a:t>
            </a:r>
            <a:endParaRPr lang="en-US" sz="970"/>
          </a:p>
        </p:txBody>
      </p:sp>
      <p:sp>
        <p:nvSpPr>
          <p:cNvPr id="11" name="Shape 9"/>
          <p:cNvSpPr/>
          <p:nvPr/>
        </p:nvSpPr>
        <p:spPr>
          <a:xfrm>
            <a:off x="566928" y="2679192"/>
            <a:ext cx="475488" cy="384048"/>
          </a:xfrm>
          <a:prstGeom prst="roundRect">
            <a:avLst>
              <a:gd name="adj" fmla="val 14286"/>
            </a:avLst>
          </a:prstGeom>
          <a:solidFill>
            <a:srgbClr val="00A896"/>
          </a:solidFill>
          <a:ln w="12700">
            <a:solidFill>
              <a:srgbClr val="00A896"/>
            </a:solidFill>
            <a:prstDash val="solid"/>
          </a:ln>
        </p:spPr>
      </p:sp>
      <p:sp>
        <p:nvSpPr>
          <p:cNvPr id="12" name="Text 10"/>
          <p:cNvSpPr txBox="1"/>
          <p:nvPr/>
        </p:nvSpPr>
        <p:spPr>
          <a:xfrm>
            <a:off x="566928" y="2679192"/>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[30]</a:t>
            </a:r>
            <a:endParaRPr lang="en-US" sz="1050"/>
          </a:p>
        </p:txBody>
      </p:sp>
      <p:sp>
        <p:nvSpPr>
          <p:cNvPr id="13" name="Text 11"/>
          <p:cNvSpPr txBox="1"/>
          <p:nvPr/>
        </p:nvSpPr>
        <p:spPr>
          <a:xfrm>
            <a:off x="1170432" y="2660904"/>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Stadler, T., Oprisanu, B., &amp; Troncoso, C. (2022). Synthetic data — anonymisation groundhog day. Proceedings of the 31st USENIX Security Symposium, 1451–1468.</a:t>
            </a:r>
            <a:endParaRPr lang="en-US" sz="970"/>
          </a:p>
        </p:txBody>
      </p:sp>
      <p:sp>
        <p:nvSpPr>
          <p:cNvPr id="14" name="Shape 12"/>
          <p:cNvSpPr/>
          <p:nvPr/>
        </p:nvSpPr>
        <p:spPr>
          <a:xfrm>
            <a:off x="566928" y="3195828"/>
            <a:ext cx="475488" cy="384048"/>
          </a:xfrm>
          <a:prstGeom prst="roundRect">
            <a:avLst>
              <a:gd name="adj" fmla="val 14286"/>
            </a:avLst>
          </a:prstGeom>
          <a:solidFill>
            <a:srgbClr val="2E3A8C"/>
          </a:solidFill>
          <a:ln w="12700">
            <a:solidFill>
              <a:srgbClr val="2E3A8C"/>
            </a:solidFill>
            <a:prstDash val="solid"/>
          </a:ln>
        </p:spPr>
      </p:sp>
      <p:sp>
        <p:nvSpPr>
          <p:cNvPr id="15" name="Text 13"/>
          <p:cNvSpPr txBox="1"/>
          <p:nvPr/>
        </p:nvSpPr>
        <p:spPr>
          <a:xfrm>
            <a:off x="566928" y="3195828"/>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[31]</a:t>
            </a:r>
            <a:endParaRPr lang="en-US" sz="1050"/>
          </a:p>
        </p:txBody>
      </p:sp>
      <p:sp>
        <p:nvSpPr>
          <p:cNvPr id="16" name="Text 14"/>
          <p:cNvSpPr txBox="1"/>
          <p:nvPr/>
        </p:nvSpPr>
        <p:spPr>
          <a:xfrm>
            <a:off x="1170432" y="3177540"/>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Shokri, R., Stronati, M., Song, C., &amp; Shmatikov, V. (2017). Membership inference attacks against machine learning models. Proceedings of the 2017 IEEE Symposium on Security and Privacy, 3–18.</a:t>
            </a:r>
            <a:endParaRPr lang="en-US" sz="970"/>
          </a:p>
        </p:txBody>
      </p:sp>
      <p:sp>
        <p:nvSpPr>
          <p:cNvPr id="17" name="Shape 15"/>
          <p:cNvSpPr/>
          <p:nvPr/>
        </p:nvSpPr>
        <p:spPr>
          <a:xfrm>
            <a:off x="566928" y="3712464"/>
            <a:ext cx="475488" cy="384048"/>
          </a:xfrm>
          <a:prstGeom prst="roundRect">
            <a:avLst>
              <a:gd name="adj" fmla="val 14286"/>
            </a:avLst>
          </a:prstGeom>
          <a:solidFill>
            <a:srgbClr val="00A896"/>
          </a:solidFill>
          <a:ln w="12700">
            <a:solidFill>
              <a:srgbClr val="00A896"/>
            </a:solidFill>
            <a:prstDash val="solid"/>
          </a:ln>
        </p:spPr>
      </p:sp>
      <p:sp>
        <p:nvSpPr>
          <p:cNvPr id="18" name="Text 16"/>
          <p:cNvSpPr txBox="1"/>
          <p:nvPr/>
        </p:nvSpPr>
        <p:spPr>
          <a:xfrm>
            <a:off x="566928" y="3712464"/>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[32]</a:t>
            </a:r>
            <a:endParaRPr lang="en-US" sz="1050"/>
          </a:p>
        </p:txBody>
      </p:sp>
      <p:sp>
        <p:nvSpPr>
          <p:cNvPr id="19" name="Text 17"/>
          <p:cNvSpPr txBox="1"/>
          <p:nvPr/>
        </p:nvSpPr>
        <p:spPr>
          <a:xfrm>
            <a:off x="1170432" y="3694176"/>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Papamakarios, G., Nalisnick, E., Rezende, D. J., Mohamed, S., &amp; Lakshminarayanan, B. (2021). Normalizing flows for probabilistic modeling and inference. Journal of Machine Learning Research, 22(57), 1–64.</a:t>
            </a:r>
            <a:endParaRPr lang="en-US" sz="970"/>
          </a:p>
        </p:txBody>
      </p:sp>
      <p:sp>
        <p:nvSpPr>
          <p:cNvPr id="20" name="Shape 18"/>
          <p:cNvSpPr/>
          <p:nvPr/>
        </p:nvSpPr>
        <p:spPr>
          <a:xfrm>
            <a:off x="566928" y="4229100"/>
            <a:ext cx="475488" cy="384048"/>
          </a:xfrm>
          <a:prstGeom prst="roundRect">
            <a:avLst>
              <a:gd name="adj" fmla="val 14286"/>
            </a:avLst>
          </a:prstGeom>
          <a:solidFill>
            <a:srgbClr val="2E3A8C"/>
          </a:solidFill>
          <a:ln w="12700">
            <a:solidFill>
              <a:srgbClr val="2E3A8C"/>
            </a:solidFill>
            <a:prstDash val="solid"/>
          </a:ln>
        </p:spPr>
      </p:sp>
      <p:sp>
        <p:nvSpPr>
          <p:cNvPr id="21" name="Text 19"/>
          <p:cNvSpPr txBox="1"/>
          <p:nvPr/>
        </p:nvSpPr>
        <p:spPr>
          <a:xfrm>
            <a:off x="566928" y="422910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[33]</a:t>
            </a:r>
            <a:endParaRPr lang="en-US" sz="1050"/>
          </a:p>
        </p:txBody>
      </p:sp>
      <p:sp>
        <p:nvSpPr>
          <p:cNvPr id="22" name="Text 20"/>
          <p:cNvSpPr txBox="1"/>
          <p:nvPr/>
        </p:nvSpPr>
        <p:spPr>
          <a:xfrm>
            <a:off x="1170432" y="421081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Dhariwal, P., &amp; Nichol, A. (2021). Diffusion models beat GANs on image synthesis. Advances in Neural Information Processing Systems, 34, 8780–8794.</a:t>
            </a:r>
            <a:endParaRPr lang="en-US" sz="970"/>
          </a:p>
        </p:txBody>
      </p:sp>
      <p:sp>
        <p:nvSpPr>
          <p:cNvPr id="23" name="Shape 21"/>
          <p:cNvSpPr/>
          <p:nvPr/>
        </p:nvSpPr>
        <p:spPr>
          <a:xfrm>
            <a:off x="566928" y="4745736"/>
            <a:ext cx="475488" cy="384048"/>
          </a:xfrm>
          <a:prstGeom prst="roundRect">
            <a:avLst>
              <a:gd name="adj" fmla="val 14286"/>
            </a:avLst>
          </a:prstGeom>
          <a:solidFill>
            <a:srgbClr val="00A896"/>
          </a:solidFill>
          <a:ln w="12700">
            <a:solidFill>
              <a:srgbClr val="00A896"/>
            </a:solidFill>
            <a:prstDash val="solid"/>
          </a:ln>
        </p:spPr>
      </p:sp>
      <p:sp>
        <p:nvSpPr>
          <p:cNvPr id="24" name="Text 22"/>
          <p:cNvSpPr txBox="1"/>
          <p:nvPr/>
        </p:nvSpPr>
        <p:spPr>
          <a:xfrm>
            <a:off x="566928" y="474573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[34]</a:t>
            </a:r>
            <a:endParaRPr lang="en-US" sz="1050"/>
          </a:p>
        </p:txBody>
      </p:sp>
      <p:sp>
        <p:nvSpPr>
          <p:cNvPr id="25" name="Text 23"/>
          <p:cNvSpPr txBox="1"/>
          <p:nvPr/>
        </p:nvSpPr>
        <p:spPr>
          <a:xfrm>
            <a:off x="1170432" y="472744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Vaswani, A., Shazeer, N., Parmar, N., Uszkoreit, J., Jones, L., Gomez, A. N., Kaiser, Ł., &amp; Polosukhin, I. (2017). Attention is all you need. Advances in Neural Information Processing Systems, 30, 5998–6008.</a:t>
            </a:r>
            <a:endParaRPr lang="en-US" sz="970"/>
          </a:p>
        </p:txBody>
      </p:sp>
      <p:sp>
        <p:nvSpPr>
          <p:cNvPr id="26" name="Shape 24"/>
          <p:cNvSpPr/>
          <p:nvPr/>
        </p:nvSpPr>
        <p:spPr>
          <a:xfrm>
            <a:off x="566928" y="5262372"/>
            <a:ext cx="475488" cy="384048"/>
          </a:xfrm>
          <a:prstGeom prst="roundRect">
            <a:avLst>
              <a:gd name="adj" fmla="val 14286"/>
            </a:avLst>
          </a:prstGeom>
          <a:solidFill>
            <a:srgbClr val="2E3A8C"/>
          </a:solidFill>
          <a:ln w="12700">
            <a:solidFill>
              <a:srgbClr val="2E3A8C"/>
            </a:solidFill>
            <a:prstDash val="solid"/>
          </a:ln>
        </p:spPr>
      </p:sp>
      <p:sp>
        <p:nvSpPr>
          <p:cNvPr id="27" name="Text 25"/>
          <p:cNvSpPr txBox="1"/>
          <p:nvPr/>
        </p:nvSpPr>
        <p:spPr>
          <a:xfrm>
            <a:off x="566928" y="5262372"/>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[35]</a:t>
            </a:r>
            <a:endParaRPr lang="en-US" sz="1050"/>
          </a:p>
        </p:txBody>
      </p:sp>
      <p:sp>
        <p:nvSpPr>
          <p:cNvPr id="28" name="Text 26"/>
          <p:cNvSpPr txBox="1"/>
          <p:nvPr/>
        </p:nvSpPr>
        <p:spPr>
          <a:xfrm>
            <a:off x="1170432" y="5244084"/>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Arjovsky, M., Chintala, S., &amp; Bottou, L. (2017). Wasserstein generative adversarial networks. Proceedings of the 34th International Conference on Machine Learning, PMLR 70, 214–223.</a:t>
            </a:r>
            <a:endParaRPr lang="en-US" sz="970"/>
          </a:p>
        </p:txBody>
      </p:sp>
      <p:sp>
        <p:nvSpPr>
          <p:cNvPr id="29" name="Shape 27"/>
          <p:cNvSpPr/>
          <p:nvPr/>
        </p:nvSpPr>
        <p:spPr>
          <a:xfrm>
            <a:off x="566928" y="5779008"/>
            <a:ext cx="475488" cy="384048"/>
          </a:xfrm>
          <a:prstGeom prst="roundRect">
            <a:avLst>
              <a:gd name="adj" fmla="val 14286"/>
            </a:avLst>
          </a:prstGeom>
          <a:solidFill>
            <a:srgbClr val="00A896"/>
          </a:solidFill>
          <a:ln w="12700">
            <a:solidFill>
              <a:srgbClr val="00A896"/>
            </a:solidFill>
            <a:prstDash val="solid"/>
          </a:ln>
        </p:spPr>
      </p:sp>
      <p:sp>
        <p:nvSpPr>
          <p:cNvPr id="30" name="Text 28"/>
          <p:cNvSpPr txBox="1"/>
          <p:nvPr/>
        </p:nvSpPr>
        <p:spPr>
          <a:xfrm>
            <a:off x="566928" y="5779008"/>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[36]</a:t>
            </a:r>
            <a:endParaRPr lang="en-US" sz="1050"/>
          </a:p>
        </p:txBody>
      </p:sp>
      <p:sp>
        <p:nvSpPr>
          <p:cNvPr id="31" name="Text 29"/>
          <p:cNvSpPr txBox="1"/>
          <p:nvPr/>
        </p:nvSpPr>
        <p:spPr>
          <a:xfrm>
            <a:off x="1170432" y="5760720"/>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Gulrajani, I., Ahmed, F., Arjovsky, M., Dumoulin, V., &amp; Courville, A. (2017). Improved training of Wasserstein GANs. Advances in Neural Information Processing Systems, 30, 5767–5777.</a:t>
            </a:r>
            <a:endParaRPr lang="en-US" sz="97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8061257" cy="292608"/>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REFERENCES · APA 7TH EDITION</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Reference list (5 of 6)</a:t>
            </a:r>
            <a:endParaRPr lang="en-US" sz="3000"/>
          </a:p>
        </p:txBody>
      </p:sp>
      <p:sp>
        <p:nvSpPr>
          <p:cNvPr id="5" name="Shape 3"/>
          <p:cNvSpPr/>
          <p:nvPr/>
        </p:nvSpPr>
        <p:spPr>
          <a:xfrm>
            <a:off x="566928" y="1645920"/>
            <a:ext cx="475488" cy="384048"/>
          </a:xfrm>
          <a:prstGeom prst="roundRect">
            <a:avLst>
              <a:gd name="adj" fmla="val 14286"/>
            </a:avLst>
          </a:prstGeom>
          <a:solidFill>
            <a:srgbClr val="2E3A8C"/>
          </a:solidFill>
          <a:ln w="12700">
            <a:solidFill>
              <a:srgbClr val="2E3A8C"/>
            </a:solidFill>
            <a:prstDash val="solid"/>
          </a:ln>
        </p:spPr>
      </p:sp>
      <p:sp>
        <p:nvSpPr>
          <p:cNvPr id="6" name="Text 4"/>
          <p:cNvSpPr txBox="1"/>
          <p:nvPr/>
        </p:nvSpPr>
        <p:spPr>
          <a:xfrm>
            <a:off x="566928" y="164592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[37]</a:t>
            </a:r>
            <a:endParaRPr lang="en-US" sz="1050"/>
          </a:p>
        </p:txBody>
      </p:sp>
      <p:sp>
        <p:nvSpPr>
          <p:cNvPr id="7" name="Text 5"/>
          <p:cNvSpPr txBox="1"/>
          <p:nvPr/>
        </p:nvSpPr>
        <p:spPr>
          <a:xfrm>
            <a:off x="1170432" y="162763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Mirza, M., &amp; Osindero, S. (2014). Conditional generative adversarial nets. arXiv. https://arxiv.org/abs/1411.1784</a:t>
            </a:r>
            <a:endParaRPr lang="en-US" sz="970"/>
          </a:p>
        </p:txBody>
      </p:sp>
      <p:sp>
        <p:nvSpPr>
          <p:cNvPr id="8" name="Shape 6"/>
          <p:cNvSpPr/>
          <p:nvPr/>
        </p:nvSpPr>
        <p:spPr>
          <a:xfrm>
            <a:off x="566928" y="2162556"/>
            <a:ext cx="475488" cy="384048"/>
          </a:xfrm>
          <a:prstGeom prst="roundRect">
            <a:avLst>
              <a:gd name="adj" fmla="val 14286"/>
            </a:avLst>
          </a:prstGeom>
          <a:solidFill>
            <a:srgbClr val="00A896"/>
          </a:solidFill>
          <a:ln w="12700">
            <a:solidFill>
              <a:srgbClr val="00A896"/>
            </a:solidFill>
            <a:prstDash val="solid"/>
          </a:ln>
        </p:spPr>
      </p:sp>
      <p:sp>
        <p:nvSpPr>
          <p:cNvPr id="9" name="Text 7"/>
          <p:cNvSpPr txBox="1"/>
          <p:nvPr/>
        </p:nvSpPr>
        <p:spPr>
          <a:xfrm>
            <a:off x="566928" y="216255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[38]</a:t>
            </a:r>
            <a:endParaRPr lang="en-US" sz="1050"/>
          </a:p>
        </p:txBody>
      </p:sp>
      <p:sp>
        <p:nvSpPr>
          <p:cNvPr id="10" name="Text 8"/>
          <p:cNvSpPr txBox="1"/>
          <p:nvPr/>
        </p:nvSpPr>
        <p:spPr>
          <a:xfrm>
            <a:off x="1170432" y="214426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Higgins, I., Matthey, L., Pal, A., Burgess, C., Glorot, X., Botvinick, M., Mohamed, S., &amp; Lerchner, A. (2017). β-VAE: Learning basic visual concepts with a constrained variational framework. Proceedings of the 5th International Conference on Learning Representations (ICLR).</a:t>
            </a:r>
            <a:endParaRPr lang="en-US" sz="970"/>
          </a:p>
        </p:txBody>
      </p:sp>
      <p:sp>
        <p:nvSpPr>
          <p:cNvPr id="11" name="Shape 9"/>
          <p:cNvSpPr/>
          <p:nvPr/>
        </p:nvSpPr>
        <p:spPr>
          <a:xfrm>
            <a:off x="566928" y="2679192"/>
            <a:ext cx="475488" cy="384048"/>
          </a:xfrm>
          <a:prstGeom prst="roundRect">
            <a:avLst>
              <a:gd name="adj" fmla="val 14286"/>
            </a:avLst>
          </a:prstGeom>
          <a:solidFill>
            <a:srgbClr val="2E3A8C"/>
          </a:solidFill>
          <a:ln w="12700">
            <a:solidFill>
              <a:srgbClr val="2E3A8C"/>
            </a:solidFill>
            <a:prstDash val="solid"/>
          </a:ln>
        </p:spPr>
      </p:sp>
      <p:sp>
        <p:nvSpPr>
          <p:cNvPr id="12" name="Text 10"/>
          <p:cNvSpPr txBox="1"/>
          <p:nvPr/>
        </p:nvSpPr>
        <p:spPr>
          <a:xfrm>
            <a:off x="566928" y="2679192"/>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[39]</a:t>
            </a:r>
            <a:endParaRPr lang="en-US" sz="1050"/>
          </a:p>
        </p:txBody>
      </p:sp>
      <p:sp>
        <p:nvSpPr>
          <p:cNvPr id="13" name="Text 11"/>
          <p:cNvSpPr txBox="1"/>
          <p:nvPr/>
        </p:nvSpPr>
        <p:spPr>
          <a:xfrm>
            <a:off x="1170432" y="2660904"/>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van den Oord, A., Vinyals, O., &amp; Kavukcuoglu, K. (2017). Neural discrete representation learning. Advances in Neural Information Processing Systems, 30, 6306–6315.</a:t>
            </a:r>
            <a:endParaRPr lang="en-US" sz="970"/>
          </a:p>
        </p:txBody>
      </p:sp>
      <p:sp>
        <p:nvSpPr>
          <p:cNvPr id="14" name="Shape 12"/>
          <p:cNvSpPr/>
          <p:nvPr/>
        </p:nvSpPr>
        <p:spPr>
          <a:xfrm>
            <a:off x="566928" y="3195828"/>
            <a:ext cx="475488" cy="384048"/>
          </a:xfrm>
          <a:prstGeom prst="roundRect">
            <a:avLst>
              <a:gd name="adj" fmla="val 14286"/>
            </a:avLst>
          </a:prstGeom>
          <a:solidFill>
            <a:srgbClr val="00A896"/>
          </a:solidFill>
          <a:ln w="12700">
            <a:solidFill>
              <a:srgbClr val="00A896"/>
            </a:solidFill>
            <a:prstDash val="solid"/>
          </a:ln>
        </p:spPr>
      </p:sp>
      <p:sp>
        <p:nvSpPr>
          <p:cNvPr id="15" name="Text 13"/>
          <p:cNvSpPr txBox="1"/>
          <p:nvPr/>
        </p:nvSpPr>
        <p:spPr>
          <a:xfrm>
            <a:off x="566928" y="3195828"/>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[40]</a:t>
            </a:r>
            <a:endParaRPr lang="en-US" sz="1050"/>
          </a:p>
        </p:txBody>
      </p:sp>
      <p:sp>
        <p:nvSpPr>
          <p:cNvPr id="16" name="Text 14"/>
          <p:cNvSpPr txBox="1"/>
          <p:nvPr/>
        </p:nvSpPr>
        <p:spPr>
          <a:xfrm>
            <a:off x="1170432" y="3177540"/>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Ho, J., &amp; Salimans, T. (2022). Classifier-free diffusion guidance. arXiv. https://arxiv.org/abs/2207.12598</a:t>
            </a:r>
            <a:endParaRPr lang="en-US" sz="970"/>
          </a:p>
        </p:txBody>
      </p:sp>
      <p:sp>
        <p:nvSpPr>
          <p:cNvPr id="17" name="Shape 15"/>
          <p:cNvSpPr/>
          <p:nvPr/>
        </p:nvSpPr>
        <p:spPr>
          <a:xfrm>
            <a:off x="566928" y="3712464"/>
            <a:ext cx="475488" cy="384048"/>
          </a:xfrm>
          <a:prstGeom prst="roundRect">
            <a:avLst>
              <a:gd name="adj" fmla="val 14286"/>
            </a:avLst>
          </a:prstGeom>
          <a:solidFill>
            <a:srgbClr val="2E3A8C"/>
          </a:solidFill>
          <a:ln w="12700">
            <a:solidFill>
              <a:srgbClr val="2E3A8C"/>
            </a:solidFill>
            <a:prstDash val="solid"/>
          </a:ln>
        </p:spPr>
      </p:sp>
      <p:sp>
        <p:nvSpPr>
          <p:cNvPr id="18" name="Text 16"/>
          <p:cNvSpPr txBox="1"/>
          <p:nvPr/>
        </p:nvSpPr>
        <p:spPr>
          <a:xfrm>
            <a:off x="566928" y="3712464"/>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[41]</a:t>
            </a:r>
            <a:endParaRPr lang="en-US" sz="1050"/>
          </a:p>
        </p:txBody>
      </p:sp>
      <p:sp>
        <p:nvSpPr>
          <p:cNvPr id="19" name="Text 17"/>
          <p:cNvSpPr txBox="1"/>
          <p:nvPr/>
        </p:nvSpPr>
        <p:spPr>
          <a:xfrm>
            <a:off x="1170432" y="3694176"/>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Salimans, T., Goodfellow, I., Zaremba, W., Cheung, V., Radford, A., &amp; Chen, X. (2016). Improved techniques for training GANs. Advances in Neural Information Processing Systems, 29, 2234–2242.</a:t>
            </a:r>
            <a:endParaRPr lang="en-US" sz="970"/>
          </a:p>
        </p:txBody>
      </p:sp>
      <p:sp>
        <p:nvSpPr>
          <p:cNvPr id="20" name="Shape 18"/>
          <p:cNvSpPr/>
          <p:nvPr/>
        </p:nvSpPr>
        <p:spPr>
          <a:xfrm>
            <a:off x="566928" y="4229100"/>
            <a:ext cx="475488" cy="384048"/>
          </a:xfrm>
          <a:prstGeom prst="roundRect">
            <a:avLst>
              <a:gd name="adj" fmla="val 14286"/>
            </a:avLst>
          </a:prstGeom>
          <a:solidFill>
            <a:srgbClr val="00A896"/>
          </a:solidFill>
          <a:ln w="12700">
            <a:solidFill>
              <a:srgbClr val="00A896"/>
            </a:solidFill>
            <a:prstDash val="solid"/>
          </a:ln>
        </p:spPr>
      </p:sp>
      <p:sp>
        <p:nvSpPr>
          <p:cNvPr id="21" name="Text 19"/>
          <p:cNvSpPr txBox="1"/>
          <p:nvPr/>
        </p:nvSpPr>
        <p:spPr>
          <a:xfrm>
            <a:off x="566928" y="422910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[42]</a:t>
            </a:r>
            <a:endParaRPr lang="en-US" sz="1050"/>
          </a:p>
        </p:txBody>
      </p:sp>
      <p:sp>
        <p:nvSpPr>
          <p:cNvPr id="22" name="Text 20"/>
          <p:cNvSpPr txBox="1"/>
          <p:nvPr/>
        </p:nvSpPr>
        <p:spPr>
          <a:xfrm>
            <a:off x="1170432" y="421081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Heusel, M., Ramsauer, H., Unterthiner, T., Nessler, B., &amp; Hochreiter, S. (2017). GANs trained by a two time-scale update rule converge to a local Nash equilibrium. Advances in Neural Information Processing Systems, 30, 6626–6637.</a:t>
            </a:r>
            <a:endParaRPr lang="en-US" sz="970"/>
          </a:p>
        </p:txBody>
      </p:sp>
      <p:sp>
        <p:nvSpPr>
          <p:cNvPr id="23" name="Shape 21"/>
          <p:cNvSpPr/>
          <p:nvPr/>
        </p:nvSpPr>
        <p:spPr>
          <a:xfrm>
            <a:off x="566928" y="4745736"/>
            <a:ext cx="475488" cy="384048"/>
          </a:xfrm>
          <a:prstGeom prst="roundRect">
            <a:avLst>
              <a:gd name="adj" fmla="val 14286"/>
            </a:avLst>
          </a:prstGeom>
          <a:solidFill>
            <a:srgbClr val="2E3A8C"/>
          </a:solidFill>
          <a:ln w="12700">
            <a:solidFill>
              <a:srgbClr val="2E3A8C"/>
            </a:solidFill>
            <a:prstDash val="solid"/>
          </a:ln>
        </p:spPr>
      </p:sp>
      <p:sp>
        <p:nvSpPr>
          <p:cNvPr id="24" name="Text 22"/>
          <p:cNvSpPr txBox="1"/>
          <p:nvPr/>
        </p:nvSpPr>
        <p:spPr>
          <a:xfrm>
            <a:off x="566928" y="474573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[43]</a:t>
            </a:r>
            <a:endParaRPr lang="en-US" sz="1050"/>
          </a:p>
        </p:txBody>
      </p:sp>
      <p:sp>
        <p:nvSpPr>
          <p:cNvPr id="25" name="Text 23"/>
          <p:cNvSpPr txBox="1"/>
          <p:nvPr/>
        </p:nvSpPr>
        <p:spPr>
          <a:xfrm>
            <a:off x="1170432" y="472744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Nikolenko, S. I. (2021). Synthetic data for deep learning. Springer. https://doi.org/10.1007/978-3-030-75178-4</a:t>
            </a:r>
            <a:endParaRPr lang="en-US" sz="970"/>
          </a:p>
        </p:txBody>
      </p:sp>
      <p:sp>
        <p:nvSpPr>
          <p:cNvPr id="26" name="Shape 24"/>
          <p:cNvSpPr/>
          <p:nvPr/>
        </p:nvSpPr>
        <p:spPr>
          <a:xfrm>
            <a:off x="566928" y="5262372"/>
            <a:ext cx="475488" cy="384048"/>
          </a:xfrm>
          <a:prstGeom prst="roundRect">
            <a:avLst>
              <a:gd name="adj" fmla="val 14286"/>
            </a:avLst>
          </a:prstGeom>
          <a:solidFill>
            <a:srgbClr val="00A896"/>
          </a:solidFill>
          <a:ln w="12700">
            <a:solidFill>
              <a:srgbClr val="00A896"/>
            </a:solidFill>
            <a:prstDash val="solid"/>
          </a:ln>
        </p:spPr>
      </p:sp>
      <p:sp>
        <p:nvSpPr>
          <p:cNvPr id="27" name="Text 25"/>
          <p:cNvSpPr txBox="1"/>
          <p:nvPr/>
        </p:nvSpPr>
        <p:spPr>
          <a:xfrm>
            <a:off x="566928" y="5262372"/>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[44]</a:t>
            </a:r>
            <a:endParaRPr lang="en-US" sz="1050"/>
          </a:p>
        </p:txBody>
      </p:sp>
      <p:sp>
        <p:nvSpPr>
          <p:cNvPr id="28" name="Text 26"/>
          <p:cNvSpPr txBox="1"/>
          <p:nvPr/>
        </p:nvSpPr>
        <p:spPr>
          <a:xfrm>
            <a:off x="1170432" y="5244084"/>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Hernandez, M., Epelde, G., Alberdi, A., Cilla, R., &amp; Rankin, D. (2022). Synthetic data generation for tabular health records: A systematic review. Neurocomputing, 493, 28–45. https://doi.org/10.1016/j.neucom.2022.04.053</a:t>
            </a:r>
            <a:endParaRPr lang="en-US" sz="970"/>
          </a:p>
        </p:txBody>
      </p:sp>
      <p:sp>
        <p:nvSpPr>
          <p:cNvPr id="29" name="Shape 27"/>
          <p:cNvSpPr/>
          <p:nvPr/>
        </p:nvSpPr>
        <p:spPr>
          <a:xfrm>
            <a:off x="566928" y="5779008"/>
            <a:ext cx="475488" cy="384048"/>
          </a:xfrm>
          <a:prstGeom prst="roundRect">
            <a:avLst>
              <a:gd name="adj" fmla="val 14286"/>
            </a:avLst>
          </a:prstGeom>
          <a:solidFill>
            <a:srgbClr val="2E3A8C"/>
          </a:solidFill>
          <a:ln w="12700">
            <a:solidFill>
              <a:srgbClr val="2E3A8C"/>
            </a:solidFill>
            <a:prstDash val="solid"/>
          </a:ln>
        </p:spPr>
      </p:sp>
      <p:sp>
        <p:nvSpPr>
          <p:cNvPr id="30" name="Text 28"/>
          <p:cNvSpPr txBox="1"/>
          <p:nvPr/>
        </p:nvSpPr>
        <p:spPr>
          <a:xfrm>
            <a:off x="566928" y="5779008"/>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[45]</a:t>
            </a:r>
            <a:endParaRPr lang="en-US" sz="1050"/>
          </a:p>
        </p:txBody>
      </p:sp>
      <p:sp>
        <p:nvSpPr>
          <p:cNvPr id="31" name="Text 29"/>
          <p:cNvSpPr txBox="1"/>
          <p:nvPr/>
        </p:nvSpPr>
        <p:spPr>
          <a:xfrm>
            <a:off x="1170432" y="5760720"/>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Xu, L., &amp; Veeramachaneni, K. (2018). Synthesizing tabular data using generative adversarial networks. arXiv. https://arxiv.org/abs/1811.11264</a:t>
            </a:r>
            <a:endParaRPr lang="en-US" sz="97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0515600" cy="256032"/>
          </a:xfrm>
          <a:prstGeom prst="rect">
            <a:avLst/>
          </a:prstGeom>
          <a:noFill/>
          <a:ln/>
        </p:spPr>
        <p:txBody>
          <a:bodyPr wrap="square" lIns="0" tIns="0" rIns="0" bIns="0" rtlCol="0" anchor="ctr"/>
          <a:lstStyle/>
          <a:p>
            <a:pPr marL="0" indent="0">
              <a:buNone/>
            </a:pPr>
            <a:r>
              <a:rPr lang="en-US" sz="1150" b="1" kern="0" spc="160">
                <a:solidFill>
                  <a:srgbClr val="0070C0"/>
                </a:solidFill>
                <a:latin typeface="Calibri" pitchFamily="34" charset="0"/>
                <a:ea typeface="Calibri" pitchFamily="34" charset="-122"/>
                <a:cs typeface="Calibri" pitchFamily="34" charset="-120"/>
              </a:rPr>
              <a:t>REFERENCES · APA 7TH EDITION</a:t>
            </a:r>
            <a:endParaRPr lang="en-US" sz="1150">
              <a:solidFill>
                <a:srgbClr val="0070C0"/>
              </a:solidFill>
            </a:endParaRPr>
          </a:p>
        </p:txBody>
      </p:sp>
      <p:sp>
        <p:nvSpPr>
          <p:cNvPr id="3" name="Text 1"/>
          <p:cNvSpPr txBox="1"/>
          <p:nvPr/>
        </p:nvSpPr>
        <p:spPr>
          <a:xfrm>
            <a:off x="566928" y="676656"/>
            <a:ext cx="10881360" cy="713232"/>
          </a:xfrm>
          <a:prstGeom prst="rect">
            <a:avLst/>
          </a:prstGeom>
          <a:noFill/>
          <a:ln/>
        </p:spPr>
        <p:txBody>
          <a:bodyPr wrap="square" lIns="0" tIns="0" rIns="0" bIns="0" rtlCol="0" anchor="ctr"/>
          <a:lstStyle/>
          <a:p>
            <a:pPr marL="0" indent="0">
              <a:buNone/>
            </a:pPr>
            <a:r>
              <a:rPr lang="en-US" sz="3000" b="1">
                <a:solidFill>
                  <a:srgbClr val="0E1330"/>
                </a:solidFill>
                <a:latin typeface="Cambria" pitchFamily="34" charset="0"/>
                <a:ea typeface="Cambria" pitchFamily="34" charset="-122"/>
                <a:cs typeface="Cambria" pitchFamily="34" charset="-120"/>
              </a:rPr>
              <a:t>Reference list (6 of 6)</a:t>
            </a:r>
            <a:endParaRPr lang="en-US" sz="3000"/>
          </a:p>
        </p:txBody>
      </p:sp>
      <p:sp>
        <p:nvSpPr>
          <p:cNvPr id="5" name="Shape 3"/>
          <p:cNvSpPr/>
          <p:nvPr/>
        </p:nvSpPr>
        <p:spPr>
          <a:xfrm>
            <a:off x="566928" y="1645920"/>
            <a:ext cx="475488" cy="384048"/>
          </a:xfrm>
          <a:prstGeom prst="roundRect">
            <a:avLst>
              <a:gd name="adj" fmla="val 14286"/>
            </a:avLst>
          </a:prstGeom>
          <a:solidFill>
            <a:srgbClr val="00A896"/>
          </a:solidFill>
          <a:ln w="12700">
            <a:solidFill>
              <a:srgbClr val="00A896"/>
            </a:solidFill>
            <a:prstDash val="solid"/>
          </a:ln>
        </p:spPr>
      </p:sp>
      <p:sp>
        <p:nvSpPr>
          <p:cNvPr id="6" name="Text 4"/>
          <p:cNvSpPr txBox="1"/>
          <p:nvPr/>
        </p:nvSpPr>
        <p:spPr>
          <a:xfrm>
            <a:off x="566928" y="1645920"/>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[46]</a:t>
            </a:r>
            <a:endParaRPr lang="en-US" sz="1050"/>
          </a:p>
        </p:txBody>
      </p:sp>
      <p:sp>
        <p:nvSpPr>
          <p:cNvPr id="7" name="Text 5"/>
          <p:cNvSpPr txBox="1"/>
          <p:nvPr/>
        </p:nvSpPr>
        <p:spPr>
          <a:xfrm>
            <a:off x="1170432" y="1627632"/>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Assefa, S. A., Dervovic, D., Mahfouz, M., Tillman, R. E., Reddy, P., &amp; Veloso, M. (2020). Generating synthetic data in finance: Opportunities, challenges and pitfalls. Proceedings of the First ACM International Conference on AI in Finance (ICAIF), 1–8.</a:t>
            </a:r>
            <a:endParaRPr lang="en-US" sz="970"/>
          </a:p>
        </p:txBody>
      </p:sp>
      <p:sp>
        <p:nvSpPr>
          <p:cNvPr id="8" name="Shape 6"/>
          <p:cNvSpPr/>
          <p:nvPr/>
        </p:nvSpPr>
        <p:spPr>
          <a:xfrm>
            <a:off x="566928" y="2162556"/>
            <a:ext cx="475488" cy="384048"/>
          </a:xfrm>
          <a:prstGeom prst="roundRect">
            <a:avLst>
              <a:gd name="adj" fmla="val 14286"/>
            </a:avLst>
          </a:prstGeom>
          <a:solidFill>
            <a:srgbClr val="2E3A8C"/>
          </a:solidFill>
          <a:ln w="12700">
            <a:solidFill>
              <a:srgbClr val="2E3A8C"/>
            </a:solidFill>
            <a:prstDash val="solid"/>
          </a:ln>
        </p:spPr>
      </p:sp>
      <p:sp>
        <p:nvSpPr>
          <p:cNvPr id="9" name="Text 7"/>
          <p:cNvSpPr txBox="1"/>
          <p:nvPr/>
        </p:nvSpPr>
        <p:spPr>
          <a:xfrm>
            <a:off x="566928" y="2162556"/>
            <a:ext cx="475488"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[47]</a:t>
            </a:r>
            <a:endParaRPr lang="en-US" sz="1050"/>
          </a:p>
        </p:txBody>
      </p:sp>
      <p:sp>
        <p:nvSpPr>
          <p:cNvPr id="10" name="Text 8"/>
          <p:cNvSpPr txBox="1"/>
          <p:nvPr/>
        </p:nvSpPr>
        <p:spPr>
          <a:xfrm>
            <a:off x="1170432" y="2144268"/>
            <a:ext cx="10469880" cy="457200"/>
          </a:xfrm>
          <a:prstGeom prst="rect">
            <a:avLst/>
          </a:prstGeom>
          <a:noFill/>
          <a:ln/>
        </p:spPr>
        <p:txBody>
          <a:bodyPr wrap="square" lIns="0" tIns="0" rIns="0" bIns="0" rtlCol="0" anchor="ctr"/>
          <a:lstStyle/>
          <a:p>
            <a:pPr marL="0" indent="0">
              <a:lnSpc>
                <a:spcPct val="100000"/>
              </a:lnSpc>
              <a:buNone/>
            </a:pPr>
            <a:r>
              <a:rPr lang="en-US" sz="970">
                <a:solidFill>
                  <a:srgbClr val="0E1330"/>
                </a:solidFill>
                <a:latin typeface="Calibri" pitchFamily="34" charset="0"/>
                <a:ea typeface="Calibri" pitchFamily="34" charset="-122"/>
                <a:cs typeface="Calibri" pitchFamily="34" charset="-120"/>
              </a:rPr>
              <a:t>Zhang, J., Cormode, G., Procopiuc, C. M., Srivastava, D., &amp; Xiao, X. (2017). PrivBayes: Private data release via Bayesian networks. ACM Transactions on Database Systems, 42(4), Article 25.</a:t>
            </a:r>
            <a:endParaRPr lang="en-US" sz="97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name="Slide 6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50345" y="2040323"/>
            <a:ext cx="10607040" cy="914400"/>
          </a:xfrm>
          <a:prstGeom prst="rect">
            <a:avLst/>
          </a:prstGeom>
          <a:noFill/>
          <a:ln/>
        </p:spPr>
        <p:txBody>
          <a:bodyPr wrap="square" lIns="0" tIns="0" rIns="0" bIns="0" rtlCol="0" anchor="ctr"/>
          <a:lstStyle/>
          <a:p>
            <a:pPr marL="0" indent="0">
              <a:buNone/>
            </a:pPr>
            <a:r>
              <a:rPr lang="en-US" sz="4400" b="1">
                <a:solidFill>
                  <a:srgbClr val="FFFFFF"/>
                </a:solidFill>
                <a:latin typeface="Cambria" pitchFamily="34" charset="0"/>
                <a:ea typeface="Cambria" pitchFamily="34" charset="-122"/>
                <a:cs typeface="Cambria" pitchFamily="34" charset="-120"/>
              </a:rPr>
              <a:t>Thank you</a:t>
            </a:r>
            <a:endParaRPr lang="en-US" sz="4400"/>
          </a:p>
        </p:txBody>
      </p:sp>
      <p:sp>
        <p:nvSpPr>
          <p:cNvPr id="8" name="Rectangle 7">
            <a:extLst>
              <a:ext uri="{FF2B5EF4-FFF2-40B4-BE49-F238E27FC236}">
                <a16:creationId xmlns:a16="http://schemas.microsoft.com/office/drawing/2014/main" id="{B7026613-D07D-1A47-99C6-19E8E97D2FA7}"/>
              </a:ext>
            </a:extLst>
          </p:cNvPr>
          <p:cNvSpPr/>
          <p:nvPr/>
        </p:nvSpPr>
        <p:spPr>
          <a:xfrm>
            <a:off x="750345" y="3016327"/>
            <a:ext cx="4117489" cy="646331"/>
          </a:xfrm>
          <a:prstGeom prst="rect">
            <a:avLst/>
          </a:prstGeom>
        </p:spPr>
        <p:txBody>
          <a:bodyPr wrap="square">
            <a:spAutoFit/>
          </a:bodyPr>
          <a:lstStyle/>
          <a:p>
            <a:r>
              <a:rPr lang="en-US">
                <a:solidFill>
                  <a:srgbClr val="00B0F0"/>
                </a:solidFill>
                <a:latin typeface="Calibri" pitchFamily="34" charset="0"/>
                <a:ea typeface="Calibri" pitchFamily="34" charset="-122"/>
                <a:cs typeface="Calibri" pitchFamily="34" charset="-120"/>
              </a:rPr>
              <a:t>Synthetic Data Generation using Generative AI  ·  3-Day Intensive Course</a:t>
            </a:r>
            <a:endParaRPr lang="en-US">
              <a:solidFill>
                <a:srgbClr val="00B0F0"/>
              </a:solidFill>
            </a:endParaRPr>
          </a:p>
        </p:txBody>
      </p:sp>
      <p:sp>
        <p:nvSpPr>
          <p:cNvPr id="9" name="Rectangle 8">
            <a:extLst>
              <a:ext uri="{FF2B5EF4-FFF2-40B4-BE49-F238E27FC236}">
                <a16:creationId xmlns:a16="http://schemas.microsoft.com/office/drawing/2014/main" id="{CE91EF97-0388-B748-AFB8-0A86700A3B20}"/>
              </a:ext>
            </a:extLst>
          </p:cNvPr>
          <p:cNvSpPr/>
          <p:nvPr/>
        </p:nvSpPr>
        <p:spPr>
          <a:xfrm>
            <a:off x="750345" y="5074948"/>
            <a:ext cx="3749937" cy="1015663"/>
          </a:xfrm>
          <a:prstGeom prst="rect">
            <a:avLst/>
          </a:prstGeom>
        </p:spPr>
        <p:txBody>
          <a:bodyPr wrap="square">
            <a:spAutoFit/>
          </a:bodyPr>
          <a:lstStyle/>
          <a:p>
            <a:r>
              <a:rPr lang="en-US" sz="1200" b="1" err="1">
                <a:solidFill>
                  <a:srgbClr val="FFFFFF"/>
                </a:solidFill>
                <a:latin typeface="Calibri" pitchFamily="34" charset="0"/>
                <a:ea typeface="Calibri" pitchFamily="34" charset="-122"/>
                <a:cs typeface="Calibri" pitchFamily="34" charset="-120"/>
              </a:rPr>
              <a:t>Stixis</a:t>
            </a:r>
            <a:r>
              <a:rPr lang="en-US" sz="1200" b="1">
                <a:solidFill>
                  <a:srgbClr val="FFFFFF"/>
                </a:solidFill>
                <a:latin typeface="Calibri" pitchFamily="34" charset="0"/>
                <a:ea typeface="Calibri" pitchFamily="34" charset="-122"/>
                <a:cs typeface="Calibri" pitchFamily="34" charset="-120"/>
              </a:rPr>
              <a:t> AI Solutions Private Limited</a:t>
            </a:r>
          </a:p>
          <a:p>
            <a:r>
              <a:rPr lang="en-IN" sz="1200">
                <a:solidFill>
                  <a:schemeClr val="bg1"/>
                </a:solidFill>
              </a:rPr>
              <a:t>477, Urban Vault, 18th Cross Road, </a:t>
            </a:r>
            <a:br>
              <a:rPr lang="en-IN" sz="1200">
                <a:solidFill>
                  <a:schemeClr val="bg1"/>
                </a:solidFill>
              </a:rPr>
            </a:br>
            <a:r>
              <a:rPr lang="en-IN" sz="1200" err="1">
                <a:solidFill>
                  <a:schemeClr val="bg1"/>
                </a:solidFill>
              </a:rPr>
              <a:t>Parangipalya</a:t>
            </a:r>
            <a:r>
              <a:rPr lang="en-IN" sz="1200">
                <a:solidFill>
                  <a:schemeClr val="bg1"/>
                </a:solidFill>
              </a:rPr>
              <a:t>, Sector-2, </a:t>
            </a:r>
            <a:br>
              <a:rPr lang="en-IN" sz="1200">
                <a:solidFill>
                  <a:schemeClr val="bg1"/>
                </a:solidFill>
              </a:rPr>
            </a:br>
            <a:r>
              <a:rPr lang="en-IN" sz="1200">
                <a:solidFill>
                  <a:schemeClr val="bg1"/>
                </a:solidFill>
              </a:rPr>
              <a:t>HSR Layout, Bangalore-560102.</a:t>
            </a:r>
            <a:br>
              <a:rPr lang="en-IN" sz="1200">
                <a:solidFill>
                  <a:schemeClr val="bg1"/>
                </a:solidFill>
              </a:rPr>
            </a:br>
            <a:r>
              <a:rPr lang="en-IN" sz="1200">
                <a:solidFill>
                  <a:schemeClr val="bg1"/>
                </a:solidFill>
              </a:rPr>
              <a:t>KARNATAKA, INDIA</a:t>
            </a:r>
            <a:endParaRPr lang="en-US" sz="1200">
              <a:solidFill>
                <a:schemeClr val="bg1"/>
              </a:solidFill>
            </a:endParaRPr>
          </a:p>
        </p:txBody>
      </p:sp>
      <p:pic>
        <p:nvPicPr>
          <p:cNvPr id="10" name="Picture 9">
            <a:extLst>
              <a:ext uri="{FF2B5EF4-FFF2-40B4-BE49-F238E27FC236}">
                <a16:creationId xmlns:a16="http://schemas.microsoft.com/office/drawing/2014/main" id="{CC82EF83-DC8B-504D-966D-21D61CF69F51}"/>
              </a:ext>
            </a:extLst>
          </p:cNvPr>
          <p:cNvPicPr>
            <a:picLocks noChangeAspect="1"/>
          </p:cNvPicPr>
          <p:nvPr/>
        </p:nvPicPr>
        <p:blipFill>
          <a:blip r:embed="rId4"/>
          <a:stretch>
            <a:fillRect/>
          </a:stretch>
        </p:blipFill>
        <p:spPr>
          <a:xfrm>
            <a:off x="750345" y="4067680"/>
            <a:ext cx="1813561" cy="884060"/>
          </a:xfrm>
          <a:prstGeom prst="rect">
            <a:avLst/>
          </a:prstGeom>
        </p:spPr>
      </p:pic>
      <p:pic>
        <p:nvPicPr>
          <p:cNvPr id="11" name="Picture 10">
            <a:extLst>
              <a:ext uri="{FF2B5EF4-FFF2-40B4-BE49-F238E27FC236}">
                <a16:creationId xmlns:a16="http://schemas.microsoft.com/office/drawing/2014/main" id="{17EABA35-82D1-9E4E-8F5A-2615DF985659}"/>
              </a:ext>
            </a:extLst>
          </p:cNvPr>
          <p:cNvPicPr>
            <a:picLocks noChangeAspect="1"/>
          </p:cNvPicPr>
          <p:nvPr/>
        </p:nvPicPr>
        <p:blipFill>
          <a:blip r:embed="rId5"/>
          <a:stretch>
            <a:fillRect/>
          </a:stretch>
        </p:blipFill>
        <p:spPr>
          <a:xfrm>
            <a:off x="750345" y="908999"/>
            <a:ext cx="2290093" cy="61920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83</Slides>
  <Notes>70</Notes>
  <HiddenSlides>0</HiddenSlides>
  <ScaleCrop>false</ScaleCrop>
  <HeadingPairs>
    <vt:vector size="4" baseType="variant">
      <vt:variant>
        <vt:lpstr>Theme</vt:lpstr>
      </vt:variant>
      <vt:variant>
        <vt:i4>1</vt:i4>
      </vt:variant>
      <vt:variant>
        <vt:lpstr>Slide Titles</vt:lpstr>
      </vt:variant>
      <vt:variant>
        <vt:i4>83</vt:i4>
      </vt:variant>
    </vt:vector>
  </HeadingPairs>
  <TitlesOfParts>
    <vt:vector size="8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Stixis AI Solutions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Synthetic Data Generation using Generative AI</dc:title>
  <dc:subject>PptxGenJS Presentation</dc:subject>
  <dc:creator>Stixis AI Solutions Private Limited</dc:creator>
  <cp:revision>9</cp:revision>
  <dcterms:created xsi:type="dcterms:W3CDTF">2026-09-20T07:20:36Z</dcterms:created>
  <dcterms:modified xsi:type="dcterms:W3CDTF">2026-10-09T06:49:31Z</dcterms:modified>
</cp:coreProperties>
</file>